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68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6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551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42214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PRODUCTIVITY · ALKEMY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6621125" y="685800"/>
            <a:ext cx="67627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66800" y="3588544"/>
            <a:ext cx="762000" cy="38100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083844"/>
            <a:ext cx="13237029" cy="22821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</a:t>
            </a:r>
          </a:p>
          <a:p>
            <a:pPr marL="0" indent="0" algn="l">
              <a:lnSpc>
                <a:spcPct val="110000"/>
              </a:lnSpc>
              <a:buNone/>
            </a:pPr>
            <a:r>
              <a:rPr lang="en-US" sz="9300" b="1" kern="0" spc="-93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HURT </a:t>
            </a:r>
            <a:r>
              <a:rPr lang="en-US" sz="9300" b="1" kern="0" spc="-93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BUSINESS?</a:t>
            </a:r>
            <a:endParaRPr lang="en-US" sz="9300" dirty="0"/>
          </a:p>
        </p:txBody>
      </p:sp>
      <p:sp>
        <p:nvSpPr>
          <p:cNvPr id="6" name="Text 4"/>
          <p:cNvSpPr/>
          <p:nvPr/>
        </p:nvSpPr>
        <p:spPr>
          <a:xfrm>
            <a:off x="1066800" y="8961755"/>
            <a:ext cx="701730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9325927"/>
            <a:ext cx="7017302" cy="3895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100" kern="0" spc="42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5218229" y="9265920"/>
            <a:ext cx="2079172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37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</a:t>
            </a:r>
            <a:endParaRPr lang="en-US" sz="2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WE ANSWERED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0728960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44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WHAT CONDITIONS DOES AI CAPTURE - OR DESTROY - MARGIN?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45343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790700" y="4534376"/>
            <a:ext cx="8756421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and at what usage level does the profit effect cross zero?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66800" y="53344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812925" y="5334476"/>
            <a:ext cx="7539888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mechanism: hours saved, or quality improvement?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6134576"/>
            <a:ext cx="7239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1811814" y="6134576"/>
            <a:ext cx="7316857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contract structures capture the productivity dividend?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66800" y="6934676"/>
            <a:ext cx="745014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1835626" y="6934676"/>
            <a:ext cx="8646050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task types and seniority levels respond best to AI augmentation?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3,248 DELIVERED TASKS 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n-US" sz="3000" kern="0" spc="-45" dirty="0">
                <a:solidFill>
                  <a:srgbClr val="6D7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REVENUE, COST, HOURS, AI USAGE &amp; OUTCOME RECORDED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631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953357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3,016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106680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ANALYZED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3,248 raw after cleaning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91125" y="4862037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5191125" y="6248400"/>
            <a:ext cx="3894868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91125" y="6603047"/>
            <a:ext cx="3894868" cy="7696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· </a:t>
            </a:r>
            <a:r>
              <a:rPr lang="en-US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· </a:t>
            </a: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SEO · Media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15450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9315450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LEVELS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315450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 · Mid · Senior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439775" y="4872990"/>
            <a:ext cx="3894868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kern="0" spc="-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0 - 100</a:t>
            </a:r>
            <a:endParaRPr lang="en-US" sz="9000" dirty="0"/>
          </a:p>
        </p:txBody>
      </p:sp>
      <p:sp>
        <p:nvSpPr>
          <p:cNvPr id="15" name="Text 13"/>
          <p:cNvSpPr/>
          <p:nvPr/>
        </p:nvSpPr>
        <p:spPr>
          <a:xfrm>
            <a:off x="13439775" y="6248400"/>
            <a:ext cx="389486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RANGE (%)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439775" y="6669723"/>
            <a:ext cx="3894868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distribution tracked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66800" y="9020175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1066800" y="9334500"/>
            <a:ext cx="1663903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kern="0" spc="108" dirty="0">
                <a:solidFill>
                  <a:srgbClr val="7C81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ai_usage_pct · profit = revenue − cost · hours_spent · rework_hours · pricing_model · seniority · sla_breach · outcome_score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06285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752214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WORKS BUT ONLY ABOVE A THRESHOLD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35228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328749" y="7951016"/>
            <a:ext cx="564750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 NEARLY DOUBLES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24244" y="8258461"/>
            <a:ext cx="5858694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€233 in the low band rises to </a:t>
            </a:r>
            <a:r>
              <a:rPr lang="en-US" sz="2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€468 </a:t>
            </a:r>
            <a:r>
              <a:rPr lang="en-US" sz="19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high band.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22069" y="8824482"/>
            <a:ext cx="564750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900" dirty="0">
                <a:latin typeface="Arial" pitchFamily="34" charset="0"/>
                <a:ea typeface="Arial" pitchFamily="34" charset="-122"/>
                <a:cs typeface="Arial" pitchFamily="34" charset="-120"/>
              </a:rPr>
              <a:t>Medium AI barely moves the needle, the jump happens above 50%.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296297" y="7951016"/>
            <a:ext cx="6304189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50% PHASE CHANGE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296297" y="8438696"/>
            <a:ext cx="630418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50%, gains blend with noise. Above 50%, profit improvement </a:t>
            </a:r>
            <a:r>
              <a:rPr lang="en-US" sz="2100" i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accelerates sharply.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379234" y="7941876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COLLAPSES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12379232" y="8407328"/>
            <a:ext cx="8044815" cy="4446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breaches 44% → 32%. Loss rate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379233" y="8851576"/>
            <a:ext cx="8044815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de-risks delivery, not just speeds it up.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0" y="9700782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08726" y="9871925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F243441-EF97-99A3-7401-867342C83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9"/>
          <a:stretch>
            <a:fillRect/>
          </a:stretch>
        </p:blipFill>
        <p:spPr>
          <a:xfrm>
            <a:off x="2555418" y="1612194"/>
            <a:ext cx="13177161" cy="2726157"/>
          </a:xfrm>
          <a:prstGeom prst="rect">
            <a:avLst/>
          </a:prstGeom>
        </p:spPr>
      </p:pic>
      <p:sp>
        <p:nvSpPr>
          <p:cNvPr id="22" name="Shape 3">
            <a:extLst>
              <a:ext uri="{FF2B5EF4-FFF2-40B4-BE49-F238E27FC236}">
                <a16:creationId xmlns:a16="http://schemas.microsoft.com/office/drawing/2014/main" id="{226CBB69-684E-3DC8-190C-5E12EF44FC5D}"/>
              </a:ext>
            </a:extLst>
          </p:cNvPr>
          <p:cNvSpPr/>
          <p:nvPr/>
        </p:nvSpPr>
        <p:spPr>
          <a:xfrm flipV="1">
            <a:off x="6039394" y="7911414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85666DC-9C1A-70D3-B011-DED733E6F4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032" y="4478088"/>
            <a:ext cx="9609934" cy="2734477"/>
          </a:xfrm>
          <a:prstGeom prst="rect">
            <a:avLst/>
          </a:prstGeom>
        </p:spPr>
      </p:pic>
      <p:sp>
        <p:nvSpPr>
          <p:cNvPr id="24" name="Shape 3">
            <a:extLst>
              <a:ext uri="{FF2B5EF4-FFF2-40B4-BE49-F238E27FC236}">
                <a16:creationId xmlns:a16="http://schemas.microsoft.com/office/drawing/2014/main" id="{30DF2BFF-8350-6A63-4DF1-98D579DB2AFE}"/>
              </a:ext>
            </a:extLst>
          </p:cNvPr>
          <p:cNvSpPr/>
          <p:nvPr/>
        </p:nvSpPr>
        <p:spPr>
          <a:xfrm flipV="1">
            <a:off x="12205063" y="7965235"/>
            <a:ext cx="45719" cy="1569551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MECHANISM IS HOURS, NOT QUALITY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066800" y="3686969"/>
            <a:ext cx="804481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EFFICIENCY PER TASK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66800" y="4032091"/>
            <a:ext cx="804481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hrs</a:t>
            </a:r>
            <a:endParaRPr lang="en-US" sz="9000" dirty="0"/>
          </a:p>
        </p:txBody>
      </p:sp>
      <p:sp>
        <p:nvSpPr>
          <p:cNvPr id="7" name="Text 5"/>
          <p:cNvSpPr/>
          <p:nvPr/>
        </p:nvSpPr>
        <p:spPr>
          <a:xfrm>
            <a:off x="1066800" y="5251291"/>
            <a:ext cx="8044815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−2.0 hrs saved + 0.7 hrs rework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561704" y="5881847"/>
            <a:ext cx="8315596" cy="45719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561704" y="6194266"/>
            <a:ext cx="8549912" cy="15497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hours_spent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the OLS model, all quality metrics - errors, revisions, rework, </a:t>
            </a:r>
            <a:r>
              <a:rPr lang="en-US" sz="1950" dirty="0" err="1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outcome_score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become statistically insignificant (p &gt; 0.4). AI's mechanism is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compression, not quality improvement.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386316" y="3017202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CONTRACT DECIDES WHERE THOSE HOURS GO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10700" y="3642519"/>
            <a:ext cx="7810500" cy="199294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Shape 10"/>
          <p:cNvSpPr/>
          <p:nvPr/>
        </p:nvSpPr>
        <p:spPr>
          <a:xfrm>
            <a:off x="9410700" y="3642519"/>
            <a:ext cx="34290" cy="1992947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9787890" y="3985419"/>
            <a:ext cx="7303123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/ VALUE-BASED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787890" y="4387691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margin captured ↑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787890" y="4949666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profit rises with every task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10700" y="5825966"/>
            <a:ext cx="7810500" cy="1992948"/>
          </a:xfrm>
          <a:prstGeom prst="rect">
            <a:avLst/>
          </a:prstGeom>
          <a:solidFill>
            <a:srgbClr val="FBEEE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Shape 15"/>
          <p:cNvSpPr/>
          <p:nvPr/>
        </p:nvSpPr>
        <p:spPr>
          <a:xfrm>
            <a:off x="9410700" y="5825966"/>
            <a:ext cx="34290" cy="19929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Text 16"/>
          <p:cNvSpPr/>
          <p:nvPr/>
        </p:nvSpPr>
        <p:spPr>
          <a:xfrm>
            <a:off x="9787890" y="6168866"/>
            <a:ext cx="730312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BILLING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787890" y="6571138"/>
            <a:ext cx="7303123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2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saved </a:t>
            </a:r>
            <a:r>
              <a:rPr lang="en-US" sz="255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revenue lost ↓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787890" y="7133113"/>
            <a:ext cx="7303123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Efficiency is passed to the client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410700" y="8676005"/>
            <a:ext cx="80448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1.3 </a:t>
            </a: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 net gain, entirely different P&amp;L impact.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38354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EFFICIENCY DIVIDEND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82256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REWORK FOR SPEED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42236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Shape 5"/>
          <p:cNvSpPr/>
          <p:nvPr/>
        </p:nvSpPr>
        <p:spPr>
          <a:xfrm>
            <a:off x="9372600" y="2814796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6"/>
          <p:cNvSpPr/>
          <p:nvPr/>
        </p:nvSpPr>
        <p:spPr>
          <a:xfrm>
            <a:off x="9715500" y="3081496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 GAIN PIVOT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9715500" y="3549650"/>
            <a:ext cx="737768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net time loss until crossing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60–70% threshold.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rework cancels gains.</a:t>
            </a:r>
            <a:endParaRPr lang="en-US" sz="1950" dirty="0"/>
          </a:p>
        </p:txBody>
      </p:sp>
      <p:sp>
        <p:nvSpPr>
          <p:cNvPr id="12" name="Shape 8"/>
          <p:cNvSpPr/>
          <p:nvPr/>
        </p:nvSpPr>
        <p:spPr>
          <a:xfrm>
            <a:off x="9372600" y="4720272"/>
            <a:ext cx="78486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9"/>
          <p:cNvSpPr/>
          <p:nvPr/>
        </p:nvSpPr>
        <p:spPr>
          <a:xfrm>
            <a:off x="9715500" y="4986972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PRODUCTION SWAP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9715500" y="5455126"/>
            <a:ext cx="737768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model shifts from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creation to iteration.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 raises rework while cutting hours spent.</a:t>
            </a:r>
            <a:endParaRPr lang="en-US" sz="1950" dirty="0"/>
          </a:p>
        </p:txBody>
      </p:sp>
      <p:sp>
        <p:nvSpPr>
          <p:cNvPr id="15" name="Shape 11"/>
          <p:cNvSpPr/>
          <p:nvPr/>
        </p:nvSpPr>
        <p:spPr>
          <a:xfrm>
            <a:off x="9372600" y="6625749"/>
            <a:ext cx="7848600" cy="17616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2"/>
          <p:cNvSpPr/>
          <p:nvPr/>
        </p:nvSpPr>
        <p:spPr>
          <a:xfrm>
            <a:off x="9715500" y="6892449"/>
            <a:ext cx="737768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STABILITY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9715500" y="7360602"/>
            <a:ext cx="7377684" cy="7981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outcome score stays stable, but the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decile worsens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high AI usage.</a:t>
            </a:r>
            <a:endParaRPr lang="en-US" sz="1950" dirty="0"/>
          </a:p>
        </p:txBody>
      </p:sp>
      <p:sp>
        <p:nvSpPr>
          <p:cNvPr id="20" name="Text 16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1" name="Group 44">
            <a:extLst>
              <a:ext uri="{FF2B5EF4-FFF2-40B4-BE49-F238E27FC236}">
                <a16:creationId xmlns:a16="http://schemas.microsoft.com/office/drawing/2014/main" id="{6972C3C3-8B4F-3890-A738-72751A972F77}"/>
              </a:ext>
            </a:extLst>
          </p:cNvPr>
          <p:cNvGrpSpPr/>
          <p:nvPr/>
        </p:nvGrpSpPr>
        <p:grpSpPr>
          <a:xfrm>
            <a:off x="1372841" y="1564163"/>
            <a:ext cx="6563215" cy="3657776"/>
            <a:chOff x="0" y="0"/>
            <a:chExt cx="10310622" cy="6186297"/>
          </a:xfrm>
        </p:grpSpPr>
        <p:sp>
          <p:nvSpPr>
            <p:cNvPr id="22" name="Freeform 45">
              <a:extLst>
                <a:ext uri="{FF2B5EF4-FFF2-40B4-BE49-F238E27FC236}">
                  <a16:creationId xmlns:a16="http://schemas.microsoft.com/office/drawing/2014/main" id="{38C7A359-9757-FFFE-8793-B72DF7BBAC5E}"/>
                </a:ext>
              </a:extLst>
            </p:cNvPr>
            <p:cNvSpPr/>
            <p:nvPr/>
          </p:nvSpPr>
          <p:spPr>
            <a:xfrm>
              <a:off x="0" y="0"/>
              <a:ext cx="10310622" cy="6186297"/>
            </a:xfrm>
            <a:custGeom>
              <a:avLst/>
              <a:gdLst/>
              <a:ahLst/>
              <a:cxnLst/>
              <a:rect l="l" t="t" r="r" b="b"/>
              <a:pathLst>
                <a:path w="10310622" h="6186297">
                  <a:moveTo>
                    <a:pt x="0" y="0"/>
                  </a:moveTo>
                  <a:lnTo>
                    <a:pt x="10310622" y="0"/>
                  </a:lnTo>
                  <a:lnTo>
                    <a:pt x="10310622" y="6186297"/>
                  </a:lnTo>
                  <a:lnTo>
                    <a:pt x="0" y="61862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  <p:grpSp>
        <p:nvGrpSpPr>
          <p:cNvPr id="23" name="Group 2">
            <a:extLst>
              <a:ext uri="{FF2B5EF4-FFF2-40B4-BE49-F238E27FC236}">
                <a16:creationId xmlns:a16="http://schemas.microsoft.com/office/drawing/2014/main" id="{F822CCDB-B38B-0089-C5B2-1A4B9E7CC61D}"/>
              </a:ext>
            </a:extLst>
          </p:cNvPr>
          <p:cNvGrpSpPr/>
          <p:nvPr/>
        </p:nvGrpSpPr>
        <p:grpSpPr>
          <a:xfrm>
            <a:off x="164898" y="5436381"/>
            <a:ext cx="8979102" cy="4544707"/>
            <a:chOff x="0" y="0"/>
            <a:chExt cx="15954502" cy="7022846"/>
          </a:xfrm>
        </p:grpSpPr>
        <p:sp>
          <p:nvSpPr>
            <p:cNvPr id="24" name="Freeform 3">
              <a:extLst>
                <a:ext uri="{FF2B5EF4-FFF2-40B4-BE49-F238E27FC236}">
                  <a16:creationId xmlns:a16="http://schemas.microsoft.com/office/drawing/2014/main" id="{6EEB8FC7-9EA0-DD71-F1A2-3A093609F15B}"/>
                </a:ext>
              </a:extLst>
            </p:cNvPr>
            <p:cNvSpPr/>
            <p:nvPr/>
          </p:nvSpPr>
          <p:spPr>
            <a:xfrm>
              <a:off x="0" y="0"/>
              <a:ext cx="15954502" cy="7022846"/>
            </a:xfrm>
            <a:custGeom>
              <a:avLst/>
              <a:gdLst/>
              <a:ahLst/>
              <a:cxnLst/>
              <a:rect l="l" t="t" r="r" b="b"/>
              <a:pathLst>
                <a:path w="15954502" h="7022846">
                  <a:moveTo>
                    <a:pt x="0" y="0"/>
                  </a:moveTo>
                  <a:lnTo>
                    <a:pt x="15954502" y="0"/>
                  </a:lnTo>
                  <a:lnTo>
                    <a:pt x="15954502" y="7022846"/>
                  </a:lnTo>
                  <a:lnTo>
                    <a:pt x="0" y="70228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546" r="-2545"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8724" y="693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8724" y="1190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PRICING MODEL IS THE BOTTLENECK, NOT THE TECHNOLOGY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58724" y="2067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41231" y="4209017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41231" y="2654538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€872 PER-TASK GAP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441231" y="3142218"/>
            <a:ext cx="8044815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Hourly (€198) and Value-based (€1,070) at high AI usage.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441231" y="6536292"/>
            <a:ext cx="78105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9" name="Text 7"/>
          <p:cNvSpPr/>
          <p:nvPr/>
        </p:nvSpPr>
        <p:spPr>
          <a:xfrm>
            <a:off x="441231" y="4484290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 CONTRACT EFFECTS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441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631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1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−€254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3108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3298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298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+€286</a:t>
            </a:r>
            <a:endParaRPr lang="en-US" sz="3600" dirty="0"/>
          </a:p>
        </p:txBody>
      </p:sp>
      <p:sp>
        <p:nvSpPr>
          <p:cNvPr id="16" name="Shape 14"/>
          <p:cNvSpPr/>
          <p:nvPr/>
        </p:nvSpPr>
        <p:spPr>
          <a:xfrm>
            <a:off x="5775231" y="5086270"/>
            <a:ext cx="2476500" cy="118332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5965731" y="5276770"/>
            <a:ext cx="21717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HOURLY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965731" y="5621892"/>
            <a:ext cx="21717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−€701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1231" y="6811565"/>
            <a:ext cx="8044815" cy="449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700" b="1" kern="0" spc="108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441231" y="7299245"/>
            <a:ext cx="8044815" cy="844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34% vs fixed/value </a:t>
            </a:r>
            <a:r>
              <a:rPr lang="en-US" sz="21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16%,</a:t>
            </a:r>
            <a:r>
              <a:rPr lang="en-US" sz="210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structural 18pp gap AI amplifies, not closes.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3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217E7D2-8F53-D57F-ACBD-35E6A1760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3654601"/>
            <a:ext cx="9204710" cy="40466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9947" y="684687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69947" y="1182210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ALL WORK RESPONDS EQUALLY TO AI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469947" y="205851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430142" y="3351054"/>
            <a:ext cx="85725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430142" y="2888140"/>
            <a:ext cx="269745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TYPE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96996" y="2888140"/>
            <a:ext cx="185896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AI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132158" y="2888140"/>
            <a:ext cx="2136299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44657" y="2888140"/>
            <a:ext cx="158178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30142" y="4015900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430142" y="3520599"/>
            <a:ext cx="269745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3196996" y="4015900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3196996" y="3520599"/>
            <a:ext cx="1858962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€138</a:t>
            </a:r>
            <a:endParaRPr lang="en-US" sz="2025" dirty="0"/>
          </a:p>
        </p:txBody>
      </p:sp>
      <p:sp>
        <p:nvSpPr>
          <p:cNvPr id="14" name="Shape 12"/>
          <p:cNvSpPr/>
          <p:nvPr/>
        </p:nvSpPr>
        <p:spPr>
          <a:xfrm>
            <a:off x="5132158" y="4015900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5132158" y="3520599"/>
            <a:ext cx="213629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€816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7344657" y="4015900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7" name="Text 15"/>
          <p:cNvSpPr/>
          <p:nvPr/>
        </p:nvSpPr>
        <p:spPr>
          <a:xfrm>
            <a:off x="7344657" y="3520599"/>
            <a:ext cx="15817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5.9×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469947" y="524160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469947" y="475059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3236801" y="524160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3236801" y="475059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€169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5171963" y="524160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171963" y="475059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€359</a:t>
            </a:r>
            <a:endParaRPr lang="en-US" sz="2025" dirty="0"/>
          </a:p>
        </p:txBody>
      </p:sp>
      <p:sp>
        <p:nvSpPr>
          <p:cNvPr id="24" name="Shape 22"/>
          <p:cNvSpPr/>
          <p:nvPr/>
        </p:nvSpPr>
        <p:spPr>
          <a:xfrm>
            <a:off x="7384462" y="524160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7384462" y="475059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2.1×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469947" y="5893595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469947" y="5402581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2025" dirty="0"/>
          </a:p>
        </p:txBody>
      </p:sp>
      <p:sp>
        <p:nvSpPr>
          <p:cNvPr id="28" name="Shape 26"/>
          <p:cNvSpPr/>
          <p:nvPr/>
        </p:nvSpPr>
        <p:spPr>
          <a:xfrm>
            <a:off x="3236801" y="5893595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3236801" y="5402581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€271</a:t>
            </a:r>
            <a:endParaRPr lang="en-US" sz="2025" dirty="0"/>
          </a:p>
        </p:txBody>
      </p:sp>
      <p:sp>
        <p:nvSpPr>
          <p:cNvPr id="30" name="Shape 28"/>
          <p:cNvSpPr/>
          <p:nvPr/>
        </p:nvSpPr>
        <p:spPr>
          <a:xfrm>
            <a:off x="5171963" y="5893595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171963" y="5402581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€579</a:t>
            </a:r>
            <a:endParaRPr lang="en-US" sz="2025" dirty="0"/>
          </a:p>
        </p:txBody>
      </p:sp>
      <p:sp>
        <p:nvSpPr>
          <p:cNvPr id="32" name="Shape 30"/>
          <p:cNvSpPr/>
          <p:nvPr/>
        </p:nvSpPr>
        <p:spPr>
          <a:xfrm>
            <a:off x="7384462" y="5893595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7384462" y="5402581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2.0×</a:t>
            </a:r>
            <a:endParaRPr lang="en-US" sz="2025" dirty="0"/>
          </a:p>
        </p:txBody>
      </p:sp>
      <p:sp>
        <p:nvSpPr>
          <p:cNvPr id="34" name="Shape 32"/>
          <p:cNvSpPr/>
          <p:nvPr/>
        </p:nvSpPr>
        <p:spPr>
          <a:xfrm>
            <a:off x="469947" y="6545581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469947" y="6054568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2025" dirty="0"/>
          </a:p>
        </p:txBody>
      </p:sp>
      <p:sp>
        <p:nvSpPr>
          <p:cNvPr id="36" name="Shape 34"/>
          <p:cNvSpPr/>
          <p:nvPr/>
        </p:nvSpPr>
        <p:spPr>
          <a:xfrm>
            <a:off x="3236801" y="6545581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3236801" y="6054568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€353</a:t>
            </a:r>
            <a:endParaRPr lang="en-US" sz="2025" dirty="0"/>
          </a:p>
        </p:txBody>
      </p:sp>
      <p:sp>
        <p:nvSpPr>
          <p:cNvPr id="38" name="Shape 36"/>
          <p:cNvSpPr/>
          <p:nvPr/>
        </p:nvSpPr>
        <p:spPr>
          <a:xfrm>
            <a:off x="5171963" y="6545581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171963" y="6054568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€572</a:t>
            </a:r>
            <a:endParaRPr lang="en-US" sz="2025" dirty="0"/>
          </a:p>
        </p:txBody>
      </p:sp>
      <p:sp>
        <p:nvSpPr>
          <p:cNvPr id="40" name="Shape 38"/>
          <p:cNvSpPr/>
          <p:nvPr/>
        </p:nvSpPr>
        <p:spPr>
          <a:xfrm>
            <a:off x="7384462" y="6545581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7384462" y="6054568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1.6×</a:t>
            </a:r>
            <a:endParaRPr lang="en-US" sz="2025" dirty="0"/>
          </a:p>
        </p:txBody>
      </p:sp>
      <p:sp>
        <p:nvSpPr>
          <p:cNvPr id="42" name="Shape 40"/>
          <p:cNvSpPr/>
          <p:nvPr/>
        </p:nvSpPr>
        <p:spPr>
          <a:xfrm>
            <a:off x="469947" y="7197567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469947" y="6706553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3236801" y="7197567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Text 43"/>
          <p:cNvSpPr/>
          <p:nvPr/>
        </p:nvSpPr>
        <p:spPr>
          <a:xfrm>
            <a:off x="3236801" y="6706553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€316</a:t>
            </a:r>
            <a:endParaRPr lang="en-US" sz="2025" dirty="0"/>
          </a:p>
        </p:txBody>
      </p:sp>
      <p:sp>
        <p:nvSpPr>
          <p:cNvPr id="46" name="Shape 44"/>
          <p:cNvSpPr/>
          <p:nvPr/>
        </p:nvSpPr>
        <p:spPr>
          <a:xfrm>
            <a:off x="5171963" y="7197567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7" name="Text 45"/>
          <p:cNvSpPr/>
          <p:nvPr/>
        </p:nvSpPr>
        <p:spPr>
          <a:xfrm>
            <a:off x="5171963" y="6706553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€462</a:t>
            </a:r>
            <a:endParaRPr lang="en-US" sz="2025" dirty="0"/>
          </a:p>
        </p:txBody>
      </p:sp>
      <p:sp>
        <p:nvSpPr>
          <p:cNvPr id="48" name="Shape 46"/>
          <p:cNvSpPr/>
          <p:nvPr/>
        </p:nvSpPr>
        <p:spPr>
          <a:xfrm>
            <a:off x="7384462" y="7197567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7384462" y="6706553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1.5×</a:t>
            </a:r>
            <a:endParaRPr lang="en-US" sz="2025" dirty="0"/>
          </a:p>
        </p:txBody>
      </p:sp>
      <p:sp>
        <p:nvSpPr>
          <p:cNvPr id="50" name="Shape 48"/>
          <p:cNvSpPr/>
          <p:nvPr/>
        </p:nvSpPr>
        <p:spPr>
          <a:xfrm>
            <a:off x="469947" y="7849554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1" name="Text 49"/>
          <p:cNvSpPr/>
          <p:nvPr/>
        </p:nvSpPr>
        <p:spPr>
          <a:xfrm>
            <a:off x="469947" y="7358540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</a:t>
            </a:r>
            <a:endParaRPr lang="en-US" sz="2025" dirty="0"/>
          </a:p>
        </p:txBody>
      </p:sp>
      <p:sp>
        <p:nvSpPr>
          <p:cNvPr id="52" name="Shape 50"/>
          <p:cNvSpPr/>
          <p:nvPr/>
        </p:nvSpPr>
        <p:spPr>
          <a:xfrm>
            <a:off x="3236801" y="7849554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3" name="Text 51"/>
          <p:cNvSpPr/>
          <p:nvPr/>
        </p:nvSpPr>
        <p:spPr>
          <a:xfrm>
            <a:off x="3236801" y="7358540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€342</a:t>
            </a:r>
            <a:endParaRPr lang="en-US" sz="2025" dirty="0"/>
          </a:p>
        </p:txBody>
      </p:sp>
      <p:sp>
        <p:nvSpPr>
          <p:cNvPr id="54" name="Shape 52"/>
          <p:cNvSpPr/>
          <p:nvPr/>
        </p:nvSpPr>
        <p:spPr>
          <a:xfrm>
            <a:off x="5171963" y="7849554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5" name="Text 53"/>
          <p:cNvSpPr/>
          <p:nvPr/>
        </p:nvSpPr>
        <p:spPr>
          <a:xfrm>
            <a:off x="5171963" y="7358540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€290</a:t>
            </a:r>
            <a:endParaRPr lang="en-US" sz="2025" dirty="0"/>
          </a:p>
        </p:txBody>
      </p:sp>
      <p:sp>
        <p:nvSpPr>
          <p:cNvPr id="56" name="Shape 54"/>
          <p:cNvSpPr/>
          <p:nvPr/>
        </p:nvSpPr>
        <p:spPr>
          <a:xfrm>
            <a:off x="7384462" y="7849554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7" name="Text 55"/>
          <p:cNvSpPr/>
          <p:nvPr/>
        </p:nvSpPr>
        <p:spPr>
          <a:xfrm>
            <a:off x="7384462" y="7358540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0.8×</a:t>
            </a:r>
            <a:endParaRPr lang="en-US" sz="2025" dirty="0"/>
          </a:p>
        </p:txBody>
      </p:sp>
      <p:sp>
        <p:nvSpPr>
          <p:cNvPr id="58" name="Shape 56"/>
          <p:cNvSpPr/>
          <p:nvPr/>
        </p:nvSpPr>
        <p:spPr>
          <a:xfrm>
            <a:off x="430142" y="8200707"/>
            <a:ext cx="8572500" cy="752475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9" name="Shape 57"/>
          <p:cNvSpPr/>
          <p:nvPr/>
        </p:nvSpPr>
        <p:spPr>
          <a:xfrm>
            <a:off x="430142" y="8200707"/>
            <a:ext cx="25718" cy="7524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684459" y="8391207"/>
            <a:ext cx="833227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AI hard on Release, Dev, Report. For Article, cap at 25–50%.</a:t>
            </a:r>
            <a:endParaRPr lang="en-US" sz="1950" dirty="0"/>
          </a:p>
        </p:txBody>
      </p:sp>
      <p:sp>
        <p:nvSpPr>
          <p:cNvPr id="61" name="Shape 59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3" name="Text 61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64" name="Picture 63" descr="21_task_type_sensitivity.png">
            <a:extLst>
              <a:ext uri="{FF2B5EF4-FFF2-40B4-BE49-F238E27FC236}">
                <a16:creationId xmlns:a16="http://schemas.microsoft.com/office/drawing/2014/main" id="{ED64525B-04C3-9FD5-0329-0F24222C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1273" y="3922555"/>
            <a:ext cx="8842556" cy="3269137"/>
          </a:xfrm>
          <a:prstGeom prst="rect">
            <a:avLst/>
          </a:prstGeom>
        </p:spPr>
      </p:pic>
      <p:sp>
        <p:nvSpPr>
          <p:cNvPr id="65" name="Shape 48">
            <a:extLst>
              <a:ext uri="{FF2B5EF4-FFF2-40B4-BE49-F238E27FC236}">
                <a16:creationId xmlns:a16="http://schemas.microsoft.com/office/drawing/2014/main" id="{2EE73CCD-103A-0896-7184-6B703B4EF2AE}"/>
              </a:ext>
            </a:extLst>
          </p:cNvPr>
          <p:cNvSpPr/>
          <p:nvPr/>
        </p:nvSpPr>
        <p:spPr>
          <a:xfrm>
            <a:off x="455860" y="4667489"/>
            <a:ext cx="2766854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49">
            <a:extLst>
              <a:ext uri="{FF2B5EF4-FFF2-40B4-BE49-F238E27FC236}">
                <a16:creationId xmlns:a16="http://schemas.microsoft.com/office/drawing/2014/main" id="{99E61F62-B94F-E8F6-EECB-8C27C5DE5C9D}"/>
              </a:ext>
            </a:extLst>
          </p:cNvPr>
          <p:cNvSpPr/>
          <p:nvPr/>
        </p:nvSpPr>
        <p:spPr>
          <a:xfrm>
            <a:off x="455860" y="4176475"/>
            <a:ext cx="269745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2025" dirty="0"/>
          </a:p>
        </p:txBody>
      </p:sp>
      <p:sp>
        <p:nvSpPr>
          <p:cNvPr id="67" name="Shape 50">
            <a:extLst>
              <a:ext uri="{FF2B5EF4-FFF2-40B4-BE49-F238E27FC236}">
                <a16:creationId xmlns:a16="http://schemas.microsoft.com/office/drawing/2014/main" id="{6CC3ECEB-E324-37DE-A880-3C9140D89CCA}"/>
              </a:ext>
            </a:extLst>
          </p:cNvPr>
          <p:cNvSpPr/>
          <p:nvPr/>
        </p:nvSpPr>
        <p:spPr>
          <a:xfrm>
            <a:off x="3222714" y="4667489"/>
            <a:ext cx="1935162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51">
            <a:extLst>
              <a:ext uri="{FF2B5EF4-FFF2-40B4-BE49-F238E27FC236}">
                <a16:creationId xmlns:a16="http://schemas.microsoft.com/office/drawing/2014/main" id="{0674160B-5511-B2FC-E6F1-AAEEED751E8B}"/>
              </a:ext>
            </a:extLst>
          </p:cNvPr>
          <p:cNvSpPr/>
          <p:nvPr/>
        </p:nvSpPr>
        <p:spPr>
          <a:xfrm>
            <a:off x="3222714" y="4176475"/>
            <a:ext cx="1858962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€124</a:t>
            </a:r>
            <a:endParaRPr lang="en-US" sz="2025" dirty="0"/>
          </a:p>
        </p:txBody>
      </p:sp>
      <p:sp>
        <p:nvSpPr>
          <p:cNvPr id="69" name="Shape 52">
            <a:extLst>
              <a:ext uri="{FF2B5EF4-FFF2-40B4-BE49-F238E27FC236}">
                <a16:creationId xmlns:a16="http://schemas.microsoft.com/office/drawing/2014/main" id="{717B3036-6F9B-9FD5-E76D-9A6D077FF2D9}"/>
              </a:ext>
            </a:extLst>
          </p:cNvPr>
          <p:cNvSpPr/>
          <p:nvPr/>
        </p:nvSpPr>
        <p:spPr>
          <a:xfrm>
            <a:off x="5157876" y="4667489"/>
            <a:ext cx="2212499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53">
            <a:extLst>
              <a:ext uri="{FF2B5EF4-FFF2-40B4-BE49-F238E27FC236}">
                <a16:creationId xmlns:a16="http://schemas.microsoft.com/office/drawing/2014/main" id="{6EBCC30B-8E28-39A0-00C9-887EAEBF9C2F}"/>
              </a:ext>
            </a:extLst>
          </p:cNvPr>
          <p:cNvSpPr/>
          <p:nvPr/>
        </p:nvSpPr>
        <p:spPr>
          <a:xfrm>
            <a:off x="5157876" y="4176475"/>
            <a:ext cx="2136299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€297</a:t>
            </a:r>
            <a:endParaRPr lang="en-US" sz="2025" dirty="0"/>
          </a:p>
        </p:txBody>
      </p:sp>
      <p:sp>
        <p:nvSpPr>
          <p:cNvPr id="71" name="Shape 54">
            <a:extLst>
              <a:ext uri="{FF2B5EF4-FFF2-40B4-BE49-F238E27FC236}">
                <a16:creationId xmlns:a16="http://schemas.microsoft.com/office/drawing/2014/main" id="{727B02CF-79B2-D0BB-4D29-C629DB3FB4CA}"/>
              </a:ext>
            </a:extLst>
          </p:cNvPr>
          <p:cNvSpPr/>
          <p:nvPr/>
        </p:nvSpPr>
        <p:spPr>
          <a:xfrm>
            <a:off x="7370375" y="4667489"/>
            <a:ext cx="165798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55">
            <a:extLst>
              <a:ext uri="{FF2B5EF4-FFF2-40B4-BE49-F238E27FC236}">
                <a16:creationId xmlns:a16="http://schemas.microsoft.com/office/drawing/2014/main" id="{B43B85AE-6A09-DC57-B560-5D2354005D98}"/>
              </a:ext>
            </a:extLst>
          </p:cNvPr>
          <p:cNvSpPr/>
          <p:nvPr/>
        </p:nvSpPr>
        <p:spPr>
          <a:xfrm>
            <a:off x="7370375" y="4176475"/>
            <a:ext cx="1581785" cy="3767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r>
              <a:rPr lang="en-US" sz="202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2.4×</a:t>
            </a:r>
            <a:endParaRPr lang="en-US" sz="20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 IS YOUR BIGGEST RISK VARIABLE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9135428" y="2373948"/>
            <a:ext cx="9525" cy="6644957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2754948"/>
            <a:ext cx="783977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LOW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3214370"/>
            <a:ext cx="783977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</a:t>
            </a:r>
            <a:endParaRPr lang="en-US" sz="10500" dirty="0"/>
          </a:p>
        </p:txBody>
      </p:sp>
      <p:sp>
        <p:nvSpPr>
          <p:cNvPr id="8" name="Text 6"/>
          <p:cNvSpPr/>
          <p:nvPr/>
        </p:nvSpPr>
        <p:spPr>
          <a:xfrm>
            <a:off x="1066800" y="4738370"/>
            <a:ext cx="783977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— WORST IN THE WORKFORCE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066800" y="5248910"/>
            <a:ext cx="7839770" cy="12017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billing rates can't justify manual execution. Each level costs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−€173/task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baseline: every unassisted hour compresses margin.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066800" y="7800658"/>
            <a:ext cx="7611427" cy="837248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Shape 9"/>
          <p:cNvSpPr/>
          <p:nvPr/>
        </p:nvSpPr>
        <p:spPr>
          <a:xfrm>
            <a:off x="1066800" y="7800658"/>
            <a:ext cx="34290" cy="837248"/>
          </a:xfrm>
          <a:prstGeom prst="rect">
            <a:avLst/>
          </a:prstGeom>
          <a:solidFill>
            <a:srgbClr val="9D35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367790" y="8029258"/>
            <a:ext cx="725505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isn't optional for seniors — it's the </a:t>
            </a:r>
            <a:r>
              <a:rPr lang="en-US" sz="1950" b="1" dirty="0">
                <a:solidFill>
                  <a:srgbClr val="75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viable configuration.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601200" y="2754948"/>
            <a:ext cx="7848600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SENIORS · HIGH AI + RIGHT CONTRACT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01200" y="3214370"/>
            <a:ext cx="784860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€3,935</a:t>
            </a:r>
            <a:endParaRPr lang="en-US" sz="10500" dirty="0"/>
          </a:p>
        </p:txBody>
      </p:sp>
      <p:sp>
        <p:nvSpPr>
          <p:cNvPr id="15" name="Text 13"/>
          <p:cNvSpPr/>
          <p:nvPr/>
        </p:nvSpPr>
        <p:spPr>
          <a:xfrm>
            <a:off x="9601200" y="4738370"/>
            <a:ext cx="7848600" cy="35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PROFIT PER TASK — ~15× DATASET MEDIAN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9601200" y="5248910"/>
            <a:ext cx="7848600" cy="815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× seniority interaction: </a:t>
            </a:r>
            <a:r>
              <a:rPr lang="en-US" sz="202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+€718 gain </a:t>
            </a: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−€346 cost drag, net reversal. Observed in 80-100% AI band.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9601200" y="7800658"/>
            <a:ext cx="7620000" cy="837248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8" name="Shape 16"/>
          <p:cNvSpPr/>
          <p:nvPr/>
        </p:nvSpPr>
        <p:spPr>
          <a:xfrm>
            <a:off x="9601200" y="7800658"/>
            <a:ext cx="34290" cy="83724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9902190" y="8029258"/>
            <a:ext cx="7263880" cy="4181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Condition: </a:t>
            </a:r>
            <a:r>
              <a:rPr lang="en-US" sz="195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or value-based contract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AI usage ≥ 80%.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2" name="Text 2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7531" y="873034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87531" y="1370557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REWORK PARADOX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387531" y="2018257"/>
            <a:ext cx="16639032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02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gets financially safer by getting operationally messier.</a:t>
            </a:r>
            <a:endParaRPr lang="en-US" sz="2025" dirty="0"/>
          </a:p>
        </p:txBody>
      </p:sp>
      <p:sp>
        <p:nvSpPr>
          <p:cNvPr id="5" name="Shape 3"/>
          <p:cNvSpPr/>
          <p:nvPr/>
        </p:nvSpPr>
        <p:spPr>
          <a:xfrm>
            <a:off x="387531" y="259451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387531" y="3126584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730431" y="3393284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PROFITABILITY PARADOX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0431" y="3861438"/>
            <a:ext cx="7338441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rate falls </a:t>
            </a: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31.3% → 19.7%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 rework rises to 32%. Speed creates an efficiency cushion that absorbs correction cost.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387531" y="5032060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730431" y="5298760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CRITICAL PIVOT: 60–70%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0431" y="5766914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60–70% AI usage the business crosses from high-loss to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high-rework, low-risk.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387531" y="6937536"/>
            <a:ext cx="7810500" cy="175307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3" name="Text 11"/>
          <p:cNvSpPr/>
          <p:nvPr/>
        </p:nvSpPr>
        <p:spPr>
          <a:xfrm>
            <a:off x="730431" y="7204236"/>
            <a:ext cx="7338441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IS NOT FAILURE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0431" y="7672390"/>
            <a:ext cx="7338441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OLS: rework quadratic p=0.605. No tipping point. Fast generation + heavy iteration is </a:t>
            </a:r>
            <a:r>
              <a:rPr lang="en-US" sz="195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profitable model.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0" name="Text 1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292196D-6BCF-0100-9FE5-51D37BCCEC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931" y="3393284"/>
            <a:ext cx="9381120" cy="489994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SIGN-CHANGE ANALYSIS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30.6% THRESHOLD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831023"/>
            <a:ext cx="16639032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it, AI costs money. Above it, AI makes money.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773998"/>
            <a:ext cx="5384800" cy="6244907"/>
          </a:xfrm>
          <a:prstGeom prst="rect">
            <a:avLst/>
          </a:prstGeom>
          <a:solidFill>
            <a:srgbClr val="F3E8E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2826702" y="3965416"/>
            <a:ext cx="18648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30.6%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22649" y="4386739"/>
            <a:ext cx="2673102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2717324" y="558688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385695" y="608441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D45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234 of 553 test-set tasks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447800" y="6979761"/>
            <a:ext cx="4622800" cy="9525"/>
          </a:xfrm>
          <a:prstGeom prst="rect">
            <a:avLst/>
          </a:prstGeom>
          <a:solidFill>
            <a:srgbClr val="D9CEC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2385695" y="7141686"/>
            <a:ext cx="274701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459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costs more than it produces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51600" y="2773998"/>
            <a:ext cx="5384800" cy="6244907"/>
          </a:xfrm>
          <a:prstGeom prst="rect">
            <a:avLst/>
          </a:prstGeom>
          <a:solidFill>
            <a:srgbClr val="04091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7307266" y="3965416"/>
            <a:ext cx="367330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SIGN-CHANGE THRESHOLD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891463" y="4386739"/>
            <a:ext cx="2505075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F4F1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30.6%</a:t>
            </a:r>
            <a:endParaRPr lang="en-US" sz="8250" dirty="0"/>
          </a:p>
        </p:txBody>
      </p:sp>
      <p:sp>
        <p:nvSpPr>
          <p:cNvPr id="16" name="Text 14"/>
          <p:cNvSpPr/>
          <p:nvPr/>
        </p:nvSpPr>
        <p:spPr>
          <a:xfrm>
            <a:off x="8654732" y="5586889"/>
            <a:ext cx="978535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2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672388" y="6084411"/>
            <a:ext cx="29432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8087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€103 gap between above vs below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6832600" y="6979761"/>
            <a:ext cx="462280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9" name="Text 17"/>
          <p:cNvSpPr/>
          <p:nvPr/>
        </p:nvSpPr>
        <p:spPr>
          <a:xfrm>
            <a:off x="7672388" y="7141686"/>
            <a:ext cx="294322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575E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Entirely from AI contribution shift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836400" y="2773998"/>
            <a:ext cx="5384800" cy="6244907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3615353" y="3793966"/>
            <a:ext cx="182673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30.6%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359130" y="4215289"/>
            <a:ext cx="2339340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25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+€51.1</a:t>
            </a:r>
            <a:endParaRPr lang="en-US" sz="8250" dirty="0"/>
          </a:p>
        </p:txBody>
      </p:sp>
      <p:sp>
        <p:nvSpPr>
          <p:cNvPr id="23" name="Text 21"/>
          <p:cNvSpPr/>
          <p:nvPr/>
        </p:nvSpPr>
        <p:spPr>
          <a:xfrm>
            <a:off x="13486923" y="5415439"/>
            <a:ext cx="20835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per-task avg. SHAP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155295" y="5912961"/>
            <a:ext cx="274701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50" dirty="0">
                <a:solidFill>
                  <a:srgbClr val="974C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319 of 553 test-set tasks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2217400" y="6808311"/>
            <a:ext cx="4622800" cy="9525"/>
          </a:xfrm>
          <a:prstGeom prst="rect">
            <a:avLst/>
          </a:prstGeom>
          <a:solidFill>
            <a:srgbClr val="E5D5C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6" name="Text 24"/>
          <p:cNvSpPr/>
          <p:nvPr/>
        </p:nvSpPr>
        <p:spPr>
          <a:xfrm>
            <a:off x="13155295" y="6970236"/>
            <a:ext cx="2747010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makes money: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sz="1800" dirty="0">
                <a:solidFill>
                  <a:srgbClr val="A75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capture with right contract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8" name="Text 26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953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VARIABLE IMPORTANCE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928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PROFIT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18691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2145348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371600" y="2373948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1371600" y="2955925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71600" y="3405029"/>
            <a:ext cx="5807964" cy="789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pricing_model_hourly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highest mean |SHAP| larger than AI usage itself.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066800" y="4613751"/>
            <a:ext cx="6248400" cy="223980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0" name="Text 8"/>
          <p:cNvSpPr/>
          <p:nvPr/>
        </p:nvSpPr>
        <p:spPr>
          <a:xfrm>
            <a:off x="1371600" y="4842351"/>
            <a:ext cx="5807964" cy="5438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371600" y="5424329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SENIORITY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5873432"/>
            <a:ext cx="5807964" cy="7896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SHAP driver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loss classifier: senior + low AI = highest loss probability.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66800" y="7082155"/>
            <a:ext cx="6248400" cy="186832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371600" y="7310755"/>
            <a:ext cx="580796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" y="7892732"/>
            <a:ext cx="5807964" cy="4110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96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0" y="8341836"/>
            <a:ext cx="5807964" cy="4181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sign at 30.6%: </a:t>
            </a: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−€52.5 below, +€51.1 above.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7848600" y="2145348"/>
            <a:ext cx="9372600" cy="7159307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T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/>
          <a:srcRect/>
          <a:stretch/>
        </p:blipFill>
        <p:spPr>
          <a:xfrm>
            <a:off x="7848600" y="2145348"/>
            <a:ext cx="9372600" cy="7159307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0" y="972375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8"/>
          <p:cNvSpPr/>
          <p:nvPr/>
        </p:nvSpPr>
        <p:spPr>
          <a:xfrm>
            <a:off x="15284926" y="992282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  <p:grpSp>
        <p:nvGrpSpPr>
          <p:cNvPr id="22" name="Group 23">
            <a:extLst>
              <a:ext uri="{FF2B5EF4-FFF2-40B4-BE49-F238E27FC236}">
                <a16:creationId xmlns:a16="http://schemas.microsoft.com/office/drawing/2014/main" id="{9211D96C-BFDE-88FF-B9EA-D430905DCB55}"/>
              </a:ext>
            </a:extLst>
          </p:cNvPr>
          <p:cNvGrpSpPr/>
          <p:nvPr/>
        </p:nvGrpSpPr>
        <p:grpSpPr>
          <a:xfrm>
            <a:off x="8355740" y="2243910"/>
            <a:ext cx="8560660" cy="6908797"/>
            <a:chOff x="0" y="0"/>
            <a:chExt cx="11414214" cy="9211729"/>
          </a:xfrm>
        </p:grpSpPr>
        <p:sp>
          <p:nvSpPr>
            <p:cNvPr id="23" name="Freeform 24">
              <a:extLst>
                <a:ext uri="{FF2B5EF4-FFF2-40B4-BE49-F238E27FC236}">
                  <a16:creationId xmlns:a16="http://schemas.microsoft.com/office/drawing/2014/main" id="{D4FC0DB9-3955-4DB1-4FCB-F37B7A106F5D}"/>
                </a:ext>
              </a:extLst>
            </p:cNvPr>
            <p:cNvSpPr/>
            <p:nvPr/>
          </p:nvSpPr>
          <p:spPr>
            <a:xfrm>
              <a:off x="0" y="0"/>
              <a:ext cx="11414252" cy="9211691"/>
            </a:xfrm>
            <a:custGeom>
              <a:avLst/>
              <a:gdLst/>
              <a:ahLst/>
              <a:cxnLst/>
              <a:rect l="l" t="t" r="r" b="b"/>
              <a:pathLst>
                <a:path w="11414252" h="9211691">
                  <a:moveTo>
                    <a:pt x="0" y="0"/>
                  </a:moveTo>
                  <a:lnTo>
                    <a:pt x="11414252" y="0"/>
                  </a:lnTo>
                  <a:lnTo>
                    <a:pt x="11414252" y="9211691"/>
                  </a:lnTo>
                  <a:lnTo>
                    <a:pt x="0" y="9211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IT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05339"/>
            <a:ext cx="4882483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PRE-TASK RISK SCORE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50461"/>
            <a:ext cx="488248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6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39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VARIABLES, ONE LOOKUP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66800" y="7244023"/>
            <a:ext cx="1651794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Text 3"/>
          <p:cNvSpPr/>
          <p:nvPr/>
        </p:nvSpPr>
        <p:spPr>
          <a:xfrm>
            <a:off x="1257300" y="7396423"/>
            <a:ext cx="127079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ROC-AUC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7665346"/>
            <a:ext cx="1270794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0.754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2909094" y="7244023"/>
            <a:ext cx="1878806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3099594" y="7396423"/>
            <a:ext cx="14978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099594" y="7665346"/>
            <a:ext cx="1497806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43/100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4978400" y="7244023"/>
            <a:ext cx="1887379" cy="1079500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5168900" y="7396423"/>
            <a:ext cx="1506379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RATE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68900" y="7665346"/>
            <a:ext cx="1506379" cy="5438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1066800" y="1917700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4" name="Text 12"/>
          <p:cNvSpPr/>
          <p:nvPr/>
        </p:nvSpPr>
        <p:spPr>
          <a:xfrm>
            <a:off x="10668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FACTORS · LOSS RATE RISES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668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6" name="Text 14"/>
          <p:cNvSpPr/>
          <p:nvPr/>
        </p:nvSpPr>
        <p:spPr>
          <a:xfrm>
            <a:off x="1066800" y="3110943"/>
            <a:ext cx="3912521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13325" y="3110943"/>
            <a:ext cx="11201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09665" y="3110943"/>
            <a:ext cx="1360487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646352" y="3110943"/>
            <a:ext cx="119284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66800" y="4212986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1066800" y="3743404"/>
            <a:ext cx="3912521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Hourly pricing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5013325" y="4212986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5013325" y="3743404"/>
            <a:ext cx="11201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6209665" y="4212986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5" name="Text 23"/>
          <p:cNvSpPr/>
          <p:nvPr/>
        </p:nvSpPr>
        <p:spPr>
          <a:xfrm>
            <a:off x="6209665" y="3743404"/>
            <a:ext cx="1360487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34%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7646352" y="4212986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7646352" y="3743404"/>
            <a:ext cx="119284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+18pp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1066800" y="4839255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9" name="Text 27"/>
          <p:cNvSpPr/>
          <p:nvPr/>
        </p:nvSpPr>
        <p:spPr>
          <a:xfrm>
            <a:off x="1066800" y="4373959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contributor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5013325" y="4839255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1" name="Text 29"/>
          <p:cNvSpPr/>
          <p:nvPr/>
        </p:nvSpPr>
        <p:spPr>
          <a:xfrm>
            <a:off x="5013325" y="4373959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6209665" y="4839255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6209665" y="4373959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7646352" y="4839255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5" name="Text 33"/>
          <p:cNvSpPr/>
          <p:nvPr/>
        </p:nvSpPr>
        <p:spPr>
          <a:xfrm>
            <a:off x="7646352" y="4373959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+12pp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66800" y="5465524"/>
            <a:ext cx="394652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7" name="Text 35"/>
          <p:cNvSpPr/>
          <p:nvPr/>
        </p:nvSpPr>
        <p:spPr>
          <a:xfrm>
            <a:off x="1066800" y="5000227"/>
            <a:ext cx="3912521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spent (top 25%)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5013325" y="5465524"/>
            <a:ext cx="11963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9" name="Text 37"/>
          <p:cNvSpPr/>
          <p:nvPr/>
        </p:nvSpPr>
        <p:spPr>
          <a:xfrm>
            <a:off x="5013325" y="5000227"/>
            <a:ext cx="11201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6209665" y="5465524"/>
            <a:ext cx="143668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1" name="Text 39"/>
          <p:cNvSpPr/>
          <p:nvPr/>
        </p:nvSpPr>
        <p:spPr>
          <a:xfrm>
            <a:off x="6209665" y="5000227"/>
            <a:ext cx="1360487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7646352" y="5465524"/>
            <a:ext cx="126904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3" name="Text 41"/>
          <p:cNvSpPr/>
          <p:nvPr/>
        </p:nvSpPr>
        <p:spPr>
          <a:xfrm>
            <a:off x="7646352" y="5000227"/>
            <a:ext cx="119284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D35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+9pp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066800" y="5668883"/>
            <a:ext cx="7848600" cy="700088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5" name="Shape 43"/>
          <p:cNvSpPr/>
          <p:nvPr/>
        </p:nvSpPr>
        <p:spPr>
          <a:xfrm>
            <a:off x="1066800" y="5668883"/>
            <a:ext cx="25718" cy="700088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6" name="Text 44"/>
          <p:cNvSpPr/>
          <p:nvPr/>
        </p:nvSpPr>
        <p:spPr>
          <a:xfrm>
            <a:off x="1302067" y="5840333"/>
            <a:ext cx="762589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risk factors → pre-kickoff review of contract, staffing, and scope.</a:t>
            </a:r>
            <a:endParaRPr lang="en-US" sz="1875" dirty="0"/>
          </a:p>
        </p:txBody>
      </p:sp>
      <p:sp>
        <p:nvSpPr>
          <p:cNvPr id="47" name="Text 45"/>
          <p:cNvSpPr/>
          <p:nvPr/>
        </p:nvSpPr>
        <p:spPr>
          <a:xfrm>
            <a:off x="9372600" y="2651521"/>
            <a:ext cx="8084058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PROTECTIVE FACTORS · LOSS RATE FALLS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9372600" y="3573858"/>
            <a:ext cx="7848600" cy="17145"/>
          </a:xfrm>
          <a:prstGeom prst="rect">
            <a:avLst/>
          </a:prstGeom>
          <a:solidFill>
            <a:srgbClr val="0D121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9" name="Text 47"/>
          <p:cNvSpPr/>
          <p:nvPr/>
        </p:nvSpPr>
        <p:spPr>
          <a:xfrm>
            <a:off x="9372600" y="3110943"/>
            <a:ext cx="3004372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12437427" y="3110943"/>
            <a:ext cx="1983105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4496733" y="3110943"/>
            <a:ext cx="1209040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5781973" y="3110943"/>
            <a:ext cx="1363028" cy="3467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00" kern="0" spc="144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9372600" y="4212986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4" name="Text 52"/>
          <p:cNvSpPr/>
          <p:nvPr/>
        </p:nvSpPr>
        <p:spPr>
          <a:xfrm>
            <a:off x="9372600" y="3743404"/>
            <a:ext cx="3004372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High-tier client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12437427" y="4212986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6" name="Text 54"/>
          <p:cNvSpPr/>
          <p:nvPr/>
        </p:nvSpPr>
        <p:spPr>
          <a:xfrm>
            <a:off x="12437427" y="3743404"/>
            <a:ext cx="1983105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1875" dirty="0"/>
          </a:p>
        </p:txBody>
      </p:sp>
      <p:sp>
        <p:nvSpPr>
          <p:cNvPr id="57" name="Shape 55"/>
          <p:cNvSpPr/>
          <p:nvPr/>
        </p:nvSpPr>
        <p:spPr>
          <a:xfrm>
            <a:off x="14496733" y="4212986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8" name="Text 56"/>
          <p:cNvSpPr/>
          <p:nvPr/>
        </p:nvSpPr>
        <p:spPr>
          <a:xfrm>
            <a:off x="14496733" y="3743404"/>
            <a:ext cx="1209040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875" dirty="0"/>
          </a:p>
        </p:txBody>
      </p:sp>
      <p:sp>
        <p:nvSpPr>
          <p:cNvPr id="59" name="Shape 57"/>
          <p:cNvSpPr/>
          <p:nvPr/>
        </p:nvSpPr>
        <p:spPr>
          <a:xfrm>
            <a:off x="15781973" y="4212986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0" name="Text 58"/>
          <p:cNvSpPr/>
          <p:nvPr/>
        </p:nvSpPr>
        <p:spPr>
          <a:xfrm>
            <a:off x="15781973" y="3743404"/>
            <a:ext cx="1363028" cy="355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−10pp</a:t>
            </a:r>
            <a:endParaRPr lang="en-US" sz="1875" dirty="0"/>
          </a:p>
        </p:txBody>
      </p:sp>
      <p:sp>
        <p:nvSpPr>
          <p:cNvPr id="61" name="Shape 59"/>
          <p:cNvSpPr/>
          <p:nvPr/>
        </p:nvSpPr>
        <p:spPr>
          <a:xfrm>
            <a:off x="9372600" y="4839255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2" name="Text 60"/>
          <p:cNvSpPr/>
          <p:nvPr/>
        </p:nvSpPr>
        <p:spPr>
          <a:xfrm>
            <a:off x="9372600" y="4373959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complexity</a:t>
            </a:r>
            <a:endParaRPr lang="en-US" sz="1875" dirty="0"/>
          </a:p>
        </p:txBody>
      </p:sp>
      <p:sp>
        <p:nvSpPr>
          <p:cNvPr id="63" name="Shape 61"/>
          <p:cNvSpPr/>
          <p:nvPr/>
        </p:nvSpPr>
        <p:spPr>
          <a:xfrm>
            <a:off x="12437427" y="4839255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4" name="Text 62"/>
          <p:cNvSpPr/>
          <p:nvPr/>
        </p:nvSpPr>
        <p:spPr>
          <a:xfrm>
            <a:off x="12437427" y="4373959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endParaRPr lang="en-US" sz="1875" dirty="0"/>
          </a:p>
        </p:txBody>
      </p:sp>
      <p:sp>
        <p:nvSpPr>
          <p:cNvPr id="65" name="Shape 63"/>
          <p:cNvSpPr/>
          <p:nvPr/>
        </p:nvSpPr>
        <p:spPr>
          <a:xfrm>
            <a:off x="14496733" y="4839255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6" name="Text 64"/>
          <p:cNvSpPr/>
          <p:nvPr/>
        </p:nvSpPr>
        <p:spPr>
          <a:xfrm>
            <a:off x="14496733" y="4373959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875" dirty="0"/>
          </a:p>
        </p:txBody>
      </p:sp>
      <p:sp>
        <p:nvSpPr>
          <p:cNvPr id="67" name="Shape 65"/>
          <p:cNvSpPr/>
          <p:nvPr/>
        </p:nvSpPr>
        <p:spPr>
          <a:xfrm>
            <a:off x="15781973" y="4839255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8" name="Text 66"/>
          <p:cNvSpPr/>
          <p:nvPr/>
        </p:nvSpPr>
        <p:spPr>
          <a:xfrm>
            <a:off x="15781973" y="4373959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69" name="Shape 67"/>
          <p:cNvSpPr/>
          <p:nvPr/>
        </p:nvSpPr>
        <p:spPr>
          <a:xfrm>
            <a:off x="9372600" y="5465524"/>
            <a:ext cx="3064827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0" name="Text 68"/>
          <p:cNvSpPr/>
          <p:nvPr/>
        </p:nvSpPr>
        <p:spPr>
          <a:xfrm>
            <a:off x="9372600" y="5000227"/>
            <a:ext cx="3004372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usage ≥ 30%</a:t>
            </a:r>
            <a:endParaRPr lang="en-US" sz="1875" dirty="0"/>
          </a:p>
        </p:txBody>
      </p:sp>
      <p:sp>
        <p:nvSpPr>
          <p:cNvPr id="71" name="Shape 69"/>
          <p:cNvSpPr/>
          <p:nvPr/>
        </p:nvSpPr>
        <p:spPr>
          <a:xfrm>
            <a:off x="12437427" y="5465524"/>
            <a:ext cx="2059305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2" name="Text 70"/>
          <p:cNvSpPr/>
          <p:nvPr/>
        </p:nvSpPr>
        <p:spPr>
          <a:xfrm>
            <a:off x="12437427" y="5000227"/>
            <a:ext cx="1983105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875" dirty="0"/>
          </a:p>
        </p:txBody>
      </p:sp>
      <p:sp>
        <p:nvSpPr>
          <p:cNvPr id="73" name="Shape 71"/>
          <p:cNvSpPr/>
          <p:nvPr/>
        </p:nvSpPr>
        <p:spPr>
          <a:xfrm>
            <a:off x="14496733" y="5465524"/>
            <a:ext cx="128524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4" name="Text 72"/>
          <p:cNvSpPr/>
          <p:nvPr/>
        </p:nvSpPr>
        <p:spPr>
          <a:xfrm>
            <a:off x="14496733" y="5000227"/>
            <a:ext cx="1209040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875" dirty="0"/>
          </a:p>
        </p:txBody>
      </p:sp>
      <p:sp>
        <p:nvSpPr>
          <p:cNvPr id="75" name="Shape 73"/>
          <p:cNvSpPr/>
          <p:nvPr/>
        </p:nvSpPr>
        <p:spPr>
          <a:xfrm>
            <a:off x="15781973" y="5465524"/>
            <a:ext cx="1439228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6" name="Text 74"/>
          <p:cNvSpPr/>
          <p:nvPr/>
        </p:nvSpPr>
        <p:spPr>
          <a:xfrm>
            <a:off x="15781973" y="5000227"/>
            <a:ext cx="1363028" cy="3509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−8pp</a:t>
            </a:r>
            <a:endParaRPr lang="en-US" sz="1875" dirty="0"/>
          </a:p>
        </p:txBody>
      </p:sp>
      <p:sp>
        <p:nvSpPr>
          <p:cNvPr id="77" name="Shape 75"/>
          <p:cNvSpPr/>
          <p:nvPr/>
        </p:nvSpPr>
        <p:spPr>
          <a:xfrm>
            <a:off x="9372600" y="5668883"/>
            <a:ext cx="7848600" cy="1057275"/>
          </a:xfrm>
          <a:prstGeom prst="rect">
            <a:avLst/>
          </a:prstGeom>
          <a:solidFill>
            <a:srgbClr val="FFEFDD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8" name="Shape 76"/>
          <p:cNvSpPr/>
          <p:nvPr/>
        </p:nvSpPr>
        <p:spPr>
          <a:xfrm>
            <a:off x="9372600" y="5668883"/>
            <a:ext cx="25718" cy="10572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9" name="Text 77"/>
          <p:cNvSpPr/>
          <p:nvPr/>
        </p:nvSpPr>
        <p:spPr>
          <a:xfrm>
            <a:off x="9607868" y="5840333"/>
            <a:ext cx="7625896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case: high client tier + high complexity + fixed/value + AI ≥ 30% → loss rate below 18%.</a:t>
            </a:r>
            <a:endParaRPr lang="en-US" sz="1875" dirty="0"/>
          </a:p>
        </p:txBody>
      </p:sp>
      <p:sp>
        <p:nvSpPr>
          <p:cNvPr id="80" name="Shape 78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2" name="Text 80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191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9166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DATASET STILL CANNOT EXPLAIN</a:t>
            </a:r>
            <a:endParaRPr lang="en-US" sz="4500" dirty="0"/>
          </a:p>
        </p:txBody>
      </p:sp>
      <p:sp>
        <p:nvSpPr>
          <p:cNvPr id="4" name="Text 2"/>
          <p:cNvSpPr/>
          <p:nvPr/>
        </p:nvSpPr>
        <p:spPr>
          <a:xfrm>
            <a:off x="1066800" y="1564323"/>
            <a:ext cx="1079182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5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explains margin mechanics well, but is missing signals for client value and revision causality.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1066800" y="249777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Shape 4"/>
          <p:cNvSpPr/>
          <p:nvPr/>
        </p:nvSpPr>
        <p:spPr>
          <a:xfrm>
            <a:off x="1066800" y="2697798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7" name="Text 5"/>
          <p:cNvSpPr/>
          <p:nvPr/>
        </p:nvSpPr>
        <p:spPr>
          <a:xfrm>
            <a:off x="1371600" y="2964498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HIGHEST PRIORITY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371600" y="3404553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RETENTION &amp; SATISFACTION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371600" y="3818890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 task profit but not whether AI-heavy delivery hurts long-term trust, renewals, or NPS.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66800" y="4961890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1" name="Text 9"/>
          <p:cNvSpPr/>
          <p:nvPr/>
        </p:nvSpPr>
        <p:spPr>
          <a:xfrm>
            <a:off x="1371600" y="5228590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PROCUREMENT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71600" y="5668645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&amp; PROMPT TELEMETRY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71600" y="6082982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ai_usage_pct can mean one precise draft or thirty failed iterations, blocking tool ROI decisions.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066800" y="7225982"/>
            <a:ext cx="7905750" cy="2073592"/>
          </a:xfrm>
          <a:prstGeom prst="rect">
            <a:avLst/>
          </a:prstGeom>
          <a:solidFill>
            <a:srgbClr val="EBE7E2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5" name="Text 13"/>
          <p:cNvSpPr/>
          <p:nvPr/>
        </p:nvSpPr>
        <p:spPr>
          <a:xfrm>
            <a:off x="1371600" y="7492682"/>
            <a:ext cx="7515035" cy="3638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8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ROOT CAUSE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71600" y="7932737"/>
            <a:ext cx="7515035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78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REVISION REASON CODES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371600" y="8347075"/>
            <a:ext cx="751503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hours tell us cost, not cause. Distinguish AI mistakes, scope creep, and client preference changes.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58350" y="2964498"/>
            <a:ext cx="7436549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252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WE'D ASK ALKEMY NEXT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658350" y="4085908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1" name="Text 19"/>
          <p:cNvSpPr/>
          <p:nvPr/>
        </p:nvSpPr>
        <p:spPr>
          <a:xfrm>
            <a:off x="9658350" y="3576320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115550" y="3576320"/>
            <a:ext cx="5300258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revisions were AI-caused vs client-driven?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9658350" y="5734844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4" name="Text 22"/>
          <p:cNvSpPr/>
          <p:nvPr/>
        </p:nvSpPr>
        <p:spPr>
          <a:xfrm>
            <a:off x="9658350" y="5225256"/>
            <a:ext cx="38163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0116185" y="5225256"/>
            <a:ext cx="5838050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tools, prompts &amp; iterations were used per task?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9658350" y="7383780"/>
            <a:ext cx="7219950" cy="9525"/>
          </a:xfrm>
          <a:prstGeom prst="rect">
            <a:avLst/>
          </a:prstGeom>
          <a:solidFill>
            <a:srgbClr val="232933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7" name="Text 25"/>
          <p:cNvSpPr/>
          <p:nvPr/>
        </p:nvSpPr>
        <p:spPr>
          <a:xfrm>
            <a:off x="9658350" y="6874193"/>
            <a:ext cx="3810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0115550" y="6874193"/>
            <a:ext cx="4170386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Retention, upsell &amp; NPS after delivery?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9658350" y="8523287"/>
            <a:ext cx="397351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333B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700" dirty="0"/>
          </a:p>
        </p:txBody>
      </p:sp>
      <p:sp>
        <p:nvSpPr>
          <p:cNvPr id="30" name="Text 28"/>
          <p:cNvSpPr/>
          <p:nvPr/>
        </p:nvSpPr>
        <p:spPr>
          <a:xfrm>
            <a:off x="10131901" y="8523287"/>
            <a:ext cx="4826235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latin typeface="Arial" pitchFamily="34" charset="0"/>
                <a:ea typeface="Arial" pitchFamily="34" charset="-122"/>
                <a:cs typeface="Arial" pitchFamily="34" charset="-120"/>
              </a:rPr>
              <a:t>Which tasks were under-scoped or repriced?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0" y="968057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33" name="Text 31"/>
          <p:cNvSpPr/>
          <p:nvPr/>
        </p:nvSpPr>
        <p:spPr>
          <a:xfrm>
            <a:off x="15284926" y="9879648"/>
            <a:ext cx="2012474" cy="307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1663903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324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066800" y="1183323"/>
            <a:ext cx="1663903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500" b="1" kern="0" spc="-45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DECISIONS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1066800" y="2059623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5" name="Shape 3"/>
          <p:cNvSpPr/>
          <p:nvPr/>
        </p:nvSpPr>
        <p:spPr>
          <a:xfrm>
            <a:off x="1066800" y="4828699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1066800" y="3702526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2057400" y="3631565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RESTRUCTURE THE PRICING BOOK BEFORE SCALING AI FURTHER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2057400" y="4102100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AI adoption as binary per workflow. &lt;30% costs more than it produces; &gt;60% profit + time dividends consolidate.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5240000" y="3528854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€540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5240000" y="4024154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RECOVERY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066800" y="6403816"/>
            <a:ext cx="161544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12" name="Text 10"/>
          <p:cNvSpPr/>
          <p:nvPr/>
        </p:nvSpPr>
        <p:spPr>
          <a:xfrm>
            <a:off x="1066800" y="5277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2057400" y="5206682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AI FLOORS: 30% MINIMUM, 60% EFFICIENCY THRESHOLD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2057400" y="5677217"/>
            <a:ext cx="13224891" cy="3952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 AI-eligible work off hourly contracts. Priority: senior engagements (hourly = −€78/task vs value-based = +€511).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5240000" y="5103971"/>
            <a:ext cx="198120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3600" b="1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€235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5240000" y="559927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TASK ON MIGRATION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66800" y="6928644"/>
            <a:ext cx="6477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400" b="1" dirty="0">
                <a:solidFill>
                  <a:srgbClr val="D1CD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057400" y="6679089"/>
            <a:ext cx="13224891" cy="4324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550" b="1" kern="0" spc="77" dirty="0">
                <a:solidFill>
                  <a:srgbClr val="0D12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REPOSITION SENIORS AS AI FORCE MULTIPLIERS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057400" y="7149624"/>
            <a:ext cx="13224891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tasks must pass two conditions: AI usage ≥ 60% AND fixed/value-based contract. Redirect to 80–100% AI workflows.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5240000" y="6812121"/>
            <a:ext cx="19812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E26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5240000" y="7193121"/>
            <a:ext cx="1981200" cy="5759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r">
              <a:buNone/>
            </a:pPr>
            <a:r>
              <a:rPr lang="en-US" sz="1800" kern="0" spc="108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REVERSAL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23" name="Text 21"/>
          <p:cNvSpPr/>
          <p:nvPr/>
        </p:nvSpPr>
        <p:spPr>
          <a:xfrm>
            <a:off x="1066800" y="9827577"/>
            <a:ext cx="5492712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AI HELP OR HURT THE BUSINESS?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62320" y="2530951"/>
            <a:ext cx="2763361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kern="0" spc="324" dirty="0">
                <a:solidFill>
                  <a:srgbClr val="4148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LINE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8858250" y="3104674"/>
            <a:ext cx="571500" cy="28575"/>
          </a:xfrm>
          <a:prstGeom prst="rect">
            <a:avLst/>
          </a:prstGeom>
          <a:solidFill>
            <a:srgbClr val="E26C00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4" name="Text 2"/>
          <p:cNvSpPr/>
          <p:nvPr/>
        </p:nvSpPr>
        <p:spPr>
          <a:xfrm>
            <a:off x="4357166" y="3467576"/>
            <a:ext cx="9573507" cy="186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7200" b="1" kern="0" spc="-72" dirty="0">
                <a:solidFill>
                  <a:srgbClr val="0409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TECHNOLOGY IS DOING ITS JOB.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8858250" y="5571649"/>
            <a:ext cx="571500" cy="9525"/>
          </a:xfrm>
          <a:prstGeom prst="rect">
            <a:avLst/>
          </a:prstGeom>
          <a:solidFill>
            <a:srgbClr val="282E38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6" name="Text 4"/>
          <p:cNvSpPr/>
          <p:nvPr/>
        </p:nvSpPr>
        <p:spPr>
          <a:xfrm>
            <a:off x="6883278" y="5885974"/>
            <a:ext cx="4521284" cy="1325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3900" dirty="0">
                <a:solidFill>
                  <a:srgbClr val="595E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model is the bottleneck.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0" y="9628505"/>
            <a:ext cx="18288000" cy="9525"/>
          </a:xfrm>
          <a:prstGeom prst="rect">
            <a:avLst/>
          </a:prstGeom>
          <a:solidFill>
            <a:srgbClr val="D1CDC7"/>
          </a:solidFill>
          <a:ln/>
        </p:spPr>
        <p:txBody>
          <a:bodyPr/>
          <a:lstStyle/>
          <a:p>
            <a:endParaRPr lang="en-IT"/>
          </a:p>
        </p:txBody>
      </p:sp>
      <p:sp>
        <p:nvSpPr>
          <p:cNvPr id="8" name="Text 6"/>
          <p:cNvSpPr/>
          <p:nvPr/>
        </p:nvSpPr>
        <p:spPr>
          <a:xfrm>
            <a:off x="1066800" y="9827577"/>
            <a:ext cx="8608606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ALEXANDRA TABARANI · GABRIELE LORETI · EDOARDO COCCIÒ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284926" y="9827577"/>
            <a:ext cx="2012474" cy="3070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0" dirty="0">
                <a:solidFill>
                  <a:srgbClr val="6569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ALKEMY · 2026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1458</Words>
  <Application>Microsoft Macintosh PowerPoint</Application>
  <PresentationFormat>Custom</PresentationFormat>
  <Paragraphs>283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alexandra tabarani</cp:lastModifiedBy>
  <cp:revision>5</cp:revision>
  <dcterms:created xsi:type="dcterms:W3CDTF">2026-04-29T17:28:21Z</dcterms:created>
  <dcterms:modified xsi:type="dcterms:W3CDTF">2026-04-30T14:14:34Z</dcterms:modified>
</cp:coreProperties>
</file>
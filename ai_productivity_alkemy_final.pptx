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64" r:id="rId11"/>
    <p:sldId id="265" r:id="rId12"/>
    <p:sldId id="266" r:id="rId13"/>
    <p:sldId id="272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93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1079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2A3A"/>
          </a:solidFill>
          <a:ln w="12700">
            <a:solidFill>
              <a:srgbClr val="1A2A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91440" cy="51435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500" dirty="0">
                <a:solidFill>
                  <a:schemeClr val="accent4"/>
                </a:solidFill>
              </a:rPr>
              <a:t>AI PRODUCTIVITY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5852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Does AI Help or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Hurt the Business?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0" cy="0"/>
          </a:xfrm>
          <a:prstGeom prst="line">
            <a:avLst/>
          </a:prstGeom>
          <a:noFill/>
          <a:ln w="1905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chemeClr val="accent1">
                    <a:lumMod val="50000"/>
                  </a:schemeClr>
                </a:solidFill>
              </a:rPr>
              <a:t>Alexandra Tabarani · Gabriele Loreti · Edoardo Cocciò</a:t>
            </a:r>
            <a:endParaRPr lang="en-US" sz="1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4A6A"/>
                </a:solidFill>
              </a:rPr>
              <a:t>Presented to Alkemy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400" dirty="0">
                <a:solidFill>
                  <a:srgbClr val="4A4A6A"/>
                </a:solidFill>
              </a:rPr>
              <a:t>THE QUESTION WE ANSWERED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solidFill>
            <a:srgbClr val="1A1A28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5556A"/>
                </a:solidFill>
              </a:rPr>
              <a:t>Does AI help?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1417320"/>
          </a:xfrm>
          <a:prstGeom prst="rect">
            <a:avLst/>
          </a:prstGeom>
          <a:solidFill>
            <a:srgbClr val="12202A"/>
          </a:solidFill>
          <a:ln w="254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Under what conditions does AI capture margin and under what conditions does it destroy it?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2743200" cy="960120"/>
          </a:xfrm>
          <a:prstGeom prst="rect">
            <a:avLst/>
          </a:prstGeom>
          <a:solidFill>
            <a:srgbClr val="161624"/>
          </a:solidFill>
          <a:ln w="1270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594360" y="34290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4A6A"/>
                </a:solidFill>
              </a:rPr>
              <a:t>At what AI usage level does the profit effect cross zero?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37560" y="3429000"/>
            <a:ext cx="2743200" cy="960120"/>
          </a:xfrm>
          <a:prstGeom prst="rect">
            <a:avLst/>
          </a:prstGeom>
          <a:solidFill>
            <a:srgbClr val="161624"/>
          </a:solidFill>
          <a:ln w="1270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10" name="Text 8"/>
          <p:cNvSpPr/>
          <p:nvPr/>
        </p:nvSpPr>
        <p:spPr>
          <a:xfrm>
            <a:off x="3474720" y="34290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4A6A"/>
                </a:solidFill>
              </a:rPr>
              <a:t>What is the mechanism: hours or quality?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0" y="3429000"/>
            <a:ext cx="2743200" cy="960120"/>
          </a:xfrm>
          <a:prstGeom prst="rect">
            <a:avLst/>
          </a:prstGeom>
          <a:solidFill>
            <a:srgbClr val="161624"/>
          </a:solidFill>
          <a:ln w="1270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6355080" y="34290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4A6A"/>
                </a:solidFill>
              </a:rPr>
              <a:t>Which contract structures capture the productivity dividend?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THE DATA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200" b="1" dirty="0">
                <a:solidFill>
                  <a:srgbClr val="4A4A6A"/>
                </a:solidFill>
              </a:rPr>
              <a:t>3,248 raw tasks. 3,016 analyzed after cleaning.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4A6A"/>
                </a:solidFill>
              </a:rPr>
              <a:t>Every row is a delivered task with revenue, cost, hours, AI usage, and outcome recorded.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9659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3000" b="1" dirty="0"/>
              <a:t>3,016</a:t>
            </a:r>
          </a:p>
        </p:txBody>
      </p:sp>
      <p:sp>
        <p:nvSpPr>
          <p:cNvPr id="8" name="Text 6"/>
          <p:cNvSpPr/>
          <p:nvPr/>
        </p:nvSpPr>
        <p:spPr>
          <a:xfrm>
            <a:off x="365760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sz="950" dirty="0">
                <a:solidFill>
                  <a:srgbClr val="4A4A6A"/>
                </a:solidFill>
              </a:rPr>
              <a:t>Tasks Analyzed</a:t>
            </a:r>
          </a:p>
        </p:txBody>
      </p:sp>
      <p:sp>
        <p:nvSpPr>
          <p:cNvPr id="9" name="Shape 7"/>
          <p:cNvSpPr/>
          <p:nvPr/>
        </p:nvSpPr>
        <p:spPr>
          <a:xfrm>
            <a:off x="2487168" y="1600200"/>
            <a:ext cx="19659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2487168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1C2E"/>
                </a:solidFill>
              </a:rPr>
              <a:t>4 Teams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87168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Content · Design · SEO · Media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08576" y="1600200"/>
            <a:ext cx="19659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4608576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1C2E"/>
                </a:solidFill>
              </a:rPr>
              <a:t>3 Levels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08576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Junior · Mid · Senior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9984" y="1600200"/>
            <a:ext cx="19659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6729984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1C2E"/>
                </a:solidFill>
              </a:rPr>
              <a:t>0 to 100%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729984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AI Usage Range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108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KEY VARIABLES TRACKED</a:t>
            </a:r>
            <a:endParaRPr lang="en-US" sz="8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5760" y="34290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/>
          <p:nvPr/>
        </p:nvSpPr>
        <p:spPr>
          <a:xfrm>
            <a:off x="36576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ai_usage_pct (0 to 100%)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87168" y="34290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/>
          <p:nvPr/>
        </p:nvSpPr>
        <p:spPr>
          <a:xfrm>
            <a:off x="2487168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profit = revenue −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08576" y="34290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4608576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hours_spent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29984" y="34290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/>
          <p:nvPr/>
        </p:nvSpPr>
        <p:spPr>
          <a:xfrm>
            <a:off x="6729984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rework_hours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38862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6"/>
          <p:cNvSpPr/>
          <p:nvPr/>
        </p:nvSpPr>
        <p:spPr>
          <a:xfrm>
            <a:off x="3657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pricing_model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487168" y="38862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8"/>
          <p:cNvSpPr/>
          <p:nvPr/>
        </p:nvSpPr>
        <p:spPr>
          <a:xfrm>
            <a:off x="24871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seniority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08576" y="38862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0"/>
          <p:cNvSpPr/>
          <p:nvPr/>
        </p:nvSpPr>
        <p:spPr>
          <a:xfrm>
            <a:off x="4608576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sla_breach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29984" y="3886200"/>
            <a:ext cx="2011680" cy="365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2"/>
          <p:cNvSpPr/>
          <p:nvPr/>
        </p:nvSpPr>
        <p:spPr>
          <a:xfrm>
            <a:off x="6729984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outcome_score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FINDING 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2104417" y="149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1C2E"/>
                </a:solidFill>
              </a:rPr>
              <a:t>AI works: but only above a threshold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02789" y="4066551"/>
            <a:ext cx="2912785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4"/>
          <p:cNvSpPr/>
          <p:nvPr/>
        </p:nvSpPr>
        <p:spPr>
          <a:xfrm>
            <a:off x="102789" y="4066551"/>
            <a:ext cx="54372" cy="9875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267381" y="4157991"/>
            <a:ext cx="269529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Profit nearly doubles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7381" y="4414023"/>
            <a:ext cx="26952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€232 in low band rises to €474 in high band. Medium AI barely moves the needle, the jump happens above 50%.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125794" y="4066551"/>
            <a:ext cx="266635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3125794" y="4066551"/>
            <a:ext cx="49772" cy="987552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3290386" y="4157991"/>
            <a:ext cx="2467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The 50% phase change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0386" y="4414023"/>
            <a:ext cx="2467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Below 50%, gains are modest and barely separable from noise. Above 50%, profit improvement accelerates sharply.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17335" y="4066551"/>
            <a:ext cx="2860905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5917335" y="4066551"/>
            <a:ext cx="53404" cy="9875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081927" y="4157991"/>
            <a:ext cx="26472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Loss rate collapses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081927" y="4414023"/>
            <a:ext cx="26472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SLA breaches fall 44% → 32%. Loss rate drops 31% → 19%. AI de risks delivery, not just speeds it up.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E60589-EFD9-DFE4-C292-13E0DEB894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9"/>
          <a:stretch>
            <a:fillRect/>
          </a:stretch>
        </p:blipFill>
        <p:spPr>
          <a:xfrm>
            <a:off x="804740" y="739809"/>
            <a:ext cx="7534519" cy="155877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548C85-BAAA-6E60-4609-FAE931AB8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4933" y="2390028"/>
            <a:ext cx="5518169" cy="15701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FINDING 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1C2E"/>
                </a:solidFill>
              </a:rPr>
              <a:t>The mechanism is hours, not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A6A"/>
                </a:solidFill>
              </a:rPr>
              <a:t>Once hours_spent enters the OLS model: errors, revisions, rework, outcome_score all become statistically insignificant (p &gt; 0.4)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114800" cy="2606040"/>
          </a:xfrm>
          <a:prstGeom prst="rect">
            <a:avLst/>
          </a:prstGeom>
          <a:solidFill>
            <a:srgbClr val="0B0B0F"/>
          </a:solidFill>
          <a:ln w="12700">
            <a:solidFill>
              <a:srgbClr val="0B0B0F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chemeClr val="accent4"/>
                </a:solidFill>
              </a:rPr>
              <a:t>HOW AI ACTS ON PROFIT</a:t>
            </a:r>
            <a:endParaRPr lang="en-US" sz="850" dirty="0">
              <a:solidFill>
                <a:schemeClr val="accent4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02920" y="2542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AI compresses hours.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1"/>
                </a:solidFill>
              </a:rPr>
              <a:t>The contract decides where those hours go: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3840480" cy="384048"/>
          </a:xfrm>
          <a:prstGeom prst="rect">
            <a:avLst/>
          </a:prstGeom>
          <a:solidFill>
            <a:srgbClr val="0D2010"/>
          </a:solidFill>
          <a:ln w="12700">
            <a:solidFill>
              <a:srgbClr val="0D402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594360" y="3154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6">
                    <a:lumMod val="75000"/>
                  </a:schemeClr>
                </a:solidFill>
              </a:rPr>
              <a:t>Agency margin (fixed / value based)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3840480" cy="384048"/>
          </a:xfrm>
          <a:prstGeom prst="rect">
            <a:avLst/>
          </a:prstGeom>
          <a:solidFill>
            <a:srgbClr val="200A08"/>
          </a:solidFill>
          <a:ln w="12700">
            <a:solidFill>
              <a:srgbClr val="44100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594360" y="3611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0000"/>
                </a:solidFill>
              </a:rPr>
              <a:t>Client discount (hourly)</a:t>
            </a:r>
            <a:endParaRPr lang="en-US" sz="1100" dirty="0">
              <a:solidFill>
                <a:srgbClr val="C00000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502920" y="4096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1"/>
                </a:solidFill>
              </a:rPr>
              <a:t>Net efficiency: −2.0 hrs saved / +0.9 hrs rework = 1.1 hrs net gain per task</a:t>
            </a:r>
            <a:endParaRPr lang="en-US" sz="850" dirty="0">
              <a:solidFill>
                <a:schemeClr val="accent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754880" y="21031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chemeClr val="accent5">
                    <a:lumMod val="75000"/>
                  </a:schemeClr>
                </a:solidFill>
              </a:rPr>
              <a:t>OLS COEFFICIENTS</a:t>
            </a:r>
            <a:endParaRPr lang="en-US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754880" y="2423160"/>
            <a:ext cx="4023360" cy="347472"/>
          </a:xfrm>
          <a:prstGeom prst="rect">
            <a:avLst/>
          </a:prstGeom>
          <a:solidFill>
            <a:srgbClr val="F8F9FC"/>
          </a:solidFill>
          <a:ln w="12700">
            <a:solidFill>
              <a:srgbClr val="E4E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4846320" y="24231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ai_usage_pct coefficient (OLS)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040880" y="24231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4A6A"/>
                </a:solidFill>
              </a:rPr>
              <a:t>+€222 at full adoption (p=0.015)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54880" y="2816352"/>
            <a:ext cx="4023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4846320" y="281635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hours_spent coefficient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040880" y="281635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4A6A"/>
                </a:solidFill>
              </a:rPr>
              <a:t>−€5/hr (p=0.034)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3209544"/>
            <a:ext cx="4023360" cy="347472"/>
          </a:xfrm>
          <a:prstGeom prst="rect">
            <a:avLst/>
          </a:prstGeom>
          <a:solidFill>
            <a:srgbClr val="F8F9FC"/>
          </a:solidFill>
          <a:ln w="12700">
            <a:solidFill>
              <a:srgbClr val="E4E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4846320" y="32095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Quality vars once hours enter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040880" y="32095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4A6A"/>
                </a:solidFill>
              </a:rPr>
              <a:t>All insignificant p&gt;0.4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3602736"/>
            <a:ext cx="4023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4846320" y="36027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Rework quadratic term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040880" y="36027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4A6A"/>
                </a:solidFill>
              </a:rPr>
              <a:t>p=0.605, no tipping point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995928"/>
            <a:ext cx="4023360" cy="347472"/>
          </a:xfrm>
          <a:prstGeom prst="rect">
            <a:avLst/>
          </a:prstGeom>
          <a:solidFill>
            <a:srgbClr val="F8F9FC"/>
          </a:solidFill>
          <a:ln w="12700">
            <a:solidFill>
              <a:srgbClr val="E4E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8"/>
          <p:cNvSpPr/>
          <p:nvPr/>
        </p:nvSpPr>
        <p:spPr>
          <a:xfrm>
            <a:off x="4846320" y="39959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AI × rework interaction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040880" y="39959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4A6A"/>
                </a:solidFill>
              </a:rPr>
              <a:t>p=0.80, not a quality channel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C8F075-18B1-AA84-8B24-24A425927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067" y="2547311"/>
            <a:ext cx="5842495" cy="2571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0EC1FE-D8FC-BE3A-5D88-11C349826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778" y="272051"/>
            <a:ext cx="5903250" cy="2074781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0D21DE71-438E-3302-787C-CB83993EF132}"/>
              </a:ext>
            </a:extLst>
          </p:cNvPr>
          <p:cNvSpPr/>
          <p:nvPr/>
        </p:nvSpPr>
        <p:spPr>
          <a:xfrm>
            <a:off x="122981" y="1218002"/>
            <a:ext cx="2950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2A87841-8765-3E85-A8EF-7C644A20D557}"/>
              </a:ext>
            </a:extLst>
          </p:cNvPr>
          <p:cNvSpPr/>
          <p:nvPr/>
        </p:nvSpPr>
        <p:spPr>
          <a:xfrm>
            <a:off x="122981" y="1218002"/>
            <a:ext cx="60755" cy="1051560"/>
          </a:xfrm>
          <a:prstGeom prst="rect">
            <a:avLst/>
          </a:prstGeom>
          <a:solidFill>
            <a:srgbClr val="E45C3A"/>
          </a:solidFill>
          <a:ln w="12700">
            <a:solidFill>
              <a:srgbClr val="E45C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B47BFCC-0FE3-F7BA-DC9E-65B8084DC3BA}"/>
              </a:ext>
            </a:extLst>
          </p:cNvPr>
          <p:cNvSpPr/>
          <p:nvPr/>
        </p:nvSpPr>
        <p:spPr>
          <a:xfrm>
            <a:off x="287573" y="1309442"/>
            <a:ext cx="27079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050" b="1" dirty="0">
                <a:solidFill>
                  <a:srgbClr val="4A4A6A"/>
                </a:solidFill>
              </a:rPr>
              <a:t>The Net Gain Pivot</a:t>
            </a:r>
            <a:endParaRPr lang="en-US" sz="105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60F2ED3-4496-A4F1-C98B-462BF4186F74}"/>
              </a:ext>
            </a:extLst>
          </p:cNvPr>
          <p:cNvSpPr/>
          <p:nvPr/>
        </p:nvSpPr>
        <p:spPr>
          <a:xfrm>
            <a:off x="287573" y="1565474"/>
            <a:ext cx="27079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950" dirty="0">
                <a:solidFill>
                  <a:srgbClr val="4A4A6A"/>
                </a:solidFill>
              </a:rPr>
              <a:t>AI is a net time loss until crossing the</a:t>
            </a:r>
            <a:r>
              <a:rPr lang="en-GB" sz="950" b="1" dirty="0">
                <a:solidFill>
                  <a:srgbClr val="4A4A6A"/>
                </a:solidFill>
              </a:rPr>
              <a:t>50 to 60% usage threshold</a:t>
            </a:r>
            <a:r>
              <a:rPr lang="en-GB" sz="950" dirty="0">
                <a:solidFill>
                  <a:srgbClr val="4A4A6A"/>
                </a:solidFill>
              </a:rPr>
              <a:t>. Below this point, extra rework cancels out any advantages; above it, speed gains finally overwhelm the cost of correction, leading to a massive productivity spike.</a:t>
            </a:r>
            <a:endParaRPr lang="en-US" sz="9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784FD9-E411-B005-C1ED-EFE16D8AAC21}"/>
              </a:ext>
            </a:extLst>
          </p:cNvPr>
          <p:cNvSpPr/>
          <p:nvPr/>
        </p:nvSpPr>
        <p:spPr>
          <a:xfrm>
            <a:off x="122981" y="2361002"/>
            <a:ext cx="2950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2F93E70-1CB9-EB11-B464-65DC0B17B8B4}"/>
              </a:ext>
            </a:extLst>
          </p:cNvPr>
          <p:cNvSpPr/>
          <p:nvPr/>
        </p:nvSpPr>
        <p:spPr>
          <a:xfrm>
            <a:off x="122981" y="2361002"/>
            <a:ext cx="60755" cy="105156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407179E-29F2-08FF-6C41-EB66F3328A58}"/>
              </a:ext>
            </a:extLst>
          </p:cNvPr>
          <p:cNvSpPr/>
          <p:nvPr/>
        </p:nvSpPr>
        <p:spPr>
          <a:xfrm>
            <a:off x="287573" y="2452442"/>
            <a:ext cx="27079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050" b="1" dirty="0">
                <a:solidFill>
                  <a:srgbClr val="4A4A6A"/>
                </a:solidFill>
              </a:rPr>
              <a:t>The Production Swap</a:t>
            </a:r>
            <a:endParaRPr lang="en-US" sz="10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191D2A5A-00C3-C0DC-0675-FE7470BC684D}"/>
              </a:ext>
            </a:extLst>
          </p:cNvPr>
          <p:cNvSpPr/>
          <p:nvPr/>
        </p:nvSpPr>
        <p:spPr>
          <a:xfrm>
            <a:off x="287573" y="2708474"/>
            <a:ext cx="27079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950" dirty="0">
                <a:solidFill>
                  <a:srgbClr val="4A4A6A"/>
                </a:solidFill>
              </a:rPr>
              <a:t>High intensity AI usage radically reduces initial</a:t>
            </a:r>
            <a:r>
              <a:rPr lang="en-GB" sz="950" b="1" dirty="0">
                <a:solidFill>
                  <a:srgbClr val="4A4A6A"/>
                </a:solidFill>
              </a:rPr>
              <a:t>Hours Spent</a:t>
            </a:r>
            <a:r>
              <a:rPr lang="en-GB" sz="950" dirty="0">
                <a:solidFill>
                  <a:srgbClr val="4A4A6A"/>
                </a:solidFill>
              </a:rPr>
              <a:t>while driving up</a:t>
            </a:r>
            <a:r>
              <a:rPr lang="en-GB" sz="950" b="1" dirty="0">
                <a:solidFill>
                  <a:srgbClr val="4A4A6A"/>
                </a:solidFill>
              </a:rPr>
              <a:t>Rework Hours</a:t>
            </a:r>
            <a:r>
              <a:rPr lang="en-GB" sz="950" dirty="0">
                <a:solidFill>
                  <a:srgbClr val="4A4A6A"/>
                </a:solidFill>
              </a:rPr>
              <a:t>. This shift fundamentally redefines the</a:t>
            </a:r>
            <a:r>
              <a:rPr lang="en-GB" sz="950" dirty="0" err="1">
                <a:solidFill>
                  <a:srgbClr val="4A4A6A"/>
                </a:solidFill>
              </a:rPr>
              <a:t>labor</a:t>
            </a:r>
            <a:r>
              <a:rPr lang="en-GB" sz="950" dirty="0">
                <a:solidFill>
                  <a:srgbClr val="4A4A6A"/>
                </a:solidFill>
              </a:rPr>
              <a:t>model, moving the primary human workload from "original creation" to "downstream iteration and correction."</a:t>
            </a:r>
            <a:endParaRPr lang="en-US" sz="90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F2780727-8E77-031B-1100-CCD737316F4B}"/>
              </a:ext>
            </a:extLst>
          </p:cNvPr>
          <p:cNvSpPr/>
          <p:nvPr/>
        </p:nvSpPr>
        <p:spPr>
          <a:xfrm>
            <a:off x="122981" y="3504002"/>
            <a:ext cx="2950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737C3395-6FA6-9926-089A-AF3070F7EF07}"/>
              </a:ext>
            </a:extLst>
          </p:cNvPr>
          <p:cNvSpPr/>
          <p:nvPr/>
        </p:nvSpPr>
        <p:spPr>
          <a:xfrm>
            <a:off x="122981" y="3504002"/>
            <a:ext cx="60755" cy="1051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7BF8EA27-AAF9-8526-D0D6-2CF3182F74B9}"/>
              </a:ext>
            </a:extLst>
          </p:cNvPr>
          <p:cNvSpPr/>
          <p:nvPr/>
        </p:nvSpPr>
        <p:spPr>
          <a:xfrm>
            <a:off x="287573" y="3595442"/>
            <a:ext cx="27079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50" b="1" dirty="0">
                <a:solidFill>
                  <a:srgbClr val="4A4A6A"/>
                </a:solidFill>
              </a:rPr>
              <a:t>Quality Stability</a:t>
            </a: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84AA3621-4079-1A8C-EE5F-4345A1499A64}"/>
              </a:ext>
            </a:extLst>
          </p:cNvPr>
          <p:cNvSpPr/>
          <p:nvPr/>
        </p:nvSpPr>
        <p:spPr>
          <a:xfrm>
            <a:off x="287573" y="3851474"/>
            <a:ext cx="27079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50">
                <a:solidFill>
                  <a:srgbClr val="4A4A6A"/>
                </a:solidFill>
              </a:rPr>
              <a:t>Average Outcome Score stays broadly stable across bands, but the worst decile quality deteriorates in the high AI tail. High speed AI iteration preserves the mean, not every edge case.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8C49C3-C7EC-7C28-33A6-2A50EF54EF3D}"/>
              </a:ext>
            </a:extLst>
          </p:cNvPr>
          <p:cNvSpPr txBox="1"/>
          <p:nvPr/>
        </p:nvSpPr>
        <p:spPr>
          <a:xfrm>
            <a:off x="122981" y="401913"/>
            <a:ext cx="2950960" cy="707886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2000" b="1" dirty="0"/>
              <a:t>The Efficiency Dividend: Trading Rework for Speed</a:t>
            </a:r>
            <a:endParaRPr lang="en-IT" sz="4800" b="1" dirty="0"/>
          </a:p>
        </p:txBody>
      </p:sp>
    </p:spTree>
    <p:extLst>
      <p:ext uri="{BB962C8B-B14F-4D97-AF65-F5344CB8AC3E}">
        <p14:creationId xmlns:p14="http://schemas.microsoft.com/office/powerpoint/2010/main" val="1401060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FINDING 3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C1C2E"/>
                </a:solidFill>
              </a:rPr>
              <a:t>The pricing model is the bottleneck, not the technology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2606040" cy="2606040"/>
          </a:xfrm>
          <a:prstGeom prst="rect">
            <a:avLst/>
          </a:prstGeom>
          <a:solidFill>
            <a:srgbClr val="0B0B0F"/>
          </a:solidFill>
          <a:ln w="12700">
            <a:solidFill>
              <a:srgbClr val="0B0B0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0C040"/>
                </a:solidFill>
              </a:rPr>
              <a:t>€870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5603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5">
                    <a:lumMod val="75000"/>
                  </a:schemeClr>
                </a:solidFill>
              </a:rPr>
              <a:t>per task gap between</a:t>
            </a:r>
            <a:endParaRPr lang="en-US" sz="10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950" dirty="0">
                <a:solidFill>
                  <a:schemeClr val="accent5">
                    <a:lumMod val="75000"/>
                  </a:schemeClr>
                </a:solidFill>
              </a:rPr>
              <a:t>hourly (€202) and</a:t>
            </a:r>
            <a:endParaRPr lang="en-US" sz="10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950" dirty="0">
                <a:solidFill>
                  <a:schemeClr val="accent5">
                    <a:lumMod val="75000"/>
                  </a:schemeClr>
                </a:solidFill>
              </a:rPr>
              <a:t>value based (€1,073)</a:t>
            </a:r>
            <a:endParaRPr lang="en-US" sz="10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950" dirty="0">
                <a:solidFill>
                  <a:schemeClr val="accent5">
                    <a:lumMod val="75000"/>
                  </a:schemeClr>
                </a:solidFill>
              </a:rPr>
              <a:t>at high AI usage</a:t>
            </a:r>
            <a:endParaRPr lang="en-US" sz="10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365760" y="4480560"/>
            <a:ext cx="2011680" cy="438912"/>
          </a:xfrm>
          <a:prstGeom prst="rect">
            <a:avLst/>
          </a:prstGeom>
          <a:solidFill>
            <a:srgbClr val="F4F6F9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45720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OLS: Hourly vs Fixed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457200" y="4663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C00000"/>
                </a:solidFill>
              </a:rPr>
              <a:t>-€254/task</a:t>
            </a:r>
            <a:endParaRPr lang="en-US" sz="1000" dirty="0">
              <a:solidFill>
                <a:srgbClr val="C0000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2514600" y="4480560"/>
            <a:ext cx="2011680" cy="438912"/>
          </a:xfrm>
          <a:prstGeom prst="rect">
            <a:avLst/>
          </a:prstGeom>
          <a:solidFill>
            <a:srgbClr val="F4F6F9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260604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OLS: Value vs Fixed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2606040" y="4663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6">
                    <a:lumMod val="75000"/>
                  </a:schemeClr>
                </a:solidFill>
              </a:rPr>
              <a:t>+€286/task</a:t>
            </a:r>
            <a:endParaRPr lang="en-US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663440" y="4480560"/>
            <a:ext cx="2011680" cy="438912"/>
          </a:xfrm>
          <a:prstGeom prst="rect">
            <a:avLst/>
          </a:prstGeom>
          <a:solidFill>
            <a:srgbClr val="F4F6F9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475488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AI × Hourly interaction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4754880" y="4663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C00000"/>
                </a:solidFill>
              </a:rPr>
              <a:t>-€701 (p&lt;0.001)</a:t>
            </a:r>
            <a:endParaRPr lang="en-US" sz="1000" dirty="0">
              <a:solidFill>
                <a:srgbClr val="C00000"/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812280" y="4480560"/>
            <a:ext cx="2011680" cy="438912"/>
          </a:xfrm>
          <a:prstGeom prst="rect">
            <a:avLst/>
          </a:prstGeom>
          <a:solidFill>
            <a:srgbClr val="F4F6F9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19" name="Text 16"/>
          <p:cNvSpPr/>
          <p:nvPr/>
        </p:nvSpPr>
        <p:spPr>
          <a:xfrm>
            <a:off x="690372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4A6A"/>
                </a:solidFill>
              </a:rPr>
              <a:t>Hourly loss rate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903720" y="4663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C00000"/>
                </a:solidFill>
              </a:rPr>
              <a:t>34% vs 16%</a:t>
            </a:r>
            <a:endParaRPr lang="en-US" sz="1000" dirty="0">
              <a:solidFill>
                <a:srgbClr val="C0000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E9B3521-E731-8D6A-66D5-3FF9BA7ED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349" y="1459751"/>
            <a:ext cx="5712898" cy="23807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FINDING 4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1C2E"/>
                </a:solidFill>
              </a:rPr>
              <a:t>Not all work responds equally to AI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111494"/>
              </p:ext>
            </p:extLst>
          </p:nvPr>
        </p:nvGraphicFramePr>
        <p:xfrm>
          <a:off x="365760" y="1234440"/>
          <a:ext cx="8412480" cy="29443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4A6A"/>
                          </a:solidFill>
                        </a:rPr>
                        <a:t>Task Type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4A6A"/>
                          </a:solidFill>
                        </a:rPr>
                        <a:t>Profit, Low AI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4A6A"/>
                          </a:solidFill>
                        </a:rPr>
                        <a:t>Profit, High AI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4A6A"/>
                          </a:solidFill>
                        </a:rPr>
                        <a:t>Multiplier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A4A6A"/>
                          </a:solidFill>
                        </a:rPr>
                        <a:t>Recommendation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Release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€138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€816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5.9×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Push to 70 to 80%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Dev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€271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€579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2.1×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Push to 70 to 80%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Report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€353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€572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1.6×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Push to 70 to 80%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Design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€316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€462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0B050"/>
                          </a:solidFill>
                        </a:rPr>
                        <a:t>1.5×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0B050"/>
                          </a:solidFill>
                        </a:rPr>
                        <a:t>Push to 60 to 70%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Article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€342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€290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C000"/>
                          </a:solidFill>
                        </a:rPr>
                        <a:t>0.8×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C000"/>
                          </a:solidFill>
                        </a:rPr>
                        <a:t>Cap at 25 to 50%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Ad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€169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4A4A6A"/>
                          </a:solidFill>
                        </a:rPr>
                        <a:t>€359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FFC000"/>
                          </a:solidFill>
                        </a:rPr>
                        <a:t>Peaks at medium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FFC000"/>
                          </a:solidFill>
                        </a:rPr>
                        <a:t>Cap at 25 to 50%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50">
                <a:solidFill>
                  <a:srgbClr val="4A4A6A"/>
                </a:solidFill>
              </a:rPr>
              <a:t>Release, Dev, Report: push AI usage hard. Article, Ad: performance peaks in the medium band, cap at 25 to 50%.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FINDING 5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1C2E"/>
                </a:solidFill>
              </a:rPr>
              <a:t>Seniority is your biggest risk variable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069080" cy="3611880"/>
          </a:xfrm>
          <a:prstGeom prst="rect">
            <a:avLst/>
          </a:prstGeom>
          <a:solidFill>
            <a:srgbClr val="0B0B0F"/>
          </a:solidFill>
          <a:ln w="12700">
            <a:solidFill>
              <a:srgbClr val="0B0B0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C00000"/>
                </a:solidFill>
              </a:rPr>
              <a:t>SENIORS AT LOW AI</a:t>
            </a:r>
            <a:endParaRPr lang="en-US" sz="850" dirty="0">
              <a:solidFill>
                <a:srgbClr val="C0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E45C3A"/>
                </a:solidFill>
              </a:rPr>
              <a:t>50%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chemeClr val="accent1">
                    <a:lumMod val="75000"/>
                  </a:schemeClr>
                </a:solidFill>
              </a:rPr>
              <a:t>loss rate, worst in the workforce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02920" y="3127248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1">
                    <a:lumMod val="75000"/>
                  </a:schemeClr>
                </a:solidFill>
              </a:rPr>
              <a:t>Expensive billing rates cannot justify manual execution.</a:t>
            </a:r>
          </a:p>
          <a:p>
            <a:pPr marL="0" indent="0" algn="ctr">
              <a:buNone/>
            </a:pPr>
            <a:r>
              <a:rPr lang="en-US" sz="950" dirty="0">
                <a:solidFill>
                  <a:schemeClr val="accent1">
                    <a:lumMod val="75000"/>
                  </a:schemeClr>
                </a:solidFill>
              </a:rPr>
              <a:t>OLS: each seniority level costs -€173/task at baseline.</a:t>
            </a:r>
          </a:p>
          <a:p>
            <a:pPr marL="0" indent="0" algn="ctr">
              <a:buNone/>
            </a:pPr>
            <a:r>
              <a:rPr lang="en-US" sz="950" dirty="0">
                <a:solidFill>
                  <a:schemeClr val="accent1">
                    <a:lumMod val="75000"/>
                  </a:schemeClr>
                </a:solidFill>
              </a:rPr>
              <a:t>Every unassisted senior hour compresses margin.</a:t>
            </a:r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3794760" cy="502920"/>
          </a:xfrm>
          <a:prstGeom prst="rect">
            <a:avLst/>
          </a:prstGeom>
          <a:solidFill>
            <a:srgbClr val="200A08"/>
          </a:solidFill>
          <a:ln w="12700">
            <a:solidFill>
              <a:srgbClr val="44101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594360" y="385876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C00000"/>
                </a:solidFill>
              </a:rPr>
              <a:t>AI isn't optional for seniors, it's the only viable configuration.</a:t>
            </a:r>
            <a:endParaRPr lang="en-US" sz="950" dirty="0">
              <a:solidFill>
                <a:srgbClr val="C00000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09160" y="1188720"/>
            <a:ext cx="4069080" cy="3611880"/>
          </a:xfrm>
          <a:prstGeom prst="rect">
            <a:avLst/>
          </a:prstGeom>
          <a:solidFill>
            <a:srgbClr val="1A1A10"/>
          </a:solidFill>
          <a:ln w="12700">
            <a:solidFill>
              <a:srgbClr val="1A1A1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4846320" y="13258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chemeClr val="accent4"/>
                </a:solidFill>
              </a:rPr>
              <a:t>SENIORS AT HIGH AI + RIGHT CONTRACT</a:t>
            </a:r>
            <a:endParaRPr lang="en-US" sz="850" dirty="0">
              <a:solidFill>
                <a:schemeClr val="accent4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46320" y="164592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0C040"/>
                </a:solidFill>
              </a:rPr>
              <a:t>€3,935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4846320" y="27249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chemeClr val="accent1">
                    <a:lumMod val="75000"/>
                  </a:schemeClr>
                </a:solidFill>
              </a:rPr>
              <a:t>mean profit per task (~8x dataset median)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3127248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1">
                    <a:lumMod val="75000"/>
                  </a:schemeClr>
                </a:solidFill>
              </a:rPr>
              <a:t>AI interaction: +€359 per seniority level (p=0.002).</a:t>
            </a:r>
          </a:p>
          <a:p>
            <a:pPr marL="0" indent="0" algn="ctr">
              <a:buNone/>
            </a:pPr>
            <a:r>
              <a:rPr lang="en-US" sz="950" dirty="0">
                <a:solidFill>
                  <a:schemeClr val="accent1">
                    <a:lumMod val="75000"/>
                  </a:schemeClr>
                </a:solidFill>
              </a:rPr>
              <a:t>At senior: +€718 interaction gain vs. -€346 cost drag.</a:t>
            </a:r>
          </a:p>
          <a:p>
            <a:pPr marL="0" indent="0" algn="ctr">
              <a:buNone/>
            </a:pPr>
            <a:r>
              <a:rPr lang="en-US" sz="950" dirty="0">
                <a:solidFill>
                  <a:schemeClr val="accent1">
                    <a:lumMod val="75000"/>
                  </a:schemeClr>
                </a:solidFill>
              </a:rPr>
              <a:t>Net reversal: seniors become the highest value asset.</a:t>
            </a:r>
          </a:p>
        </p:txBody>
      </p:sp>
      <p:sp>
        <p:nvSpPr>
          <p:cNvPr id="17" name="Shape 15"/>
          <p:cNvSpPr/>
          <p:nvPr/>
        </p:nvSpPr>
        <p:spPr>
          <a:xfrm>
            <a:off x="4846320" y="3858768"/>
            <a:ext cx="3794760" cy="502920"/>
          </a:xfrm>
          <a:prstGeom prst="rect">
            <a:avLst/>
          </a:prstGeom>
          <a:solidFill>
            <a:srgbClr val="1A1500"/>
          </a:solidFill>
          <a:ln w="12700">
            <a:solidFill>
              <a:srgbClr val="332A00"/>
            </a:solidFill>
            <a:prstDash val="solid"/>
          </a:ln>
        </p:spPr>
        <p:txBody>
          <a:bodyPr/>
          <a:lstStyle/>
          <a:p>
            <a:r>
              <a:rPr sz="950" dirty="0">
                <a:solidFill>
                  <a:schemeClr val="accent4"/>
                </a:solidFill>
              </a:rPr>
              <a:t>Condition: fixed or value based contract, with the €3,935 ceiling observed specifically in the 80 to 100% AI band.</a:t>
            </a:r>
          </a:p>
        </p:txBody>
      </p:sp>
      <p:sp>
        <p:nvSpPr>
          <p:cNvPr id="18" name="Text 16"/>
          <p:cNvSpPr/>
          <p:nvPr/>
        </p:nvSpPr>
        <p:spPr>
          <a:xfrm>
            <a:off x="4937760" y="385876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THE REWORK PARADOX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C1C2E"/>
                </a:solidFill>
              </a:rPr>
              <a:t>The business gets financially safer by getting operationally messier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868785" y="1147156"/>
            <a:ext cx="3108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4"/>
          <p:cNvSpPr/>
          <p:nvPr/>
        </p:nvSpPr>
        <p:spPr>
          <a:xfrm>
            <a:off x="5868785" y="1147156"/>
            <a:ext cx="64008" cy="1051560"/>
          </a:xfrm>
          <a:prstGeom prst="rect">
            <a:avLst/>
          </a:prstGeom>
          <a:solidFill>
            <a:srgbClr val="E45C3A"/>
          </a:solidFill>
          <a:ln w="12700">
            <a:solidFill>
              <a:srgbClr val="E45C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6033377" y="12385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The Profitability Paradox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33377" y="1494628"/>
            <a:ext cx="28529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Loss rate falls 31% → 19% while rework rises to 32%. Speed creates an efficiency cushion that absorbs correction cost.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868785" y="2290156"/>
            <a:ext cx="3108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5868785" y="2290156"/>
            <a:ext cx="64008" cy="105156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033377" y="23815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The critical pivot: 50 to 60%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3377" y="2637628"/>
            <a:ext cx="28529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Between 50 to 60% AI usage the business crosses from high loss to high rework, low risk. This is the operational break even.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868785" y="3433156"/>
            <a:ext cx="31089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5868785" y="3433156"/>
            <a:ext cx="64008" cy="1051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033377" y="35245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Rework is not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033377" y="3780628"/>
            <a:ext cx="28529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OLS: rework quadratic p=0.605. No tipping point. Fast generation + heavy iteration is the profitable model.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7B6FCF0-82ED-FF80-10ED-1AB993DC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4" y="1238596"/>
            <a:ext cx="5729401" cy="29925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400" dirty="0">
                <a:solidFill>
                  <a:srgbClr val="4A4A6A"/>
                </a:solidFill>
              </a:rPr>
              <a:t>THE THRESHOLD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0C040"/>
                </a:solidFill>
              </a:rPr>
              <a:t>30.6%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The SHAP sign change threshold. Below it, AI costs money. Above it, AI makes money.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2834640"/>
            <a:ext cx="2651760" cy="1920240"/>
          </a:xfrm>
          <a:prstGeom prst="rect">
            <a:avLst/>
          </a:prstGeom>
          <a:solidFill>
            <a:srgbClr val="111120"/>
          </a:solidFill>
          <a:ln w="12700">
            <a:solidFill>
              <a:srgbClr val="2222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0000"/>
                </a:solidFill>
              </a:rPr>
              <a:t>Below 30.6%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3182112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45C3A"/>
                </a:solidFill>
              </a:rPr>
              <a:t>-€52.5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per task avg.</a:t>
            </a:r>
            <a:endParaRPr lang="en-US" sz="9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SHAP contribution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370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4A4A6A"/>
                </a:solidFill>
              </a:rPr>
              <a:t>234 of 553 test set tasks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00400" y="2834640"/>
            <a:ext cx="2651760" cy="1920240"/>
          </a:xfrm>
          <a:prstGeom prst="rect">
            <a:avLst/>
          </a:prstGeom>
          <a:solidFill>
            <a:srgbClr val="111120"/>
          </a:solidFill>
          <a:ln w="12700">
            <a:solidFill>
              <a:srgbClr val="2222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3291840" y="2926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The sign change</a:t>
            </a:r>
            <a:endParaRPr lang="en-US" sz="900" dirty="0">
              <a:solidFill>
                <a:schemeClr val="accent4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91840" y="3182112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0C040"/>
                </a:solidFill>
              </a:rPr>
              <a:t>≈ €103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291840" y="391363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gap between being</a:t>
            </a:r>
            <a:endParaRPr lang="en-US" sz="9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above vs. below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4370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4A4A6A"/>
                </a:solidFill>
              </a:rPr>
              <a:t>entirely from AI</a:t>
            </a:r>
            <a:endParaRPr lang="en-US" sz="7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4A4A6A"/>
                </a:solidFill>
              </a:rPr>
              <a:t>contribution shift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035040" y="2834640"/>
            <a:ext cx="2651760" cy="1920240"/>
          </a:xfrm>
          <a:prstGeom prst="rect">
            <a:avLst/>
          </a:prstGeom>
          <a:solidFill>
            <a:srgbClr val="111120"/>
          </a:solidFill>
          <a:ln w="12700">
            <a:solidFill>
              <a:srgbClr val="2222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6126480" y="2926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050"/>
                </a:solidFill>
              </a:rPr>
              <a:t>Above 30.6%</a:t>
            </a:r>
            <a:endParaRPr lang="en-US" sz="900" dirty="0">
              <a:solidFill>
                <a:srgbClr val="00B05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126480" y="3182112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B050"/>
                </a:solidFill>
              </a:rPr>
              <a:t>+€51.1</a:t>
            </a:r>
            <a:endParaRPr lang="en-US" sz="3800" dirty="0">
              <a:solidFill>
                <a:srgbClr val="00B05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26480" y="391363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per task avg.</a:t>
            </a:r>
            <a:endParaRPr lang="en-US" sz="9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A4A6A"/>
                </a:solidFill>
              </a:rPr>
              <a:t>SHAP contribution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26480" y="4370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4A4A6A"/>
                </a:solidFill>
              </a:rPr>
              <a:t>319 of 553 test set tasks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B0F"/>
                </a:solidFill>
              </a:rPr>
              <a:t>RISK SCORE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C1C2E"/>
                </a:solidFill>
              </a:rPr>
              <a:t>The pre-task risk score: six variables, one lookup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4A6A"/>
                </a:solidFill>
              </a:rPr>
              <a:t>Random Forest: ROC-AUC 0.754 · Recall 55% · Flags 43 genuine losses per 100 risk-flagged tasks  (base rate: 24%)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4114800" cy="329184"/>
          </a:xfrm>
          <a:prstGeom prst="rect">
            <a:avLst/>
          </a:prstGeom>
          <a:solidFill>
            <a:srgbClr val="E45C3A"/>
          </a:solidFill>
          <a:ln w="12700">
            <a:solidFill>
              <a:srgbClr val="E45C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36576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RISK FACTORS — loss rate rises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365760" y="1901952"/>
          <a:ext cx="4114800" cy="1389888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Variable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Safe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Risky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Gap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C1C2E"/>
                          </a:solidFill>
                        </a:rPr>
                        <a:t>Hourly pricing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16%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45C3A"/>
                          </a:solidFill>
                        </a:rPr>
                        <a:t>34%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45C3A"/>
                          </a:solidFill>
                        </a:rPr>
                        <a:t>+18pp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4A6A"/>
                          </a:solidFill>
                        </a:rPr>
                        <a:t>46% of tasks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C1C2E"/>
                          </a:solidFill>
                        </a:rPr>
                        <a:t>Senior contributor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21%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45C3A"/>
                          </a:solidFill>
                        </a:rPr>
                        <a:t>33%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45C3A"/>
                          </a:solidFill>
                        </a:rPr>
                        <a:t>+12pp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4A6A"/>
                          </a:solidFill>
                        </a:rPr>
                        <a:t>22% of tasks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C1C2E"/>
                          </a:solidFill>
                        </a:rPr>
                        <a:t>Hours spent (top 25%)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21%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45C3A"/>
                          </a:solidFill>
                        </a:rPr>
                        <a:t>31%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45C3A"/>
                          </a:solidFill>
                        </a:rPr>
                        <a:t>+9pp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4A6A"/>
                          </a:solidFill>
                        </a:rPr>
                        <a:t>25% of tasks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1572768"/>
            <a:ext cx="4114800" cy="3291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466344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PROTECTIVE FACTORS — loss rate falls</a:t>
            </a:r>
            <a:endParaRPr lang="en-US" sz="9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/>
        </p:nvGraphicFramePr>
        <p:xfrm>
          <a:off x="4663440" y="1901952"/>
          <a:ext cx="4114800" cy="138988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Variable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Without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With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Gap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C1C2E"/>
                          </a:solidFill>
                        </a:rPr>
                        <a:t>High-tier client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4A6A"/>
                          </a:solidFill>
                        </a:rPr>
                        <a:t>27%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16%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-10pp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4A6A"/>
                          </a:solidFill>
                        </a:rPr>
                        <a:t>26% of tasks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C1C2E"/>
                          </a:solidFill>
                        </a:rPr>
                        <a:t>High task complexity (top 25%)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4A6A"/>
                          </a:solidFill>
                        </a:rPr>
                        <a:t>26%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-8pp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4A6A"/>
                          </a:solidFill>
                        </a:rPr>
                        <a:t>30% of tasks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C1C2E"/>
                          </a:solidFill>
                        </a:rPr>
                        <a:t>AI usage &gt;= 30%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4A6A"/>
                          </a:solidFill>
                        </a:rPr>
                        <a:t>28%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21%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-8pp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4A6A"/>
                          </a:solidFill>
                        </a:rPr>
                        <a:t>58% of tasks</a:t>
                      </a:r>
                      <a:endParaRPr lang="en-US" sz="900" dirty="0"/>
                    </a:p>
                  </a:txBody>
                  <a:tcPr>
                    <a:lnL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D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8"/>
          <p:cNvSpPr/>
          <p:nvPr/>
        </p:nvSpPr>
        <p:spPr>
          <a:xfrm>
            <a:off x="365760" y="3246120"/>
            <a:ext cx="8412480" cy="150876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CE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9"/>
          <p:cNvSpPr/>
          <p:nvPr/>
        </p:nvSpPr>
        <p:spPr>
          <a:xfrm>
            <a:off x="548640" y="333756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C1C2E"/>
                </a:solidFill>
              </a:rPr>
              <a:t>HOW TO USE THIS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48640" y="3602736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1C2E"/>
                </a:solidFill>
              </a:rPr>
              <a:t>Any task combining 2+ risk factors triggers a pre-kickoff review of contract structure, staffing, and scope estimate.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C1C2E"/>
                </a:solidFill>
              </a:rPr>
              <a:t>Best-case combination: high client tier + high complexity + fixed or value-based contract + AI &gt;= 30% → loss rate below 18%.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621792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2A3645"/>
                </a:solidFill>
                <a:latin typeface="Aptos"/>
              </a:rPr>
              <a:t>What the dataset still cannot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9848"/>
            <a:ext cx="8046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4A4A6A"/>
                </a:solidFill>
                <a:latin typeface="Aptos"/>
              </a:rPr>
              <a:t>The model explains margin mechanics well. It is still missing the signals required to explain client value and revision causality.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72768"/>
            <a:ext cx="26060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572768"/>
            <a:ext cx="73152" cy="1965960"/>
          </a:xfrm>
          <a:prstGeom prst="roundRect">
            <a:avLst/>
          </a:prstGeom>
          <a:solidFill>
            <a:srgbClr val="862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" y="1645920"/>
            <a:ext cx="694944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862608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20240"/>
            <a:ext cx="214884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1" dirty="0">
                <a:solidFill>
                  <a:srgbClr val="2A3645"/>
                </a:solidFill>
                <a:latin typeface="Aptos"/>
              </a:rPr>
              <a:t>C</a:t>
            </a:r>
            <a:r>
              <a:rPr sz="1500" b="1" dirty="0" err="1">
                <a:solidFill>
                  <a:srgbClr val="2A3645"/>
                </a:solidFill>
                <a:latin typeface="Aptos"/>
              </a:rPr>
              <a:t>lient</a:t>
            </a:r>
            <a:r>
              <a:rPr lang="it-IT" sz="1500" b="1" dirty="0">
                <a:solidFill>
                  <a:srgbClr val="2A3645"/>
                </a:solidFill>
                <a:latin typeface="Aptos"/>
              </a:rPr>
              <a:t> </a:t>
            </a:r>
            <a:r>
              <a:rPr sz="1500" b="1" dirty="0">
                <a:solidFill>
                  <a:srgbClr val="2A3645"/>
                </a:solidFill>
                <a:latin typeface="Aptos"/>
              </a:rPr>
              <a:t>retention and satisfaction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395728"/>
            <a:ext cx="2212848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4A4A6A"/>
                </a:solidFill>
                <a:latin typeface="Aptos"/>
              </a:rPr>
              <a:t>We can measure task profit, but not whether AI heavy delivery hurts long term trust, renewals, or NPS.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145536"/>
            <a:ext cx="1417320" cy="237744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316382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4A4A6A"/>
                </a:solidFill>
                <a:latin typeface="Aptos"/>
              </a:rPr>
              <a:t>Highest priority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2968" y="1572768"/>
            <a:ext cx="26060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72968" y="1572768"/>
            <a:ext cx="73152" cy="1965960"/>
          </a:xfrm>
          <a:prstGeom prst="roundRect">
            <a:avLst/>
          </a:prstGeom>
          <a:solidFill>
            <a:srgbClr val="88A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19272" y="1645920"/>
            <a:ext cx="640982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88A0B9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1920240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A3645"/>
                </a:solidFill>
                <a:latin typeface="Aptos"/>
              </a:rPr>
              <a:t>Tool and prompt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2395728"/>
            <a:ext cx="2212848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4A4A6A"/>
                </a:solidFill>
                <a:latin typeface="Aptos"/>
              </a:rPr>
              <a:t>The same ai_usage_pct can mean one precise draft or thirty failed iterations. That blocks tool ROI decisions.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9271" y="3145536"/>
            <a:ext cx="1973945" cy="237744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5270" y="3149126"/>
            <a:ext cx="1701170" cy="238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4A4A6A"/>
                </a:solidFill>
                <a:latin typeface="Aptos"/>
              </a:rPr>
              <a:t>Procurement + training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0176" y="1572768"/>
            <a:ext cx="26060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80176" y="1572768"/>
            <a:ext cx="73152" cy="1965960"/>
          </a:xfrm>
          <a:prstGeom prst="roundRect">
            <a:avLst/>
          </a:prstGeom>
          <a:solidFill>
            <a:srgbClr val="CBAF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79" y="1645920"/>
            <a:ext cx="62848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BAF7B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920240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A3645"/>
                </a:solidFill>
                <a:latin typeface="Aptos"/>
              </a:rPr>
              <a:t>Revision reason codes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395728"/>
            <a:ext cx="2212848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4A4A6A"/>
                </a:solidFill>
                <a:latin typeface="Aptos"/>
              </a:rPr>
              <a:t>Rework hours tell us cost, not cause. We need to distinguish AI mistakes, scope creep, and client preference changes.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2322576" cy="237744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99631" y="3163824"/>
            <a:ext cx="1907619" cy="238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4A4A6A"/>
                </a:solidFill>
                <a:latin typeface="Aptos"/>
              </a:rPr>
              <a:t>Operational root cause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794760"/>
            <a:ext cx="8183879" cy="116128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0352" y="3867912"/>
            <a:ext cx="2642616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dirty="0">
                <a:solidFill>
                  <a:srgbClr val="4A4A6A"/>
                </a:solidFill>
                <a:latin typeface="Aptos"/>
              </a:rPr>
              <a:t>WHAT WE'D ASK ALKEMY</a:t>
            </a:r>
            <a:r>
              <a:rPr lang="en-GB" sz="1050" b="1" dirty="0">
                <a:solidFill>
                  <a:srgbClr val="4A4A6A"/>
                </a:solidFill>
                <a:latin typeface="Aptos"/>
              </a:rPr>
              <a:t>N</a:t>
            </a:r>
            <a:r>
              <a:rPr sz="1050" b="1" dirty="0">
                <a:solidFill>
                  <a:srgbClr val="4A4A6A"/>
                </a:solidFill>
                <a:latin typeface="Aptos"/>
              </a:rPr>
              <a:t>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" y="4123944"/>
            <a:ext cx="1874519" cy="393192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4178808"/>
            <a:ext cx="17282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4A4A6A"/>
                </a:solidFill>
                <a:latin typeface="Aptos"/>
              </a:rPr>
              <a:t>Which revisions were AI caused vs client driven?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123944"/>
            <a:ext cx="1874519" cy="393192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633472" y="4178808"/>
            <a:ext cx="17282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dirty="0">
                <a:solidFill>
                  <a:srgbClr val="4A4A6A"/>
                </a:solidFill>
                <a:latin typeface="Aptos"/>
              </a:rPr>
              <a:t>Which tools, prompts, and iterations were used per task?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90288" y="4123944"/>
            <a:ext cx="1874519" cy="393192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0" y="4178808"/>
            <a:ext cx="17282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4A4A6A"/>
                </a:solidFill>
                <a:latin typeface="Aptos"/>
              </a:rPr>
              <a:t>What happened to retention, upsell, and NPS after delivery?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20256" y="4123944"/>
            <a:ext cx="1828800" cy="393192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3408" y="4178808"/>
            <a:ext cx="16824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4A4A6A"/>
                </a:solidFill>
                <a:latin typeface="Aptos"/>
              </a:rPr>
              <a:t>Which tasks were under scoped, bundled, or repriced manually?</a:t>
            </a:r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254E04F8-D59A-9CAF-811D-49B80D2DBE3C}"/>
              </a:ext>
            </a:extLst>
          </p:cNvPr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84F4E816-8BFD-98B2-030A-B28E907D9F4B}"/>
              </a:ext>
            </a:extLst>
          </p:cNvPr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BLIND SPOTS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4A6A"/>
                </a:solidFill>
              </a:rPr>
              <a:t>DECISIONS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1C2E"/>
                </a:solidFill>
              </a:rPr>
              <a:t>Three decisions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490472"/>
            <a:ext cx="475488" cy="475488"/>
          </a:xfrm>
          <a:prstGeom prst="ellipse">
            <a:avLst/>
          </a:prstGeom>
          <a:solidFill>
            <a:srgbClr val="0B0B0F"/>
          </a:solidFill>
          <a:ln w="12700">
            <a:solidFill>
              <a:srgbClr val="0B0B0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6576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C040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143560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Restructure the pricing book before scaling AI further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87552" y="1764792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Migrate AI eligible work off hourly contracts. Priority: senior engagements (hourly senior = -€78/task vs. value based = +€511). Reposition as fixed fee or value based delivery, the data justifies the pitch.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114032" y="1490472"/>
            <a:ext cx="1664208" cy="475488"/>
          </a:xfrm>
          <a:prstGeom prst="rect">
            <a:avLst/>
          </a:prstGeom>
          <a:solidFill>
            <a:srgbClr val="F0F8EC"/>
          </a:solidFill>
          <a:ln w="12700">
            <a:solidFill>
              <a:srgbClr val="C8E0B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7114032" y="1490472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4A6A"/>
                </a:solidFill>
              </a:rPr>
              <a:t>€540/task structural recovery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2724912"/>
            <a:ext cx="475488" cy="475488"/>
          </a:xfrm>
          <a:prstGeom prst="ellipse">
            <a:avLst/>
          </a:prstGeom>
          <a:solidFill>
            <a:srgbClr val="0B0B0F"/>
          </a:solidFill>
          <a:ln w="12700">
            <a:solidFill>
              <a:srgbClr val="0B0B0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365760" y="2724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C040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267004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Set AI floors: 30% minimum floor, 60% efficiency threshold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999232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</a:rPr>
              <a:t>Treat AI adoption as binary per workflow. Below 30%: AI costs more than it produces. Below 60%: positive but not yet efficient. Above 60%: both profit and time dividends consolidate. The 10 to 50% range is worse than either extreme.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114032" y="2724912"/>
            <a:ext cx="1664208" cy="475488"/>
          </a:xfrm>
          <a:prstGeom prst="rect">
            <a:avLst/>
          </a:prstGeom>
          <a:solidFill>
            <a:srgbClr val="F0F8EC"/>
          </a:solidFill>
          <a:ln w="12700">
            <a:solidFill>
              <a:srgbClr val="C8E0B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7114032" y="2724912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4A6A"/>
                </a:solidFill>
              </a:rPr>
              <a:t>€242/task lift on migrated volume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3959352"/>
            <a:ext cx="475488" cy="475488"/>
          </a:xfrm>
          <a:prstGeom prst="ellipse">
            <a:avLst/>
          </a:prstGeom>
          <a:solidFill>
            <a:srgbClr val="0B0B0F"/>
          </a:solidFill>
          <a:ln w="12700">
            <a:solidFill>
              <a:srgbClr val="0B0B0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36576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C040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87552" y="390448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4A6A"/>
                </a:solidFill>
              </a:rPr>
              <a:t>Reposition seniors as AI force multipliers: remove from low AI execution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87552" y="4233672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50">
                <a:solidFill>
                  <a:srgbClr val="4A4A6A"/>
                </a:solidFill>
              </a:rPr>
              <a:t>Any senior led task must pass two conditions: AI usage &gt;= 60% AND fixed or value based contract. If either fails: reassign or renegotiate before kickoff. Redirect seniors to 80 to 100% AI workflows, complex work, and prompt engineering for the team, where the €3,935 ceiling is actually observed.</a:t>
            </a:r>
          </a:p>
        </p:txBody>
      </p:sp>
      <p:sp>
        <p:nvSpPr>
          <p:cNvPr id="21" name="Shape 19"/>
          <p:cNvSpPr/>
          <p:nvPr/>
        </p:nvSpPr>
        <p:spPr>
          <a:xfrm>
            <a:off x="7114032" y="3959352"/>
            <a:ext cx="1664208" cy="475488"/>
          </a:xfrm>
          <a:prstGeom prst="rect">
            <a:avLst/>
          </a:prstGeom>
          <a:solidFill>
            <a:srgbClr val="F0F8EC"/>
          </a:solidFill>
          <a:ln w="12700">
            <a:solidFill>
              <a:srgbClr val="C8E0BB"/>
            </a:solidFill>
            <a:prstDash val="solid"/>
          </a:ln>
        </p:spPr>
        <p:txBody>
          <a:bodyPr/>
          <a:lstStyle/>
          <a:p>
            <a:r>
              <a:rPr sz="950">
                <a:solidFill>
                  <a:srgbClr val="4A4A6A"/>
                </a:solidFill>
              </a:rPr>
              <a:t>50% loss rate → €3,935 ceiling (in the 80 to 100% AI band)</a:t>
            </a:r>
          </a:p>
        </p:txBody>
      </p:sp>
      <p:sp>
        <p:nvSpPr>
          <p:cNvPr id="22" name="Text 20"/>
          <p:cNvSpPr/>
          <p:nvPr/>
        </p:nvSpPr>
        <p:spPr>
          <a:xfrm>
            <a:off x="7114032" y="3959352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500" dirty="0">
                <a:solidFill>
                  <a:srgbClr val="4A4A6A"/>
                </a:solidFill>
              </a:rPr>
              <a:t>THE BOTTOM 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229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</a:rPr>
              <a:t>The technology</a:t>
            </a:r>
            <a:endParaRPr lang="en-US" sz="5000" dirty="0"/>
          </a:p>
          <a:p>
            <a:pPr marL="0" indent="0" algn="l">
              <a:buNone/>
            </a:pPr>
            <a:r>
              <a:rPr lang="en-US" sz="5000" b="1" dirty="0">
                <a:solidFill>
                  <a:srgbClr val="FFFFFF"/>
                </a:solidFill>
              </a:rPr>
              <a:t>is doing its job.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7772400" cy="0"/>
          </a:xfrm>
          <a:prstGeom prst="line">
            <a:avLst/>
          </a:prstGeom>
          <a:noFill/>
          <a:ln w="190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548640" y="263347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0C040"/>
                </a:solidFill>
              </a:rPr>
              <a:t>The business model is the bottleneck.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1687</Words>
  <Application>Microsoft Macintosh PowerPoint</Application>
  <PresentationFormat>On-screen Show (16:9)</PresentationFormat>
  <Paragraphs>263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alexandra tabarani</cp:lastModifiedBy>
  <cp:revision>5</cp:revision>
  <dcterms:created xsi:type="dcterms:W3CDTF">2026-04-28T12:35:50Z</dcterms:created>
  <dcterms:modified xsi:type="dcterms:W3CDTF">2026-04-28T13:47:57Z</dcterms:modified>
</cp:coreProperties>
</file>
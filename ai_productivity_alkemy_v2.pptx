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93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0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1528"/>
          </a:solidFill>
          <a:ln w="12700">
            <a:solidFill>
              <a:srgbClr val="1A2A3A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91440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0C040"/>
                </a:solidFill>
                <a:latin typeface="Calibri"/>
              </a:rPr>
              <a:t>AI PRODUCTIVITY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852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/>
              </a:rPr>
              <a:t>Does AI Help or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/>
              </a:rPr>
              <a:t>Hurt the Business?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2743200" cy="0"/>
          </a:xfrm>
          <a:prstGeom prst="line">
            <a:avLst/>
          </a:prstGeom>
          <a:noFill/>
          <a:ln w="1905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1000" dirty="0">
                <a:solidFill>
                  <a:srgbClr val="9898B8"/>
                </a:solidFill>
                <a:latin typeface="Calibri"/>
              </a:rPr>
              <a:t>Alexandra Tabarani · Gabriele Loreti · Edoardo Cocciò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 b="0">
                <a:solidFill>
                  <a:srgbClr val="9898B8"/>
                </a:solidFill>
                <a:latin typeface="Calibri"/>
              </a:rPr>
              <a:t>Presented to Alkemy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F0C040"/>
                </a:solidFill>
                <a:latin typeface="Calibri"/>
              </a:rPr>
              <a:t>THE QUESTION WE ANSWERED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solidFill>
            <a:srgbClr val="151528"/>
          </a:solidFill>
          <a:ln w="12700">
            <a:solidFill>
              <a:srgbClr val="333355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868A0"/>
                </a:solidFill>
                <a:latin typeface="Calibri"/>
              </a:rPr>
              <a:t>Does AI help?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417320"/>
          </a:xfrm>
          <a:prstGeom prst="rect">
            <a:avLst/>
          </a:prstGeom>
          <a:solidFill>
            <a:srgbClr val="0D1A28"/>
          </a:solidFill>
          <a:ln w="254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Under what conditions does AI capture margin and under what conditions does it destroy it?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743200" cy="9601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44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At what AI usage level does the profit effect cross zero?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3429000"/>
            <a:ext cx="2743200" cy="9601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44"/>
            </a:solidFill>
            <a:prstDash val="solid"/>
          </a:ln>
        </p:spPr>
        <p:txBody>
          <a:bodyPr wrap="square"/>
          <a:lstStyle/>
          <a:p>
            <a:endParaRPr lang="en-IT" dirty="0"/>
          </a:p>
        </p:txBody>
      </p:sp>
      <p:sp>
        <p:nvSpPr>
          <p:cNvPr id="10" name="Text 8"/>
          <p:cNvSpPr/>
          <p:nvPr/>
        </p:nvSpPr>
        <p:spPr>
          <a:xfrm>
            <a:off x="347472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What is the mechanism: hours or quality?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3429000"/>
            <a:ext cx="2743200" cy="960120"/>
          </a:xfrm>
          <a:prstGeom prst="rect">
            <a:avLst/>
          </a:prstGeom>
          <a:solidFill>
            <a:srgbClr val="151528"/>
          </a:solidFill>
          <a:ln w="12700">
            <a:solidFill>
              <a:srgbClr val="2A2A44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6355080" y="34290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Which contract structures capture the productivity dividend?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THE DATA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sz="1200" b="1" dirty="0">
                <a:solidFill>
                  <a:srgbClr val="4A4A6A"/>
                </a:solidFill>
                <a:latin typeface="Calibri"/>
              </a:rPr>
              <a:t>3,248 raw tasks. 3,016 analyzed after cleaning.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1050" dirty="0">
                <a:solidFill>
                  <a:srgbClr val="4A4A6A"/>
                </a:solidFill>
                <a:latin typeface="Calibri"/>
              </a:rPr>
              <a:t>Every row is a delivered task with revenue, cost, hours, AI usage, and outcome recorded.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96596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000" b="1" dirty="0">
                <a:solidFill>
                  <a:srgbClr val="1C1C2E"/>
                </a:solidFill>
                <a:latin typeface="Calibri"/>
              </a:rPr>
              <a:t>3,016</a:t>
            </a:r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50" dirty="0">
                <a:solidFill>
                  <a:srgbClr val="4A4A6A"/>
                </a:solidFill>
                <a:latin typeface="Calibri"/>
              </a:rPr>
              <a:t>Tasks Analyzed</a:t>
            </a:r>
          </a:p>
        </p:txBody>
      </p:sp>
      <p:sp>
        <p:nvSpPr>
          <p:cNvPr id="9" name="Shape 7"/>
          <p:cNvSpPr/>
          <p:nvPr/>
        </p:nvSpPr>
        <p:spPr>
          <a:xfrm>
            <a:off x="2487168" y="1600200"/>
            <a:ext cx="196596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2487168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  <a:latin typeface="Calibri"/>
              </a:rPr>
              <a:t>4 Teams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87168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Content · Design · SEO · Media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1600200"/>
            <a:ext cx="196596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608576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  <a:latin typeface="Calibri"/>
              </a:rPr>
              <a:t>3 Levels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0857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Junior · Mid · Senior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9984" y="1600200"/>
            <a:ext cx="1965960" cy="12801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729984" y="1664208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1C2E"/>
                </a:solidFill>
                <a:latin typeface="Calibri"/>
              </a:rPr>
              <a:t>0 to 100%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9984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AI Usage Range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/>
              </a:rPr>
              <a:t>KEY VARIABLES TRACKED</a:t>
            </a:r>
            <a:endParaRPr lang="en-US" sz="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ai_usage_pct (0 to 100%)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87168" y="34290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2" name="Text 20"/>
          <p:cNvSpPr/>
          <p:nvPr/>
        </p:nvSpPr>
        <p:spPr>
          <a:xfrm>
            <a:off x="2487168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profit = revenue − cost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08576" y="34290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608576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hours_spent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29984" y="34290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6" name="Text 24"/>
          <p:cNvSpPr/>
          <p:nvPr/>
        </p:nvSpPr>
        <p:spPr>
          <a:xfrm>
            <a:off x="6729984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rework_hours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8" name="Text 26"/>
          <p:cNvSpPr/>
          <p:nvPr/>
        </p:nvSpPr>
        <p:spPr>
          <a:xfrm>
            <a:off x="36576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pricing_model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87168" y="38862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2487168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seniority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08576" y="38862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2" name="Text 30"/>
          <p:cNvSpPr/>
          <p:nvPr/>
        </p:nvSpPr>
        <p:spPr>
          <a:xfrm>
            <a:off x="4608576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sla_breach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9984" y="3886200"/>
            <a:ext cx="2011680" cy="365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4" name="Text 32"/>
          <p:cNvSpPr/>
          <p:nvPr/>
        </p:nvSpPr>
        <p:spPr>
          <a:xfrm>
            <a:off x="6729984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outcome_score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FINDING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104417" y="14944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  <a:latin typeface="Calibri"/>
              </a:rPr>
              <a:t>AI works: but only above a threshold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02789" y="4066551"/>
            <a:ext cx="2912785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102789" y="4066551"/>
            <a:ext cx="54372" cy="987552"/>
          </a:xfrm>
          <a:prstGeom prst="rect">
            <a:avLst/>
          </a:prstGeom>
          <a:solidFill>
            <a:srgbClr val="28B088"/>
          </a:solidFill>
          <a:ln w="12700">
            <a:solidFill>
              <a:srgbClr val="2A9D8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267381" y="4157991"/>
            <a:ext cx="26952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Profit nearly doubles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7381" y="4414023"/>
            <a:ext cx="269529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€232 in low band rises to €474 in high band. Medium AI barely moves the needle, the jump happens above 50%.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25794" y="4066551"/>
            <a:ext cx="266635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3125794" y="4066551"/>
            <a:ext cx="49772" cy="9875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3290386" y="4157991"/>
            <a:ext cx="2467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The 50% phase change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90386" y="4414023"/>
            <a:ext cx="2467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Below 50%, gains are modest and barely separable from noise. Above 50%, profit improvement accelerates sharply.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17335" y="4066551"/>
            <a:ext cx="2860905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917335" y="4066551"/>
            <a:ext cx="53404" cy="987552"/>
          </a:xfrm>
          <a:prstGeom prst="rect">
            <a:avLst/>
          </a:prstGeom>
          <a:solidFill>
            <a:srgbClr val="28B088"/>
          </a:solidFill>
          <a:ln w="12700">
            <a:solidFill>
              <a:srgbClr val="2A9D8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81927" y="4157991"/>
            <a:ext cx="264729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Loss rate collapses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81927" y="4414023"/>
            <a:ext cx="26472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SLA breaches fall 44% → 32%. Loss rate drops 31% → 19%. AI de risks delivery, not just speeds it up.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3E60589-EFD9-DFE4-C292-13E0DEB894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9"/>
          <a:stretch>
            <a:fillRect/>
          </a:stretch>
        </p:blipFill>
        <p:spPr>
          <a:xfrm>
            <a:off x="804740" y="739809"/>
            <a:ext cx="7534519" cy="155877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548C85-BAAA-6E60-4609-FAE931AB85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933" y="2390028"/>
            <a:ext cx="5518169" cy="1570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FINDING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  <a:latin typeface="Calibri"/>
              </a:rPr>
              <a:t>The mechanism is hours, not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F4F6FA"/>
          </a:solidFill>
          <a:ln w="12700">
            <a:solidFill>
              <a:srgbClr val="D0D8EA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1050" dirty="0">
                <a:solidFill>
                  <a:srgbClr val="4A4A6A"/>
                </a:solidFill>
                <a:latin typeface="Calibri"/>
              </a:rPr>
              <a:t>Once hours_spent enters the OLS model: errors, revisions, rework, outcome_score all become statistically insignificant (p &gt; 0.4)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114800" cy="2606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chemeClr val="accent4"/>
                </a:solidFill>
                <a:latin typeface="Calibri"/>
              </a:rPr>
              <a:t>HOW AI ACTS ON PROFIT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AI compresses hours.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/>
                </a:solidFill>
                <a:latin typeface="Calibri"/>
              </a:rPr>
              <a:t>The contract decides where those hours go: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3840480" cy="384048"/>
          </a:xfrm>
          <a:prstGeom prst="rect">
            <a:avLst/>
          </a:prstGeom>
          <a:solidFill>
            <a:srgbClr val="0A1A0A"/>
          </a:solidFill>
          <a:ln w="12700">
            <a:solidFill>
              <a:srgbClr val="0D402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594360" y="3154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Agency margin (fixed / value based)</a:t>
            </a:r>
            <a:endParaRPr lang="en-US" sz="11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3840480" cy="384048"/>
          </a:xfrm>
          <a:prstGeom prst="rect">
            <a:avLst/>
          </a:prstGeom>
          <a:solidFill>
            <a:srgbClr val="1A0A0A"/>
          </a:solidFill>
          <a:ln w="12700">
            <a:solidFill>
              <a:srgbClr val="441008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4" name="Text 12"/>
          <p:cNvSpPr/>
          <p:nvPr/>
        </p:nvSpPr>
        <p:spPr>
          <a:xfrm>
            <a:off x="594360" y="36118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04040"/>
                </a:solidFill>
                <a:latin typeface="Calibri"/>
              </a:rPr>
              <a:t>Client discount (hourly)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4096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i="1" dirty="0">
                <a:solidFill>
                  <a:schemeClr val="accent1"/>
                </a:solidFill>
                <a:latin typeface="Calibri"/>
              </a:rPr>
              <a:t>Net efficiency: −2.0 hrs saved / +0.9 hrs rework = 1.1 hrs net gain per task</a:t>
            </a:r>
            <a:endParaRPr lang="en-US" sz="850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54880" y="21031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OLS COEFFICIENTS</a:t>
            </a:r>
            <a:endParaRPr lang="en-US" sz="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347472"/>
          </a:xfrm>
          <a:prstGeom prst="rect">
            <a:avLst/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ai_usage_pct coefficient (OLS)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40880" y="2423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4A6A"/>
                </a:solidFill>
                <a:latin typeface="Calibri"/>
              </a:rPr>
              <a:t>+€222 at full adoption (p=0.015)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0" y="281635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hours_spent coefficient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040880" y="2816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4A6A"/>
                </a:solidFill>
                <a:latin typeface="Calibri"/>
              </a:rPr>
              <a:t>−€5/hr (p=0.034)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3209544"/>
            <a:ext cx="4023360" cy="347472"/>
          </a:xfrm>
          <a:prstGeom prst="rect">
            <a:avLst/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4" name="Text 22"/>
          <p:cNvSpPr/>
          <p:nvPr/>
        </p:nvSpPr>
        <p:spPr>
          <a:xfrm>
            <a:off x="4846320" y="3209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Quality vars once hours enter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40880" y="3209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4A6A"/>
                </a:solidFill>
                <a:latin typeface="Calibri"/>
              </a:rPr>
              <a:t>All insignificant p&gt;0.4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54880" y="360273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27" name="Text 25"/>
          <p:cNvSpPr/>
          <p:nvPr/>
        </p:nvSpPr>
        <p:spPr>
          <a:xfrm>
            <a:off x="4846320" y="36027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Rework quadratic term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40880" y="36027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4A6A"/>
                </a:solidFill>
                <a:latin typeface="Calibri"/>
              </a:rPr>
              <a:t>p=0.605, no tipping point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3995928"/>
            <a:ext cx="4023360" cy="347472"/>
          </a:xfrm>
          <a:prstGeom prst="rect">
            <a:avLst/>
          </a:prstGeom>
          <a:solidFill>
            <a:srgbClr val="F4F6FA"/>
          </a:solidFill>
          <a:ln w="12700">
            <a:solidFill>
              <a:srgbClr val="E4E8F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0" name="Text 28"/>
          <p:cNvSpPr/>
          <p:nvPr/>
        </p:nvSpPr>
        <p:spPr>
          <a:xfrm>
            <a:off x="4846320" y="399592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AI × rework interaction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40880" y="39959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A4A6A"/>
                </a:solidFill>
                <a:latin typeface="Calibri"/>
              </a:rPr>
              <a:t>p=0.80, not a quality channel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8C8F075-18B1-AA84-8B24-24A425927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067" y="2547311"/>
            <a:ext cx="5842495" cy="25717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0EC1FE-D8FC-BE3A-5D88-11C349826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778" y="272051"/>
            <a:ext cx="5903250" cy="2074781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0D21DE71-438E-3302-787C-CB83993EF132}"/>
              </a:ext>
            </a:extLst>
          </p:cNvPr>
          <p:cNvSpPr/>
          <p:nvPr/>
        </p:nvSpPr>
        <p:spPr>
          <a:xfrm>
            <a:off x="122981" y="1218002"/>
            <a:ext cx="295096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2A87841-8765-3E85-A8EF-7C644A20D557}"/>
              </a:ext>
            </a:extLst>
          </p:cNvPr>
          <p:cNvSpPr/>
          <p:nvPr/>
        </p:nvSpPr>
        <p:spPr>
          <a:xfrm>
            <a:off x="122981" y="1218002"/>
            <a:ext cx="60755" cy="1051560"/>
          </a:xfrm>
          <a:prstGeom prst="rect">
            <a:avLst/>
          </a:prstGeom>
          <a:solidFill>
            <a:srgbClr val="E04040"/>
          </a:solidFill>
          <a:ln w="12700">
            <a:solidFill>
              <a:srgbClr val="E45C3A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1B47BFCC-0FE3-F7BA-DC9E-65B8084DC3BA}"/>
              </a:ext>
            </a:extLst>
          </p:cNvPr>
          <p:cNvSpPr/>
          <p:nvPr/>
        </p:nvSpPr>
        <p:spPr>
          <a:xfrm>
            <a:off x="287573" y="1309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b="1" dirty="0">
                <a:solidFill>
                  <a:srgbClr val="1C1C2E"/>
                </a:solidFill>
                <a:latin typeface="Calibri"/>
              </a:rPr>
              <a:t>The Net Gain Pivot</a:t>
            </a:r>
            <a:endParaRPr lang="en-US" sz="105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60F2ED3-4496-A4F1-C98B-462BF4186F74}"/>
              </a:ext>
            </a:extLst>
          </p:cNvPr>
          <p:cNvSpPr/>
          <p:nvPr/>
        </p:nvSpPr>
        <p:spPr>
          <a:xfrm>
            <a:off x="287573" y="1565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lang="en-GB" sz="950" dirty="0">
                <a:solidFill>
                  <a:srgbClr val="4A4A6A"/>
                </a:solidFill>
                <a:latin typeface="Calibri"/>
              </a:rPr>
              <a:t>AI is a net time loss until crossing the </a:t>
            </a:r>
            <a:r>
              <a:rPr lang="en-GB" sz="950" b="1" dirty="0">
                <a:solidFill>
                  <a:srgbClr val="1C1C2E"/>
                </a:solidFill>
                <a:latin typeface="Calibri"/>
              </a:rPr>
              <a:t>50 to 60% usage threshold</a:t>
            </a:r>
            <a:r>
              <a:rPr lang="en-GB" sz="950" dirty="0">
                <a:solidFill>
                  <a:srgbClr val="4A4A6A"/>
                </a:solidFill>
                <a:latin typeface="Calibri"/>
              </a:rPr>
              <a:t>. Below this point, extra rework cancels out any advantages; above it, speed gains finally overwhelm the cost of correction, leading to a massive productivity spike.</a:t>
            </a:r>
            <a:endParaRPr lang="en-US" sz="9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4784FD9-E411-B005-C1ED-EFE16D8AAC21}"/>
              </a:ext>
            </a:extLst>
          </p:cNvPr>
          <p:cNvSpPr/>
          <p:nvPr/>
        </p:nvSpPr>
        <p:spPr>
          <a:xfrm>
            <a:off x="122981" y="2361002"/>
            <a:ext cx="295096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2F93E70-1CB9-EB11-B464-65DC0B17B8B4}"/>
              </a:ext>
            </a:extLst>
          </p:cNvPr>
          <p:cNvSpPr/>
          <p:nvPr/>
        </p:nvSpPr>
        <p:spPr>
          <a:xfrm>
            <a:off x="122981" y="2361002"/>
            <a:ext cx="60755" cy="10515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07179E-29F2-08FF-6C41-EB66F3328A58}"/>
              </a:ext>
            </a:extLst>
          </p:cNvPr>
          <p:cNvSpPr/>
          <p:nvPr/>
        </p:nvSpPr>
        <p:spPr>
          <a:xfrm>
            <a:off x="287573" y="2452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100" b="1" dirty="0">
                <a:solidFill>
                  <a:srgbClr val="1C1C2E"/>
                </a:solidFill>
                <a:latin typeface="Calibri"/>
              </a:rPr>
              <a:t>The Production Swap</a:t>
            </a:r>
            <a:endParaRPr lang="en-US" sz="105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191D2A5A-00C3-C0DC-0675-FE7470BC684D}"/>
              </a:ext>
            </a:extLst>
          </p:cNvPr>
          <p:cNvSpPr/>
          <p:nvPr/>
        </p:nvSpPr>
        <p:spPr>
          <a:xfrm>
            <a:off x="287573" y="2708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lang="en-GB" sz="950" dirty="0">
                <a:solidFill>
                  <a:srgbClr val="4A4A6A"/>
                </a:solidFill>
                <a:latin typeface="Calibri"/>
              </a:rPr>
              <a:t>High intensity AI usage radically reduces initial </a:t>
            </a:r>
            <a:r>
              <a:rPr lang="en-GB" sz="950" b="1" dirty="0">
                <a:solidFill>
                  <a:srgbClr val="1C1C2E"/>
                </a:solidFill>
                <a:latin typeface="Calibri"/>
              </a:rPr>
              <a:t>Hours Spent</a:t>
            </a:r>
            <a:r>
              <a:rPr lang="en-GB" sz="950" dirty="0">
                <a:solidFill>
                  <a:srgbClr val="4A4A6A"/>
                </a:solidFill>
                <a:latin typeface="Calibri"/>
              </a:rPr>
              <a:t>while driving up </a:t>
            </a:r>
            <a:r>
              <a:rPr lang="en-GB" sz="950" b="1" dirty="0">
                <a:solidFill>
                  <a:srgbClr val="1C1C2E"/>
                </a:solidFill>
                <a:latin typeface="Calibri"/>
              </a:rPr>
              <a:t>Rework Hours</a:t>
            </a:r>
            <a:r>
              <a:rPr lang="en-GB" sz="950" dirty="0">
                <a:solidFill>
                  <a:srgbClr val="4A4A6A"/>
                </a:solidFill>
                <a:latin typeface="Calibri"/>
              </a:rPr>
              <a:t>. This shift fundamentally redefines the </a:t>
            </a:r>
            <a:r>
              <a:rPr lang="en-GB" sz="950" dirty="0" err="1">
                <a:solidFill>
                  <a:srgbClr val="4A4A6A"/>
                </a:solidFill>
                <a:latin typeface="Calibri"/>
              </a:rPr>
              <a:t>labor</a:t>
            </a:r>
            <a:r>
              <a:rPr lang="en-GB" sz="950" dirty="0">
                <a:solidFill>
                  <a:srgbClr val="4A4A6A"/>
                </a:solidFill>
                <a:latin typeface="Calibri"/>
              </a:rPr>
              <a:t>model, moving the primary human workload from "original creation" to "downstream iteration and correction."</a:t>
            </a:r>
            <a:endParaRPr lang="en-US" sz="9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2780727-8E77-031B-1100-CCD737316F4B}"/>
              </a:ext>
            </a:extLst>
          </p:cNvPr>
          <p:cNvSpPr/>
          <p:nvPr/>
        </p:nvSpPr>
        <p:spPr>
          <a:xfrm>
            <a:off x="122981" y="3504002"/>
            <a:ext cx="2950960" cy="1051560"/>
          </a:xfrm>
          <a:prstGeom prst="rect">
            <a:avLst/>
          </a:prstGeom>
          <a:solidFill>
            <a:srgbClr val="F4F6FA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737C3395-6FA6-9926-089A-AF3070F7EF07}"/>
              </a:ext>
            </a:extLst>
          </p:cNvPr>
          <p:cNvSpPr/>
          <p:nvPr/>
        </p:nvSpPr>
        <p:spPr>
          <a:xfrm>
            <a:off x="122981" y="3504002"/>
            <a:ext cx="60755" cy="1051560"/>
          </a:xfrm>
          <a:prstGeom prst="rect">
            <a:avLst/>
          </a:prstGeom>
          <a:solidFill>
            <a:srgbClr val="28B088"/>
          </a:solidFill>
          <a:ln w="12700">
            <a:solidFill>
              <a:srgbClr val="2A9D8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7BF8EA27-AAF9-8526-D0D6-2CF3182F74B9}"/>
              </a:ext>
            </a:extLst>
          </p:cNvPr>
          <p:cNvSpPr/>
          <p:nvPr/>
        </p:nvSpPr>
        <p:spPr>
          <a:xfrm>
            <a:off x="287573" y="3595442"/>
            <a:ext cx="27079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100" b="1" dirty="0">
                <a:solidFill>
                  <a:srgbClr val="1C1C2E"/>
                </a:solidFill>
                <a:latin typeface="Calibri"/>
              </a:rPr>
              <a:t>Quality Stability</a:t>
            </a:r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84AA3621-4079-1A8C-EE5F-4345A1499A64}"/>
              </a:ext>
            </a:extLst>
          </p:cNvPr>
          <p:cNvSpPr/>
          <p:nvPr/>
        </p:nvSpPr>
        <p:spPr>
          <a:xfrm>
            <a:off x="287573" y="3851474"/>
            <a:ext cx="27079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sz="950">
                <a:solidFill>
                  <a:srgbClr val="4A4A6A"/>
                </a:solidFill>
                <a:latin typeface="Calibri"/>
              </a:rPr>
              <a:t>Average Outcome Score stays broadly stable across bands, but the worst decile quality deteriorates in the high AI tail. High speed AI iteration preserves the mean, not every edge case.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8C49C3-C7EC-7C28-33A6-2A50EF54EF3D}"/>
              </a:ext>
            </a:extLst>
          </p:cNvPr>
          <p:cNvSpPr txBox="1"/>
          <p:nvPr/>
        </p:nvSpPr>
        <p:spPr>
          <a:xfrm>
            <a:off x="192880" y="329184"/>
            <a:ext cx="2881061" cy="6858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lIns="0">
            <a:spAutoFit/>
          </a:bodyPr>
          <a:lstStyle/>
          <a:p>
            <a:pPr algn="ctr">
              <a:lnSpc>
                <a:spcPct val="114999"/>
              </a:lnSpc>
            </a:pPr>
            <a:r>
              <a:rPr lang="en-GB" sz="2000" b="1" dirty="0">
                <a:solidFill>
                  <a:srgbClr val="1C1C2E"/>
                </a:solidFill>
                <a:latin typeface="Calibri"/>
              </a:rPr>
              <a:t>The Efficiency Dividend: Trading Rework for Speed</a:t>
            </a:r>
            <a:endParaRPr lang="en-IT" sz="4800" b="1" dirty="0"/>
          </a:p>
        </p:txBody>
      </p:sp>
      <p:sp>
        <p:nvSpPr>
          <p:cNvPr id="23" name="TitleStrip"/>
          <p:cNvSpPr/>
          <p:nvPr/>
        </p:nvSpPr>
        <p:spPr>
          <a:xfrm>
            <a:off x="122981" y="329184"/>
            <a:ext cx="60755" cy="685800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40106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FINDING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2500" b="1" dirty="0">
                <a:solidFill>
                  <a:srgbClr val="1C1C2E"/>
                </a:solidFill>
                <a:latin typeface="Calibri"/>
              </a:rPr>
              <a:t>The pricing model is the bottleneck, not the technology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606040" cy="2606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0C040"/>
                </a:solidFill>
                <a:latin typeface="Calibri"/>
              </a:rPr>
              <a:t>€870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per task gap between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hourly (€202) and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value based (€1,073)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5">
                    <a:lumMod val="75000"/>
                  </a:schemeClr>
                </a:solidFill>
                <a:latin typeface="Calibri"/>
              </a:rPr>
              <a:t>at high AI usage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4480560"/>
            <a:ext cx="20116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5720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OLS: Hourly vs Fixed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5720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04040"/>
                </a:solidFill>
                <a:latin typeface="Calibri"/>
              </a:rPr>
              <a:t>-€254/task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2514600" y="4480560"/>
            <a:ext cx="20116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3" name="Text 10"/>
          <p:cNvSpPr/>
          <p:nvPr/>
        </p:nvSpPr>
        <p:spPr>
          <a:xfrm>
            <a:off x="260604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OLS: Value vs Fixed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260604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chemeClr val="accent6">
                    <a:lumMod val="75000"/>
                  </a:schemeClr>
                </a:solidFill>
                <a:latin typeface="Calibri"/>
              </a:rPr>
              <a:t>+€286/task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63440" y="4480560"/>
            <a:ext cx="20116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475488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AI × Hourly interaction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475488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04040"/>
                </a:solidFill>
                <a:latin typeface="Calibri"/>
              </a:rPr>
              <a:t>-€701 (p&lt;0.001)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812280" y="4480560"/>
            <a:ext cx="2011680" cy="438912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 dirty="0"/>
          </a:p>
        </p:txBody>
      </p:sp>
      <p:sp>
        <p:nvSpPr>
          <p:cNvPr id="19" name="Text 16"/>
          <p:cNvSpPr/>
          <p:nvPr/>
        </p:nvSpPr>
        <p:spPr>
          <a:xfrm>
            <a:off x="6903720" y="4507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A4A6A"/>
                </a:solidFill>
                <a:latin typeface="Calibri"/>
              </a:rPr>
              <a:t>Hourly loss rate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6903720" y="4663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04040"/>
                </a:solidFill>
                <a:latin typeface="Calibri"/>
              </a:rPr>
              <a:t>34% vs 16%</a:t>
            </a:r>
            <a:endParaRPr lang="en-US" sz="1000" dirty="0">
              <a:solidFill>
                <a:srgbClr val="C0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9B3521-E731-8D6A-66D5-3FF9BA7E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49" y="1459751"/>
            <a:ext cx="5712898" cy="2380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FINDING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  <a:latin typeface="Calibri"/>
              </a:rPr>
              <a:t>Not all work responds equally to AI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111494"/>
              </p:ext>
            </p:extLst>
          </p:nvPr>
        </p:nvGraphicFramePr>
        <p:xfrm>
          <a:off x="365760" y="1234440"/>
          <a:ext cx="8412480" cy="294436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A4A6A"/>
                          </a:solidFill>
                          <a:latin typeface="Calibri"/>
                        </a:rPr>
                        <a:t>Task Type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A4A6A"/>
                          </a:solidFill>
                          <a:latin typeface="Calibri"/>
                        </a:rPr>
                        <a:t>Profit, Low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A4A6A"/>
                          </a:solidFill>
                          <a:latin typeface="Calibri"/>
                        </a:rPr>
                        <a:t>Profit, High AI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A4A6A"/>
                          </a:solidFill>
                          <a:latin typeface="Calibri"/>
                        </a:rPr>
                        <a:t>Multiplier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A4A6A"/>
                          </a:solidFill>
                          <a:latin typeface="Calibri"/>
                        </a:rPr>
                        <a:t>Recommendation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Release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€138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€816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5.9×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Dev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€271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€579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2.1×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€353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€572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1.6×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Push to 70 to 80%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€316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€462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28B088"/>
                          </a:solidFill>
                          <a:latin typeface="Calibri"/>
                        </a:rPr>
                        <a:t>1.5×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28B088"/>
                          </a:solidFill>
                          <a:latin typeface="Calibri"/>
                        </a:rPr>
                        <a:t>Push to 60 to 70%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Article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€342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€290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0C040"/>
                          </a:solidFill>
                          <a:latin typeface="Calibri"/>
                        </a:rPr>
                        <a:t>0.8×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0C040"/>
                          </a:solidFill>
                          <a:latin typeface="Calibri"/>
                        </a:rPr>
                        <a:t>Cap at 25 to 50%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Ad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€169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4A4A6A"/>
                          </a:solidFill>
                          <a:latin typeface="Calibri"/>
                        </a:rPr>
                        <a:t>€359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F0C040"/>
                          </a:solidFill>
                          <a:latin typeface="Calibri"/>
                        </a:rPr>
                        <a:t>Peaks at medium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>
                          <a:solidFill>
                            <a:srgbClr val="F0C040"/>
                          </a:solidFill>
                          <a:latin typeface="Calibri"/>
                        </a:rPr>
                        <a:t>Cap at 25 to 50%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sz="950">
                <a:solidFill>
                  <a:srgbClr val="4A4A6A"/>
                </a:solidFill>
                <a:latin typeface="Calibri"/>
              </a:rPr>
              <a:t>Release, Dev, Report: push AI usage hard. Article, Ad: performance peaks in the medium band, cap at 25 to 50%.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FINDING 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  <a:latin typeface="Calibri"/>
              </a:rPr>
              <a:t>Seniority is your biggest risk variable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69080" cy="3611880"/>
          </a:xfrm>
          <a:prstGeom prst="rect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E04040"/>
                </a:solidFill>
                <a:latin typeface="Calibri"/>
              </a:rPr>
              <a:t>SENIORS AT LOW AI</a:t>
            </a:r>
            <a:endParaRPr lang="en-US" sz="85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04040"/>
                </a:solidFill>
                <a:latin typeface="Calibri"/>
              </a:rPr>
              <a:t>50%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loss rate, worst in the workforce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Expensive billing rates cannot justify manual execution.</a:t>
            </a: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OLS: each seniority level costs -€173/task at baseline.</a:t>
            </a: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Every unassisted senior hour compresses margin.</a:t>
            </a:r>
          </a:p>
        </p:txBody>
      </p:sp>
      <p:sp>
        <p:nvSpPr>
          <p:cNvPr id="10" name="Shape 8"/>
          <p:cNvSpPr/>
          <p:nvPr/>
        </p:nvSpPr>
        <p:spPr>
          <a:xfrm>
            <a:off x="502920" y="3858768"/>
            <a:ext cx="3794760" cy="502920"/>
          </a:xfrm>
          <a:prstGeom prst="rect">
            <a:avLst/>
          </a:prstGeom>
          <a:solidFill>
            <a:srgbClr val="1A0A0A"/>
          </a:solidFill>
          <a:ln w="12700">
            <a:solidFill>
              <a:srgbClr val="44101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5943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b="1" i="1" dirty="0">
                <a:solidFill>
                  <a:srgbClr val="E04040"/>
                </a:solidFill>
                <a:latin typeface="Calibri"/>
              </a:rPr>
              <a:t>AI isn't optional for seniors, it's the only viable configuration.</a:t>
            </a:r>
            <a:endParaRPr lang="en-US" sz="950" dirty="0">
              <a:solidFill>
                <a:srgbClr val="C0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069080" cy="3611880"/>
          </a:xfrm>
          <a:prstGeom prst="rect">
            <a:avLst/>
          </a:prstGeom>
          <a:solidFill>
            <a:srgbClr val="1A0A0A"/>
          </a:solidFill>
          <a:ln w="12700">
            <a:solidFill>
              <a:srgbClr val="1A1A1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chemeClr val="accent4"/>
                </a:solidFill>
                <a:latin typeface="Calibri"/>
              </a:rPr>
              <a:t>SENIORS AT HIGH AI + RIGHT CONTRACT</a:t>
            </a:r>
            <a:endParaRPr lang="en-US" sz="850" dirty="0">
              <a:solidFill>
                <a:schemeClr val="accent4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0C040"/>
                </a:solidFill>
                <a:latin typeface="Calibri"/>
              </a:rPr>
              <a:t>€3,935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4846320" y="27249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10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mean profit per task (~8x dataset median)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312724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AI interaction: +€359 per seniority level (p=0.002).</a:t>
            </a: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At senior: +€718 interaction gain vs. -€346 cost drag.</a:t>
            </a:r>
          </a:p>
          <a:p>
            <a:pPr marL="0" indent="0" algn="ctr">
              <a:buNone/>
              <a:lnSpc>
                <a:spcPct val="114999"/>
              </a:lnSpc>
            </a:pPr>
            <a:r>
              <a:rPr lang="en-US" sz="950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Net reversal: seniors become the highest value asset.</a:t>
            </a:r>
          </a:p>
        </p:txBody>
      </p:sp>
      <p:sp>
        <p:nvSpPr>
          <p:cNvPr id="17" name="Shape 15"/>
          <p:cNvSpPr/>
          <p:nvPr/>
        </p:nvSpPr>
        <p:spPr>
          <a:xfrm>
            <a:off x="4846320" y="3858768"/>
            <a:ext cx="3794760" cy="502920"/>
          </a:xfrm>
          <a:prstGeom prst="rect">
            <a:avLst/>
          </a:prstGeom>
          <a:solidFill>
            <a:srgbClr val="0A1A0A"/>
          </a:solidFill>
          <a:ln w="12700">
            <a:solidFill>
              <a:srgbClr val="332A00"/>
            </a:solidFill>
            <a:prstDash val="solid"/>
          </a:ln>
        </p:spPr>
        <p:txBody>
          <a:bodyPr wrap="square"/>
          <a:lstStyle/>
          <a:p>
            <a:pPr>
              <a:lnSpc>
                <a:spcPct val="114999"/>
              </a:lnSpc>
            </a:pPr>
            <a:r>
              <a:rPr sz="950" dirty="0">
                <a:solidFill>
                  <a:schemeClr val="accent4"/>
                </a:solidFill>
                <a:latin typeface="Calibri"/>
              </a:rPr>
              <a:t>Condition: fixed or value based contract, with the €3,935 ceiling observed specifically in the 80 to 100% AI band.</a:t>
            </a:r>
          </a:p>
        </p:txBody>
      </p:sp>
      <p:sp>
        <p:nvSpPr>
          <p:cNvPr id="18" name="Text 16"/>
          <p:cNvSpPr/>
          <p:nvPr/>
        </p:nvSpPr>
        <p:spPr>
          <a:xfrm>
            <a:off x="4937760" y="38587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THE REWORK PARADOX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2300" b="1" dirty="0">
                <a:solidFill>
                  <a:srgbClr val="1C1C2E"/>
                </a:solidFill>
                <a:latin typeface="Calibri"/>
              </a:rPr>
              <a:t>The business gets financially safer by getting operationally messier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5868785" y="1147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7" name="Shape 4"/>
          <p:cNvSpPr/>
          <p:nvPr/>
        </p:nvSpPr>
        <p:spPr>
          <a:xfrm>
            <a:off x="5868785" y="1147156"/>
            <a:ext cx="64008" cy="1051560"/>
          </a:xfrm>
          <a:prstGeom prst="rect">
            <a:avLst/>
          </a:prstGeom>
          <a:solidFill>
            <a:srgbClr val="E04040"/>
          </a:solidFill>
          <a:ln w="12700">
            <a:solidFill>
              <a:srgbClr val="E45C3A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8" name="Text 5"/>
          <p:cNvSpPr/>
          <p:nvPr/>
        </p:nvSpPr>
        <p:spPr>
          <a:xfrm>
            <a:off x="6033377" y="1238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The Profitability Paradox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033377" y="1494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Loss rate falls 31% → 19% while rework rises to 32%. Speed creates an efficiency cushion that absorbs correction cost.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68785" y="2290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1" name="Shape 8"/>
          <p:cNvSpPr/>
          <p:nvPr/>
        </p:nvSpPr>
        <p:spPr>
          <a:xfrm>
            <a:off x="5868785" y="2290156"/>
            <a:ext cx="64008" cy="105156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2" name="Text 9"/>
          <p:cNvSpPr/>
          <p:nvPr/>
        </p:nvSpPr>
        <p:spPr>
          <a:xfrm>
            <a:off x="6033377" y="2381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The critical pivot: 50 to 60%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33377" y="2637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Between 50 to 60% AI usage the business crosses from high loss to high rework, low risk. This is the operational break even.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68785" y="3433156"/>
            <a:ext cx="3108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4EC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5" name="Shape 12"/>
          <p:cNvSpPr/>
          <p:nvPr/>
        </p:nvSpPr>
        <p:spPr>
          <a:xfrm>
            <a:off x="5868785" y="3433156"/>
            <a:ext cx="64008" cy="1051560"/>
          </a:xfrm>
          <a:prstGeom prst="rect">
            <a:avLst/>
          </a:prstGeom>
          <a:solidFill>
            <a:srgbClr val="28B088"/>
          </a:solidFill>
          <a:ln w="12700">
            <a:solidFill>
              <a:srgbClr val="2A9D8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3"/>
          <p:cNvSpPr/>
          <p:nvPr/>
        </p:nvSpPr>
        <p:spPr>
          <a:xfrm>
            <a:off x="6033377" y="3524596"/>
            <a:ext cx="2852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Rework is not failure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033377" y="3780628"/>
            <a:ext cx="285292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OLS: rework quadratic p=0.605. No tipping point. Fast generation + heavy iteration is the profitable model.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7B6FCF0-82ED-FF80-10ED-1AB993DC3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4" y="1238596"/>
            <a:ext cx="5729401" cy="29925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F0C040"/>
                </a:solidFill>
                <a:latin typeface="Calibri"/>
              </a:rPr>
              <a:t>THE THRESHOLD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0C040"/>
                </a:solidFill>
                <a:latin typeface="Calibri"/>
              </a:rPr>
              <a:t>30.6%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lnSpc>
                <a:spcPct val="114999"/>
              </a:lnSpc>
            </a:pPr>
            <a:r>
              <a:rPr lang="en-US" sz="1400" dirty="0">
                <a:solidFill>
                  <a:srgbClr val="FFFFFF"/>
                </a:solidFill>
                <a:latin typeface="Calibri"/>
              </a:rPr>
              <a:t>The SHAP sign change threshold. Below it, AI costs money. Above it, AI makes money.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834640"/>
            <a:ext cx="2651760" cy="1920240"/>
          </a:xfrm>
          <a:prstGeom prst="rect">
            <a:avLst/>
          </a:prstGeom>
          <a:solidFill>
            <a:srgbClr val="151528"/>
          </a:solidFill>
          <a:ln w="12700">
            <a:solidFill>
              <a:srgbClr val="2222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4040"/>
                </a:solidFill>
                <a:latin typeface="Calibri"/>
              </a:rPr>
              <a:t>Below 30.6%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04040"/>
                </a:solidFill>
                <a:latin typeface="Calibri"/>
              </a:rPr>
              <a:t>-€52.5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per task avg.</a:t>
            </a:r>
            <a:endParaRPr lang="en-US" sz="9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SHAP contribution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6A"/>
                </a:solidFill>
                <a:latin typeface="Calibri"/>
              </a:rPr>
              <a:t>234 of 553 test set tasks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0" y="2834640"/>
            <a:ext cx="2651760" cy="1920240"/>
          </a:xfrm>
          <a:prstGeom prst="rect">
            <a:avLst/>
          </a:prstGeom>
          <a:solidFill>
            <a:srgbClr val="151528"/>
          </a:solidFill>
          <a:ln w="12700">
            <a:solidFill>
              <a:srgbClr val="2222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1" name="Text 9"/>
          <p:cNvSpPr/>
          <p:nvPr/>
        </p:nvSpPr>
        <p:spPr>
          <a:xfrm>
            <a:off x="329184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C040"/>
                </a:solidFill>
                <a:latin typeface="Calibri"/>
              </a:rPr>
              <a:t>The sign change</a:t>
            </a:r>
            <a:endParaRPr lang="en-US" sz="900" dirty="0">
              <a:solidFill>
                <a:schemeClr val="accent4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9184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C040"/>
                </a:solidFill>
                <a:latin typeface="Calibri"/>
              </a:rPr>
              <a:t>≈ €103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gap between being</a:t>
            </a:r>
            <a:endParaRPr lang="en-US" sz="9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above vs. below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6A"/>
                </a:solidFill>
                <a:latin typeface="Calibri"/>
              </a:rPr>
              <a:t>entirely from AI</a:t>
            </a:r>
            <a:endParaRPr lang="en-US" sz="7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4A4A6A"/>
                </a:solidFill>
                <a:latin typeface="Calibri"/>
              </a:rPr>
              <a:t>contribution shift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651760" cy="1920240"/>
          </a:xfrm>
          <a:prstGeom prst="rect">
            <a:avLst/>
          </a:prstGeom>
          <a:solidFill>
            <a:srgbClr val="151528"/>
          </a:solidFill>
          <a:ln w="12700">
            <a:solidFill>
              <a:srgbClr val="2222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6126480" y="29260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8B088"/>
                </a:solidFill>
                <a:latin typeface="Calibri"/>
              </a:rPr>
              <a:t>Above 30.6%</a:t>
            </a:r>
            <a:endParaRPr lang="en-US" sz="900" dirty="0">
              <a:solidFill>
                <a:srgbClr val="00B05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26480" y="318211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8B088"/>
                </a:solidFill>
                <a:latin typeface="Calibri"/>
              </a:rPr>
              <a:t>+€51.1</a:t>
            </a:r>
            <a:endParaRPr lang="en-US" sz="3800" dirty="0">
              <a:solidFill>
                <a:srgbClr val="00B05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26480" y="39136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per task avg.</a:t>
            </a:r>
            <a:endParaRPr lang="en-US" sz="9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SHAP contribution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4370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4A6A"/>
                </a:solidFill>
                <a:latin typeface="Calibri"/>
              </a:rPr>
              <a:t>319 of 553 test set tasks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RISK SCORE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2500" b="1" dirty="0">
                <a:solidFill>
                  <a:srgbClr val="1C1C2E"/>
                </a:solidFill>
                <a:latin typeface="Calibri"/>
              </a:rPr>
              <a:t>The pre-task risk score: six variables, one lookup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Random Forest: ROC-AUC 0.754 · Recall 55% · Flags 43 genuine losses per 100 risk-flagged tasks  (base rate: 24%)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4114800" cy="329184"/>
          </a:xfrm>
          <a:prstGeom prst="rect">
            <a:avLst/>
          </a:prstGeom>
          <a:solidFill>
            <a:srgbClr val="E04040"/>
          </a:solidFill>
          <a:ln w="12700">
            <a:solidFill>
              <a:srgbClr val="E45C3A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RISK FACTORS — loss rate rises</a:t>
            </a:r>
            <a:endParaRPr lang="en-US" sz="9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65760" y="1901952"/>
          <a:ext cx="4114800" cy="13898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Safe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Risky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80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Hourly pricing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16%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34%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+18pp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46%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Senior contributor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33%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+12pp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22%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Hours spent (top 25%)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31%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04040"/>
                          </a:solidFill>
                          <a:latin typeface="Calibri"/>
                        </a:rPr>
                        <a:t>+9pp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25%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663440" y="1572768"/>
            <a:ext cx="4114800" cy="329184"/>
          </a:xfrm>
          <a:prstGeom prst="rect">
            <a:avLst/>
          </a:prstGeom>
          <a:solidFill>
            <a:srgbClr val="28B088"/>
          </a:solidFill>
          <a:ln w="12700">
            <a:solidFill>
              <a:srgbClr val="2A9D8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0" name="Text 7"/>
          <p:cNvSpPr/>
          <p:nvPr/>
        </p:nvSpPr>
        <p:spPr>
          <a:xfrm>
            <a:off x="4663440" y="15727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/>
              </a:rPr>
              <a:t>PROTECTIVE FACTORS — loss rate falls</a:t>
            </a:r>
            <a:endParaRPr lang="en-US" sz="9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4663440" y="1901952"/>
          <a:ext cx="4114800" cy="138988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Without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With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  <a:endParaRPr lang="en-US" sz="900" dirty="0"/>
                    </a:p>
                  </a:txBody>
                  <a:tcPr anchor="ctr"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1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High-tier client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  <a:latin typeface="Calibri"/>
                        </a:rPr>
                        <a:t>27%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16%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-10pp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26%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High task complexity (top 25%)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  <a:latin typeface="Calibri"/>
                        </a:rPr>
                        <a:t>26%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18%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-8pp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30%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C1C2E"/>
                          </a:solidFill>
                          <a:latin typeface="Calibri"/>
                        </a:rPr>
                        <a:t>AI usage &gt;= 30%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A4A6A"/>
                          </a:solidFill>
                          <a:latin typeface="Calibri"/>
                        </a:rPr>
                        <a:t>28%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21%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8B088"/>
                          </a:solidFill>
                          <a:latin typeface="Calibri"/>
                        </a:rPr>
                        <a:t>-8pp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A4A6A"/>
                          </a:solidFill>
                          <a:latin typeface="Calibri"/>
                        </a:rPr>
                        <a:t>58% of tasks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365760" y="3246120"/>
            <a:ext cx="8412480" cy="1508760"/>
          </a:xfrm>
          <a:prstGeom prst="rect">
            <a:avLst/>
          </a:prstGeom>
          <a:solidFill>
            <a:srgbClr val="F4F6FA"/>
          </a:solidFill>
          <a:ln w="12700">
            <a:solidFill>
              <a:srgbClr val="D8DCE6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3" name="Text 9"/>
          <p:cNvSpPr/>
          <p:nvPr/>
        </p:nvSpPr>
        <p:spPr>
          <a:xfrm>
            <a:off x="548640" y="33375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C1C2E"/>
                </a:solidFill>
                <a:latin typeface="Calibri"/>
              </a:rPr>
              <a:t>HOW TO USE THIS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48640" y="3602736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1050" dirty="0">
                <a:solidFill>
                  <a:srgbClr val="1C1C2E"/>
                </a:solidFill>
                <a:latin typeface="Calibri"/>
              </a:rPr>
              <a:t>Any task combining 2+ risk factors triggers a pre-kickoff review of contract structure, staffing, and scope estimate.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  <a:lnSpc>
                <a:spcPct val="114999"/>
              </a:lnSpc>
            </a:pPr>
            <a:r>
              <a:rPr lang="en-US" sz="1050" dirty="0">
                <a:solidFill>
                  <a:srgbClr val="1C1C2E"/>
                </a:solidFill>
                <a:latin typeface="Calibri"/>
              </a:rPr>
              <a:t>Best-case combination: high client tier + high complexity + fixed or value-based contract + AI &gt;= 30% → loss rate below 18%.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621792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1C1C2E"/>
                </a:solidFill>
                <a:latin typeface="Calibri"/>
              </a:rPr>
              <a:t>What the dataset still cannot explain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8046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050" b="0">
                <a:solidFill>
                  <a:srgbClr val="4A4A6A"/>
                </a:solidFill>
                <a:latin typeface="Calibri"/>
              </a:rPr>
              <a:t>The model explains margin mechanics well. It is still missing the signals required to explain client value and revision causality.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72768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572768"/>
            <a:ext cx="73152" cy="1965960"/>
          </a:xfrm>
          <a:prstGeom prst="roundRect">
            <a:avLst/>
          </a:prstGeom>
          <a:solidFill>
            <a:srgbClr val="E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2064" y="1645920"/>
            <a:ext cx="69494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E0404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920240"/>
            <a:ext cx="214884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500" b="1" dirty="0">
                <a:solidFill>
                  <a:srgbClr val="1C1C2E"/>
                </a:solidFill>
                <a:latin typeface="Calibri"/>
              </a:rPr>
              <a:t>C</a:t>
            </a:r>
            <a:r>
              <a:rPr sz="1500" b="1" dirty="0" err="1">
                <a:solidFill>
                  <a:srgbClr val="1C1C2E"/>
                </a:solidFill>
                <a:latin typeface="Calibri"/>
              </a:rPr>
              <a:t>lient</a:t>
            </a:r>
            <a:r>
              <a:rPr lang="it-IT" sz="1500" b="1" dirty="0">
                <a:solidFill>
                  <a:srgbClr val="1C1C2E"/>
                </a:solidFill>
                <a:latin typeface="Calibri"/>
              </a:rPr>
              <a:t> </a:t>
            </a:r>
            <a:r>
              <a:rPr sz="1500" b="1" dirty="0">
                <a:solidFill>
                  <a:srgbClr val="1C1C2E"/>
                </a:solidFill>
                <a:latin typeface="Calibri"/>
              </a:rPr>
              <a:t>retention and 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395728"/>
            <a:ext cx="221284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050" b="0">
                <a:solidFill>
                  <a:srgbClr val="4A4A6A"/>
                </a:solidFill>
                <a:latin typeface="Calibri"/>
              </a:rPr>
              <a:t>We can measure task profit, but not whether AI heavy delivery hurts long term trust, renewals, or NPS.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" y="3145536"/>
            <a:ext cx="1417320" cy="237744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" y="316382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4A4A6A"/>
                </a:solidFill>
                <a:latin typeface="Calibri"/>
              </a:rPr>
              <a:t>Highest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1572768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72968" y="1572768"/>
            <a:ext cx="73152" cy="1965960"/>
          </a:xfrm>
          <a:prstGeom prst="roundRect">
            <a:avLst/>
          </a:prstGeom>
          <a:solidFill>
            <a:srgbClr val="4A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19272" y="1645920"/>
            <a:ext cx="64098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4A78A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2024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E"/>
                </a:solidFill>
                <a:latin typeface="Calibri"/>
              </a:rPr>
              <a:t>Tool and prompt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395728"/>
            <a:ext cx="221284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050" b="0">
                <a:solidFill>
                  <a:srgbClr val="4A4A6A"/>
                </a:solidFill>
                <a:latin typeface="Calibri"/>
              </a:rPr>
              <a:t>The same ai_usage_pct can mean one precise draft or thirty failed iterations. That blocks tool ROI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9271" y="3145536"/>
            <a:ext cx="1973945" cy="237744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55270" y="3149126"/>
            <a:ext cx="170117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4A4A6A"/>
                </a:solidFill>
                <a:latin typeface="Calibri"/>
              </a:rPr>
              <a:t>Procurement + training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0176" y="1572768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980176" y="1572768"/>
            <a:ext cx="73152" cy="1965960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79" y="1645920"/>
            <a:ext cx="62848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92024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1C2E"/>
                </a:solidFill>
                <a:latin typeface="Calibri"/>
              </a:rPr>
              <a:t>Revision reason codes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95728"/>
            <a:ext cx="2212848" cy="6949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1050" b="0">
                <a:solidFill>
                  <a:srgbClr val="4A4A6A"/>
                </a:solidFill>
                <a:latin typeface="Calibri"/>
              </a:rPr>
              <a:t>Rework hours tell us cost, not cause. We need to distinguish AI mistakes, scope creep, and client preference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145536"/>
            <a:ext cx="2322576" cy="237744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9631" y="3163824"/>
            <a:ext cx="1907619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dirty="0">
                <a:solidFill>
                  <a:srgbClr val="4A4A6A"/>
                </a:solidFill>
                <a:latin typeface="Calibri"/>
              </a:rPr>
              <a:t>Operational root cause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794760"/>
            <a:ext cx="8183879" cy="1161288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867912"/>
            <a:ext cx="26426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4A4A6A"/>
                </a:solidFill>
                <a:latin typeface="Calibri"/>
              </a:rPr>
              <a:t>WHAT WE'D ASK ALKEMY</a:t>
            </a:r>
            <a:r>
              <a:rPr lang="en-GB" sz="1050" b="1" dirty="0">
                <a:solidFill>
                  <a:srgbClr val="4A4A6A"/>
                </a:solidFill>
                <a:latin typeface="Calibri"/>
              </a:rPr>
              <a:t>N</a:t>
            </a:r>
            <a:r>
              <a:rPr sz="1050" b="1" dirty="0">
                <a:solidFill>
                  <a:srgbClr val="4A4A6A"/>
                </a:solidFill>
                <a:latin typeface="Calibri"/>
              </a:rPr>
              <a:t>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4123944"/>
            <a:ext cx="1874519" cy="393192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3504" y="4178808"/>
            <a:ext cx="17282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0">
                <a:solidFill>
                  <a:srgbClr val="4A4A6A"/>
                </a:solidFill>
                <a:latin typeface="Calibri"/>
              </a:rPr>
              <a:t>Which revisions were AI caused vs client driven?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123944"/>
            <a:ext cx="1874519" cy="393192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33472" y="4178808"/>
            <a:ext cx="17282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0" dirty="0">
                <a:solidFill>
                  <a:srgbClr val="4A4A6A"/>
                </a:solidFill>
                <a:latin typeface="Calibri"/>
              </a:rPr>
              <a:t>Which tools, prompts, and iterations were used per task?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90288" y="4123944"/>
            <a:ext cx="1874519" cy="393192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178808"/>
            <a:ext cx="1728215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0">
                <a:solidFill>
                  <a:srgbClr val="4A4A6A"/>
                </a:solidFill>
                <a:latin typeface="Calibri"/>
              </a:rPr>
              <a:t>What happened to retention, upsell, and NPS after delivery?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0256" y="4123944"/>
            <a:ext cx="1828800" cy="393192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93408" y="4178808"/>
            <a:ext cx="168249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999"/>
              </a:lnSpc>
            </a:pPr>
            <a:r>
              <a:rPr sz="950" b="0">
                <a:solidFill>
                  <a:srgbClr val="4A4A6A"/>
                </a:solidFill>
                <a:latin typeface="Calibri"/>
              </a:rPr>
              <a:t>Which tasks were under scoped, bundled, or repriced manually?</a:t>
            </a:r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254E04F8-D59A-9CAF-811D-49B80D2DBE3C}"/>
              </a:ext>
            </a:extLst>
          </p:cNvPr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8" name="Text 1">
            <a:extLst>
              <a:ext uri="{FF2B5EF4-FFF2-40B4-BE49-F238E27FC236}">
                <a16:creationId xmlns:a16="http://schemas.microsoft.com/office/drawing/2014/main" id="{84F4E816-8BFD-98B2-030A-B28E907D9F4B}"/>
              </a:ext>
            </a:extLst>
          </p:cNvPr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BLIND SPOTS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 spc="250">
                <a:solidFill>
                  <a:srgbClr val="1C1C2E"/>
                </a:solidFill>
                <a:latin typeface="Calibri"/>
              </a:rPr>
              <a:t>DECISIONS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1C2E"/>
                </a:solidFill>
                <a:latin typeface="Calibri"/>
              </a:rPr>
              <a:t>Three decisions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90472"/>
            <a:ext cx="475488" cy="475488"/>
          </a:xfrm>
          <a:prstGeom prst="ellipse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435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Restructure the pricing book before scaling AI further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7647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Migrate AI eligible work off hourly contracts. Priority: senior engagements (hourly senior = -€78/task vs. value based = +€511). Reposition as fixed fee or value based delivery, the data justifies the pitch.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14032" y="1490472"/>
            <a:ext cx="1664208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C8E0BB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0" name="Text 8"/>
          <p:cNvSpPr/>
          <p:nvPr/>
        </p:nvSpPr>
        <p:spPr>
          <a:xfrm>
            <a:off x="7114032" y="149047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/>
              </a:rPr>
              <a:t>€540/task structural recovery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475488" cy="475488"/>
          </a:xfrm>
          <a:prstGeom prst="ellipse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2" name="Text 10"/>
          <p:cNvSpPr/>
          <p:nvPr/>
        </p:nvSpPr>
        <p:spPr>
          <a:xfrm>
            <a:off x="365760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" y="2670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Set AI floors: 30% minimum floor, 60% efficiency threshold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87552" y="299923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950" dirty="0">
                <a:solidFill>
                  <a:srgbClr val="4A4A6A"/>
                </a:solidFill>
                <a:latin typeface="Calibri"/>
              </a:rPr>
              <a:t>Treat AI adoption as binary per workflow. Below 30%: AI costs more than it produces. Below 60%: positive but not yet efficient. Above 60%: both profit and time dividends consolidate. The 10 to 50% range is worse than either extreme.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114032" y="2724912"/>
            <a:ext cx="1664208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C8E0BB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6" name="Text 14"/>
          <p:cNvSpPr/>
          <p:nvPr/>
        </p:nvSpPr>
        <p:spPr>
          <a:xfrm>
            <a:off x="7114032" y="272491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/>
              </a:rPr>
              <a:t>€242/task lift on migrated volume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75488" cy="475488"/>
          </a:xfrm>
          <a:prstGeom prst="ellipse">
            <a:avLst/>
          </a:prstGeom>
          <a:solidFill>
            <a:srgbClr val="1C1C2E"/>
          </a:solidFill>
          <a:ln w="12700">
            <a:solidFill>
              <a:srgbClr val="0B0B0F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18" name="Text 16"/>
          <p:cNvSpPr/>
          <p:nvPr/>
        </p:nvSpPr>
        <p:spPr>
          <a:xfrm>
            <a:off x="365760" y="39593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Calibri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7552" y="39044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lnSpc>
                <a:spcPct val="114999"/>
              </a:lnSpc>
            </a:pPr>
            <a:r>
              <a:rPr lang="en-US" sz="1050" b="1" dirty="0">
                <a:solidFill>
                  <a:srgbClr val="4A4A6A"/>
                </a:solidFill>
                <a:latin typeface="Calibri"/>
              </a:rPr>
              <a:t>Reposition seniors as AI force multipliers: remove from low AI execution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552" y="423367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sz="950">
                <a:solidFill>
                  <a:srgbClr val="4A4A6A"/>
                </a:solidFill>
                <a:latin typeface="Calibri"/>
              </a:rPr>
              <a:t>Any senior led task must pass two conditions: AI usage &gt;= 60% AND fixed or value based contract. If either fails: reassign or renegotiate before kickoff. Redirect seniors to 80 to 100% AI workflows, complex work, and prompt engineering for the team, where the €3,935 ceiling is actually observed.</a:t>
            </a:r>
          </a:p>
        </p:txBody>
      </p:sp>
      <p:sp>
        <p:nvSpPr>
          <p:cNvPr id="21" name="Shape 19"/>
          <p:cNvSpPr/>
          <p:nvPr/>
        </p:nvSpPr>
        <p:spPr>
          <a:xfrm>
            <a:off x="7114032" y="3959352"/>
            <a:ext cx="1664208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C8E0BB"/>
            </a:solidFill>
            <a:prstDash val="solid"/>
          </a:ln>
        </p:spPr>
        <p:txBody>
          <a:bodyPr wrap="square"/>
          <a:lstStyle/>
          <a:p>
            <a:pPr>
              <a:lnSpc>
                <a:spcPct val="114999"/>
              </a:lnSpc>
            </a:pPr>
            <a:r>
              <a:rPr sz="900" b="1">
                <a:solidFill>
                  <a:srgbClr val="1C1C2E"/>
                </a:solidFill>
                <a:latin typeface="Calibri"/>
              </a:rPr>
              <a:t>50% loss rate → €3,935 ceiling (in the 80 to 100% AI band)</a:t>
            </a:r>
          </a:p>
        </p:txBody>
      </p:sp>
      <p:sp>
        <p:nvSpPr>
          <p:cNvPr id="22" name="Text 20"/>
          <p:cNvSpPr/>
          <p:nvPr/>
        </p:nvSpPr>
        <p:spPr>
          <a:xfrm>
            <a:off x="7114032" y="3959352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F0C040"/>
                </a:solidFill>
                <a:latin typeface="Calibri"/>
              </a:rPr>
              <a:t>THE BOTTOM 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/>
              </a:rPr>
              <a:t>The technology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9898B8"/>
                </a:solidFill>
                <a:latin typeface="Calibri"/>
              </a:rPr>
              <a:t>is doing its job.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7772400" cy="0"/>
          </a:xfrm>
          <a:prstGeom prst="line">
            <a:avLst/>
          </a:prstGeom>
          <a:noFill/>
          <a:ln w="19050">
            <a:solidFill>
              <a:srgbClr val="2A2A44"/>
            </a:solidFill>
            <a:prstDash val="solid"/>
          </a:ln>
        </p:spPr>
        <p:txBody>
          <a:bodyPr wrap="square"/>
          <a:lstStyle/>
          <a:p>
            <a:endParaRPr lang="en-IT"/>
          </a:p>
        </p:txBody>
      </p:sp>
      <p:sp>
        <p:nvSpPr>
          <p:cNvPr id="6" name="Text 4"/>
          <p:cNvSpPr/>
          <p:nvPr/>
        </p:nvSpPr>
        <p:spPr>
          <a:xfrm>
            <a:off x="548640" y="26334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0C040"/>
                </a:solidFill>
                <a:latin typeface="Calibri"/>
              </a:rPr>
              <a:t>The business model is the bottleneck.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1687</Words>
  <Application>Microsoft Macintosh PowerPoint</Application>
  <PresentationFormat>On-screen Show (16:9)</PresentationFormat>
  <Paragraphs>263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alexandra tabarani</cp:lastModifiedBy>
  <cp:revision>5</cp:revision>
  <dcterms:created xsi:type="dcterms:W3CDTF">2026-04-28T12:35:50Z</dcterms:created>
  <dcterms:modified xsi:type="dcterms:W3CDTF">2026-04-28T13:47:57Z</dcterms:modified>
</cp:coreProperties>
</file>
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90" r:id="rId10"/>
    <p:sldId id="284" r:id="rId11"/>
    <p:sldId id="285" r:id="rId12"/>
    <p:sldId id="292" r:id="rId13"/>
    <p:sldId id="287" r:id="rId14"/>
    <p:sldId id="294" r:id="rId15"/>
    <p:sldId id="28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5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3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4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0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A0A0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0A0A0A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0A0A0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0A0A0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0A0A0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0A0A0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A0A0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A0A0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A0A0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A0A0A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0A0A0A"/>
          </a:solidFill>
        </a:defRPr>
      </a:defPPr>
      <a:lvl1pPr marL="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0A0A0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b="1" kern="0" spc="400" dirty="0">
                <a:solidFill>
                  <a:srgbClr val="FF3D6E"/>
                </a:solidFill>
                <a:latin typeface="Inter"/>
              </a:rPr>
              <a:t>AI PRODUCTIVITY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4400" b="1" spc="-50" dirty="0">
                <a:solidFill>
                  <a:srgbClr val="0A0A0A"/>
                </a:solidFill>
                <a:latin typeface="Inter"/>
              </a:rPr>
              <a:t>Does AI Help or</a:t>
            </a:r>
          </a:p>
          <a:p>
            <a:pPr marL="0" indent="0" algn="l">
              <a:buNone/>
            </a:pPr>
            <a:r>
              <a:rPr lang="it-IT" sz="4400" b="1" spc="-50" dirty="0">
                <a:solidFill>
                  <a:srgbClr val="0A0A0A"/>
                </a:solidFill>
                <a:latin typeface="Inter"/>
              </a:rPr>
              <a:t>Hurt the Business?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743200" cy="0"/>
          </a:xfrm>
          <a:prstGeom prst="line">
            <a:avLst/>
          </a:prstGeom>
          <a:noFill/>
          <a:ln w="19050">
            <a:solidFill>
              <a:srgbClr val="FF3D6E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100" b="1" dirty="0">
                <a:solidFill>
                  <a:srgbClr val="0A0A0A"/>
                </a:solidFill>
                <a:latin typeface="Inter"/>
              </a:rPr>
              <a:t>Alexandra Tabarani · Gabriele Loreti · Edoardo Cocciò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100" dirty="0">
                <a:solidFill>
                  <a:srgbClr val="5A5A6E"/>
                </a:solidFill>
                <a:latin typeface="Inter"/>
              </a:rPr>
              <a:t>Presented to Alkemy</a:t>
            </a:r>
          </a:p>
        </p:txBody>
      </p:sp>
    </p:spTree>
    <p:extLst>
      <p:ext uri="{BB962C8B-B14F-4D97-AF65-F5344CB8AC3E}">
        <p14:creationId xmlns:p14="http://schemas.microsoft.com/office/powerpoint/2010/main" val="99502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b="1" kern="0" spc="400" dirty="0">
                <a:solidFill>
                  <a:srgbClr val="FF3D6E"/>
                </a:solidFill>
                <a:latin typeface="Inter"/>
              </a:rPr>
              <a:t>THE QUESTION WE ANSWERED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8229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400" b="1" dirty="0">
                <a:solidFill>
                  <a:srgbClr val="5A5A6E"/>
                </a:solidFill>
                <a:latin typeface="Inter"/>
              </a:rPr>
              <a:t>Does AI help?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41732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2200" b="1" dirty="0">
                <a:latin typeface="Inter"/>
              </a:rPr>
              <a:t>Under what conditions does AI capture margin and under what conditions does it destroy it?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743200" cy="96012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100" dirty="0">
                <a:solidFill>
                  <a:srgbClr val="0A0A0A"/>
                </a:solidFill>
                <a:latin typeface="Inter"/>
              </a:rPr>
              <a:t>At what AI usage level does the profit effect cross zero?</a:t>
            </a:r>
          </a:p>
        </p:txBody>
      </p:sp>
      <p:sp>
        <p:nvSpPr>
          <p:cNvPr id="9" name="Shape 7"/>
          <p:cNvSpPr/>
          <p:nvPr/>
        </p:nvSpPr>
        <p:spPr>
          <a:xfrm>
            <a:off x="3337560" y="3429000"/>
            <a:ext cx="2743200" cy="96012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 dirty="0"/>
          </a:p>
        </p:txBody>
      </p:sp>
      <p:sp>
        <p:nvSpPr>
          <p:cNvPr id="10" name="Text 8"/>
          <p:cNvSpPr/>
          <p:nvPr/>
        </p:nvSpPr>
        <p:spPr>
          <a:xfrm>
            <a:off x="347472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100" dirty="0">
                <a:solidFill>
                  <a:srgbClr val="0A0A0A"/>
                </a:solidFill>
                <a:latin typeface="Inter"/>
              </a:rPr>
              <a:t>What is the mechanism: hours or quality?</a:t>
            </a:r>
          </a:p>
        </p:txBody>
      </p:sp>
      <p:sp>
        <p:nvSpPr>
          <p:cNvPr id="11" name="Shape 9"/>
          <p:cNvSpPr/>
          <p:nvPr/>
        </p:nvSpPr>
        <p:spPr>
          <a:xfrm>
            <a:off x="6217920" y="3429000"/>
            <a:ext cx="2743200" cy="96012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635508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100" dirty="0">
                <a:solidFill>
                  <a:srgbClr val="0A0A0A"/>
                </a:solidFill>
                <a:latin typeface="Inter"/>
              </a:rPr>
              <a:t>Which contract structures capture the productivity dividend?</a:t>
            </a:r>
          </a:p>
        </p:txBody>
      </p:sp>
    </p:spTree>
    <p:extLst>
      <p:ext uri="{BB962C8B-B14F-4D97-AF65-F5344CB8AC3E}">
        <p14:creationId xmlns:p14="http://schemas.microsoft.com/office/powerpoint/2010/main" val="4057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 THE DATA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it-IT" sz="2800" b="1" spc="-30" dirty="0">
                <a:solidFill>
                  <a:srgbClr val="0A0A0A"/>
                </a:solidFill>
                <a:latin typeface="Inter"/>
              </a:rPr>
              <a:t>3,248 raw tasks. 3,016 analyzed after cleaning.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300" dirty="0">
                <a:solidFill>
                  <a:srgbClr val="5A5A6E"/>
                </a:solidFill>
                <a:latin typeface="Inter"/>
              </a:rPr>
              <a:t>Every row is a delivered task with revenue, cost, hours, AI usage, and outcome recorded.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12801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600" b="1" dirty="0">
                <a:latin typeface="Inter"/>
              </a:rPr>
              <a:t>3,016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23545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it-IT" sz="1100" dirty="0">
                <a:solidFill>
                  <a:srgbClr val="5A5A6E"/>
                </a:solidFill>
                <a:latin typeface="Inter"/>
              </a:rPr>
              <a:t>Tasks</a:t>
            </a:r>
            <a:r>
              <a:rPr lang="it-IT" sz="1100" b="1" dirty="0">
                <a:solidFill>
                  <a:srgbClr val="5A5A6E"/>
                </a:solidFill>
                <a:latin typeface="Inter"/>
              </a:rPr>
              <a:t> </a:t>
            </a:r>
            <a:r>
              <a:rPr lang="it-IT" sz="1100" dirty="0">
                <a:solidFill>
                  <a:srgbClr val="5A5A6E"/>
                </a:solidFill>
                <a:latin typeface="Inter"/>
              </a:rPr>
              <a:t>Analyzed</a:t>
            </a:r>
          </a:p>
        </p:txBody>
      </p:sp>
      <p:sp>
        <p:nvSpPr>
          <p:cNvPr id="9" name="Shape 7"/>
          <p:cNvSpPr/>
          <p:nvPr/>
        </p:nvSpPr>
        <p:spPr>
          <a:xfrm>
            <a:off x="2487168" y="1600200"/>
            <a:ext cx="1965960" cy="12801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2487168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600" b="1" dirty="0">
                <a:solidFill>
                  <a:srgbClr val="0A0A0A"/>
                </a:solidFill>
                <a:latin typeface="Inter"/>
              </a:rPr>
              <a:t>4 Teams</a:t>
            </a:r>
          </a:p>
        </p:txBody>
      </p:sp>
      <p:sp>
        <p:nvSpPr>
          <p:cNvPr id="11" name="Text 9"/>
          <p:cNvSpPr/>
          <p:nvPr/>
        </p:nvSpPr>
        <p:spPr>
          <a:xfrm>
            <a:off x="2487168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it-IT" sz="1100" dirty="0">
                <a:solidFill>
                  <a:srgbClr val="5A5A6E"/>
                </a:solidFill>
                <a:latin typeface="Inter"/>
              </a:rPr>
              <a:t>Content · Design · SEO · Media</a:t>
            </a:r>
          </a:p>
        </p:txBody>
      </p:sp>
      <p:sp>
        <p:nvSpPr>
          <p:cNvPr id="12" name="Shape 10"/>
          <p:cNvSpPr/>
          <p:nvPr/>
        </p:nvSpPr>
        <p:spPr>
          <a:xfrm>
            <a:off x="4608576" y="1600200"/>
            <a:ext cx="1965960" cy="12801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608576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600" b="1" dirty="0">
                <a:solidFill>
                  <a:srgbClr val="0A0A0A"/>
                </a:solidFill>
                <a:latin typeface="Inter"/>
              </a:rPr>
              <a:t>3 Levels</a:t>
            </a:r>
          </a:p>
        </p:txBody>
      </p:sp>
      <p:sp>
        <p:nvSpPr>
          <p:cNvPr id="14" name="Text 12"/>
          <p:cNvSpPr/>
          <p:nvPr/>
        </p:nvSpPr>
        <p:spPr>
          <a:xfrm>
            <a:off x="4608576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it-IT" sz="1100" dirty="0">
                <a:solidFill>
                  <a:srgbClr val="5A5A6E"/>
                </a:solidFill>
                <a:latin typeface="Inter"/>
              </a:rPr>
              <a:t>Junior · Mid · Senior</a:t>
            </a:r>
          </a:p>
        </p:txBody>
      </p:sp>
      <p:sp>
        <p:nvSpPr>
          <p:cNvPr id="15" name="Shape 13"/>
          <p:cNvSpPr/>
          <p:nvPr/>
        </p:nvSpPr>
        <p:spPr>
          <a:xfrm>
            <a:off x="6729984" y="1600200"/>
            <a:ext cx="1965960" cy="12801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729984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600" b="1" dirty="0">
                <a:solidFill>
                  <a:srgbClr val="0A0A0A"/>
                </a:solidFill>
                <a:latin typeface="Inter"/>
              </a:rPr>
              <a:t>0 to 100%</a:t>
            </a:r>
          </a:p>
        </p:txBody>
      </p:sp>
      <p:sp>
        <p:nvSpPr>
          <p:cNvPr id="17" name="Text 15"/>
          <p:cNvSpPr/>
          <p:nvPr/>
        </p:nvSpPr>
        <p:spPr>
          <a:xfrm>
            <a:off x="6729984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it-IT" sz="1100" dirty="0">
                <a:solidFill>
                  <a:srgbClr val="5A5A6E"/>
                </a:solidFill>
                <a:latin typeface="Inter"/>
              </a:rPr>
              <a:t>AI Usage Range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KEY VARIABLES TRACKED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ai_usage_pct (0 to 100%)</a:t>
            </a:r>
          </a:p>
        </p:txBody>
      </p:sp>
      <p:sp>
        <p:nvSpPr>
          <p:cNvPr id="21" name="Shape 19"/>
          <p:cNvSpPr/>
          <p:nvPr/>
        </p:nvSpPr>
        <p:spPr>
          <a:xfrm>
            <a:off x="2487168" y="34290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487168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profit = revenue − cost</a:t>
            </a:r>
          </a:p>
        </p:txBody>
      </p:sp>
      <p:sp>
        <p:nvSpPr>
          <p:cNvPr id="23" name="Shape 21"/>
          <p:cNvSpPr/>
          <p:nvPr/>
        </p:nvSpPr>
        <p:spPr>
          <a:xfrm>
            <a:off x="4608576" y="34290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608576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hours_spent</a:t>
            </a:r>
          </a:p>
        </p:txBody>
      </p:sp>
      <p:sp>
        <p:nvSpPr>
          <p:cNvPr id="25" name="Shape 23"/>
          <p:cNvSpPr/>
          <p:nvPr/>
        </p:nvSpPr>
        <p:spPr>
          <a:xfrm>
            <a:off x="6729984" y="34290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729984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rework_hours</a:t>
            </a:r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pricing_model</a:t>
            </a:r>
          </a:p>
        </p:txBody>
      </p:sp>
      <p:sp>
        <p:nvSpPr>
          <p:cNvPr id="29" name="Shape 27"/>
          <p:cNvSpPr/>
          <p:nvPr/>
        </p:nvSpPr>
        <p:spPr>
          <a:xfrm>
            <a:off x="2487168" y="38862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4871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seniority</a:t>
            </a:r>
          </a:p>
        </p:txBody>
      </p:sp>
      <p:sp>
        <p:nvSpPr>
          <p:cNvPr id="31" name="Shape 29"/>
          <p:cNvSpPr/>
          <p:nvPr/>
        </p:nvSpPr>
        <p:spPr>
          <a:xfrm>
            <a:off x="4608576" y="38862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4608576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sla_breach</a:t>
            </a:r>
          </a:p>
        </p:txBody>
      </p:sp>
      <p:sp>
        <p:nvSpPr>
          <p:cNvPr id="33" name="Shape 31"/>
          <p:cNvSpPr/>
          <p:nvPr/>
        </p:nvSpPr>
        <p:spPr>
          <a:xfrm>
            <a:off x="6729984" y="3886200"/>
            <a:ext cx="2011680" cy="3657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6729984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dirty="0">
                <a:solidFill>
                  <a:srgbClr val="0A0A0A"/>
                </a:solidFill>
                <a:latin typeface="Inter"/>
              </a:rPr>
              <a:t>outcome_score</a:t>
            </a:r>
          </a:p>
        </p:txBody>
      </p:sp>
    </p:spTree>
    <p:extLst>
      <p:ext uri="{BB962C8B-B14F-4D97-AF65-F5344CB8AC3E}">
        <p14:creationId xmlns:p14="http://schemas.microsoft.com/office/powerpoint/2010/main" val="82345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 FINDING 1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23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800" b="1" spc="-30" dirty="0">
                <a:solidFill>
                  <a:srgbClr val="0A0A0A"/>
                </a:solidFill>
                <a:latin typeface="Inter"/>
              </a:rPr>
              <a:t>AI works: but only above a threshold</a:t>
            </a:r>
          </a:p>
        </p:txBody>
      </p:sp>
      <p:sp>
        <p:nvSpPr>
          <p:cNvPr id="6" name="Shape 3"/>
          <p:cNvSpPr/>
          <p:nvPr/>
        </p:nvSpPr>
        <p:spPr>
          <a:xfrm>
            <a:off x="102789" y="4066551"/>
            <a:ext cx="2912785" cy="98755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102789" y="4066551"/>
            <a:ext cx="54372" cy="987552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267381" y="4157991"/>
            <a:ext cx="26952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Profit nearly doubles</a:t>
            </a:r>
          </a:p>
        </p:txBody>
      </p:sp>
      <p:sp>
        <p:nvSpPr>
          <p:cNvPr id="9" name="Text 6"/>
          <p:cNvSpPr/>
          <p:nvPr/>
        </p:nvSpPr>
        <p:spPr>
          <a:xfrm>
            <a:off x="267381" y="4414023"/>
            <a:ext cx="26952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5A5A6E"/>
                </a:solidFill>
                <a:latin typeface="Inter"/>
              </a:rPr>
              <a:t>€232 in low band rises to €474 in high band. Medium AI barely moves the needle, the jump happens above 50%.</a:t>
            </a:r>
          </a:p>
        </p:txBody>
      </p:sp>
      <p:sp>
        <p:nvSpPr>
          <p:cNvPr id="10" name="Shape 7"/>
          <p:cNvSpPr/>
          <p:nvPr/>
        </p:nvSpPr>
        <p:spPr>
          <a:xfrm>
            <a:off x="3125794" y="4066551"/>
            <a:ext cx="2666352" cy="98755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3125794" y="4066551"/>
            <a:ext cx="49772" cy="987552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3290386" y="4157991"/>
            <a:ext cx="2467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The 50% phase change</a:t>
            </a:r>
          </a:p>
        </p:txBody>
      </p:sp>
      <p:sp>
        <p:nvSpPr>
          <p:cNvPr id="13" name="Text 10"/>
          <p:cNvSpPr/>
          <p:nvPr/>
        </p:nvSpPr>
        <p:spPr>
          <a:xfrm>
            <a:off x="3290386" y="4414023"/>
            <a:ext cx="246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5A5A6E"/>
                </a:solidFill>
                <a:latin typeface="Inter"/>
              </a:rPr>
              <a:t>Below 50%, gains are modest and barely separable from noise. Above 50%, profit improvement accelerates sharply.</a:t>
            </a:r>
          </a:p>
        </p:txBody>
      </p:sp>
      <p:sp>
        <p:nvSpPr>
          <p:cNvPr id="14" name="Shape 11"/>
          <p:cNvSpPr/>
          <p:nvPr/>
        </p:nvSpPr>
        <p:spPr>
          <a:xfrm>
            <a:off x="5917335" y="4066551"/>
            <a:ext cx="2860905" cy="98755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5917335" y="4066551"/>
            <a:ext cx="53404" cy="987552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081927" y="4157991"/>
            <a:ext cx="26472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Loss rate collapses</a:t>
            </a:r>
          </a:p>
        </p:txBody>
      </p:sp>
      <p:sp>
        <p:nvSpPr>
          <p:cNvPr id="17" name="Text 14"/>
          <p:cNvSpPr/>
          <p:nvPr/>
        </p:nvSpPr>
        <p:spPr>
          <a:xfrm>
            <a:off x="6081927" y="4414023"/>
            <a:ext cx="26472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5A5A6E"/>
                </a:solidFill>
                <a:latin typeface="Inter"/>
              </a:rPr>
              <a:t>SLA breaches fall 44% → 32%. Loss rate drops 31% → 19%. AI de-risks delivery, not just speeds it up.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E60589-EFD9-DFE4-C292-13E0DEB89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"/>
          <a:stretch>
            <a:fillRect/>
          </a:stretch>
        </p:blipFill>
        <p:spPr>
          <a:xfrm>
            <a:off x="804740" y="1206500"/>
            <a:ext cx="7534519" cy="1397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548C85-BAAA-6E60-4609-FAE931AB8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933" y="2667000"/>
            <a:ext cx="5518169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7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 FINDING 2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800" b="1" spc="-30" dirty="0">
                <a:solidFill>
                  <a:srgbClr val="0A0A0A"/>
                </a:solidFill>
                <a:latin typeface="Inter"/>
              </a:rPr>
              <a:t>The mechanism is hours, not quality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49808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300" dirty="0">
                <a:solidFill>
                  <a:srgbClr val="0A0A0A"/>
                </a:solidFill>
                <a:latin typeface="Inter"/>
              </a:rPr>
              <a:t>Once </a:t>
            </a:r>
            <a:r>
              <a:rPr lang="it-IT" sz="1300" b="1" dirty="0">
                <a:solidFill>
                  <a:srgbClr val="0A0A0A"/>
                </a:solidFill>
                <a:latin typeface="Inter"/>
              </a:rPr>
              <a:t>hours_spent</a:t>
            </a:r>
            <a:r>
              <a:rPr lang="it-IT" sz="1300" dirty="0">
                <a:solidFill>
                  <a:srgbClr val="0A0A0A"/>
                </a:solidFill>
                <a:latin typeface="Inter"/>
              </a:rPr>
              <a:t> enters the OLS model, errors, revisions, rework and outcome_score all become statistically insignificant </a:t>
            </a:r>
            <a:r>
              <a:rPr lang="it-IT" sz="1300" b="1" dirty="0">
                <a:solidFill>
                  <a:srgbClr val="FF3D6E"/>
                </a:solidFill>
                <a:latin typeface="Inter"/>
              </a:rPr>
              <a:t>(p &gt; 0.4)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14800" cy="2606040"/>
          </a:xfr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IT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HOW AI ACTS ON PROFIT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b="1" dirty="0">
                <a:solidFill>
                  <a:srgbClr val="FFFFFF"/>
                </a:solidFill>
                <a:latin typeface="Inter"/>
              </a:rPr>
              <a:t>AI compresses hours.</a:t>
            </a:r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C8C8D2"/>
                </a:solidFill>
                <a:latin typeface="Inter"/>
              </a:rPr>
              <a:t>The contract decides where those hours go: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840480" cy="384048"/>
          </a:xfrm>
          <a:solidFill>
            <a:srgbClr val="1A2918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 dirty="0">
                <a:solidFill>
                  <a:srgbClr val="6BE07F"/>
                </a:solidFill>
                <a:latin typeface="Inter"/>
              </a:rPr>
              <a:t>↑ Agency margin (fixed / value-based)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840480" cy="384048"/>
          </a:xfrm>
          <a:solidFill>
            <a:srgbClr val="2A1815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 dirty="0">
                <a:solidFill>
                  <a:srgbClr val="FF6B7A"/>
                </a:solidFill>
                <a:latin typeface="Inter"/>
              </a:rPr>
              <a:t>↓ Client discount (hourly)</a:t>
            </a:r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i="1" dirty="0">
                <a:solidFill>
                  <a:srgbClr val="C8C8D2"/>
                </a:solidFill>
                <a:latin typeface="Inter"/>
              </a:rPr>
              <a:t>Net efficiency: −2.0 hrs saved + 0.9 hrs rework = 1.1 hrs net gain per task</a:t>
            </a:r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OLS COEFFICIENTS</a:t>
            </a:r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34747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2095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ai_usage_pct coefficient (OLS)</a:t>
            </a:r>
          </a:p>
        </p:txBody>
      </p:sp>
      <p:sp>
        <p:nvSpPr>
          <p:cNvPr id="19" name="Text 17"/>
          <p:cNvSpPr/>
          <p:nvPr/>
        </p:nvSpPr>
        <p:spPr>
          <a:xfrm>
            <a:off x="7086600" y="2423160"/>
            <a:ext cx="165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000" b="1" dirty="0">
                <a:solidFill>
                  <a:srgbClr val="0A0A0A"/>
                </a:solidFill>
                <a:latin typeface="Inter"/>
              </a:rPr>
              <a:t>+€222 at full adoption (p=0.015)</a:t>
            </a:r>
          </a:p>
        </p:txBody>
      </p:sp>
      <p:sp>
        <p:nvSpPr>
          <p:cNvPr id="20" name="Shape 18"/>
          <p:cNvSpPr/>
          <p:nvPr/>
        </p:nvSpPr>
        <p:spPr>
          <a:xfrm>
            <a:off x="4754880" y="2816352"/>
            <a:ext cx="4023360" cy="34747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2095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hours_spent coefficient</a:t>
            </a:r>
          </a:p>
        </p:txBody>
      </p:sp>
      <p:sp>
        <p:nvSpPr>
          <p:cNvPr id="22" name="Text 20"/>
          <p:cNvSpPr/>
          <p:nvPr/>
        </p:nvSpPr>
        <p:spPr>
          <a:xfrm>
            <a:off x="7086600" y="2816352"/>
            <a:ext cx="165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000" b="1" dirty="0">
                <a:solidFill>
                  <a:srgbClr val="0A0A0A"/>
                </a:solidFill>
                <a:latin typeface="Inter"/>
              </a:rPr>
              <a:t>−€5/hr (p=0.034)</a:t>
            </a:r>
          </a:p>
        </p:txBody>
      </p:sp>
      <p:sp>
        <p:nvSpPr>
          <p:cNvPr id="23" name="Shape 21"/>
          <p:cNvSpPr/>
          <p:nvPr/>
        </p:nvSpPr>
        <p:spPr>
          <a:xfrm>
            <a:off x="4754880" y="3209544"/>
            <a:ext cx="4023360" cy="34747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846320" y="3209544"/>
            <a:ext cx="2095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Quality vars once hours enter</a:t>
            </a:r>
          </a:p>
        </p:txBody>
      </p:sp>
      <p:sp>
        <p:nvSpPr>
          <p:cNvPr id="25" name="Text 23"/>
          <p:cNvSpPr/>
          <p:nvPr/>
        </p:nvSpPr>
        <p:spPr>
          <a:xfrm>
            <a:off x="7086600" y="3209544"/>
            <a:ext cx="165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000" b="1" dirty="0">
                <a:solidFill>
                  <a:srgbClr val="0A0A0A"/>
                </a:solidFill>
                <a:latin typeface="Inter"/>
              </a:rPr>
              <a:t>All insignificant p&gt;0.4</a:t>
            </a:r>
          </a:p>
        </p:txBody>
      </p:sp>
      <p:sp>
        <p:nvSpPr>
          <p:cNvPr id="26" name="Shape 24"/>
          <p:cNvSpPr/>
          <p:nvPr/>
        </p:nvSpPr>
        <p:spPr>
          <a:xfrm>
            <a:off x="4754880" y="3602736"/>
            <a:ext cx="4023360" cy="34747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846320" y="3602736"/>
            <a:ext cx="2095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Rework quadratic term</a:t>
            </a:r>
          </a:p>
        </p:txBody>
      </p:sp>
      <p:sp>
        <p:nvSpPr>
          <p:cNvPr id="28" name="Text 26"/>
          <p:cNvSpPr/>
          <p:nvPr/>
        </p:nvSpPr>
        <p:spPr>
          <a:xfrm>
            <a:off x="7086600" y="3602736"/>
            <a:ext cx="165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000" b="1" dirty="0">
                <a:solidFill>
                  <a:srgbClr val="0A0A0A"/>
                </a:solidFill>
                <a:latin typeface="Inter"/>
              </a:rPr>
              <a:t>p=0.605, no tipping point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3995928"/>
            <a:ext cx="4023360" cy="347472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4846320" y="3995928"/>
            <a:ext cx="2095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AI × rework interaction</a:t>
            </a:r>
          </a:p>
        </p:txBody>
      </p:sp>
      <p:sp>
        <p:nvSpPr>
          <p:cNvPr id="31" name="Text 29"/>
          <p:cNvSpPr/>
          <p:nvPr/>
        </p:nvSpPr>
        <p:spPr>
          <a:xfrm>
            <a:off x="7086600" y="3995928"/>
            <a:ext cx="165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it-IT" sz="1000" b="1" dirty="0">
                <a:solidFill>
                  <a:srgbClr val="0A0A0A"/>
                </a:solidFill>
                <a:latin typeface="Inter"/>
              </a:rPr>
              <a:t>p=0.80, not a quality channel</a:t>
            </a:r>
          </a:p>
        </p:txBody>
      </p:sp>
    </p:spTree>
    <p:extLst>
      <p:ext uri="{BB962C8B-B14F-4D97-AF65-F5344CB8AC3E}">
        <p14:creationId xmlns:p14="http://schemas.microsoft.com/office/powerpoint/2010/main" val="341837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C8F075-18B1-AA84-8B24-24A425927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67" y="2547311"/>
            <a:ext cx="5842495" cy="2571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0EC1FE-D8FC-BE3A-5D88-11C349826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778" y="272051"/>
            <a:ext cx="5903250" cy="2074781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0D21DE71-438E-3302-787C-CB83993EF132}"/>
              </a:ext>
            </a:extLst>
          </p:cNvPr>
          <p:cNvSpPr/>
          <p:nvPr/>
        </p:nvSpPr>
        <p:spPr>
          <a:xfrm>
            <a:off x="122981" y="1218002"/>
            <a:ext cx="2950960" cy="10515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2A87841-8765-3E85-A8EF-7C644A20D557}"/>
              </a:ext>
            </a:extLst>
          </p:cNvPr>
          <p:cNvSpPr/>
          <p:nvPr/>
        </p:nvSpPr>
        <p:spPr>
          <a:xfrm>
            <a:off x="122981" y="1218002"/>
            <a:ext cx="60755" cy="10515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B47BFCC-0FE3-F7BA-DC9E-65B8084DC3BA}"/>
              </a:ext>
            </a:extLst>
          </p:cNvPr>
          <p:cNvSpPr/>
          <p:nvPr/>
        </p:nvSpPr>
        <p:spPr>
          <a:xfrm>
            <a:off x="287573" y="1309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The Net Gain Pivot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60F2ED3-4496-A4F1-C98B-462BF4186F74}"/>
              </a:ext>
            </a:extLst>
          </p:cNvPr>
          <p:cNvSpPr/>
          <p:nvPr/>
        </p:nvSpPr>
        <p:spPr>
          <a:xfrm>
            <a:off x="287573" y="1565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AI is a net time loss until crossing the </a:t>
            </a:r>
            <a:r>
              <a:rPr lang="it-IT" sz="1000" b="1" dirty="0">
                <a:solidFill>
                  <a:srgbClr val="0A0A0A"/>
                </a:solidFill>
                <a:latin typeface="Inter"/>
              </a:rPr>
              <a:t>50–60% usage threshold</a:t>
            </a:r>
            <a:r>
              <a:rPr lang="it-IT" sz="1000" dirty="0">
                <a:solidFill>
                  <a:srgbClr val="5A5A6E"/>
                </a:solidFill>
                <a:latin typeface="Inter"/>
              </a:rPr>
              <a:t>. Below it, rework cancels out gains; above it, speed wins.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4784FD9-E411-B005-C1ED-EFE16D8AAC21}"/>
              </a:ext>
            </a:extLst>
          </p:cNvPr>
          <p:cNvSpPr/>
          <p:nvPr/>
        </p:nvSpPr>
        <p:spPr>
          <a:xfrm>
            <a:off x="122981" y="2361002"/>
            <a:ext cx="2950960" cy="10515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2F93E70-1CB9-EB11-B464-65DC0B17B8B4}"/>
              </a:ext>
            </a:extLst>
          </p:cNvPr>
          <p:cNvSpPr/>
          <p:nvPr/>
        </p:nvSpPr>
        <p:spPr>
          <a:xfrm>
            <a:off x="122981" y="2361002"/>
            <a:ext cx="60755" cy="10515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07179E-29F2-08FF-6C41-EB66F3328A58}"/>
              </a:ext>
            </a:extLst>
          </p:cNvPr>
          <p:cNvSpPr/>
          <p:nvPr/>
        </p:nvSpPr>
        <p:spPr>
          <a:xfrm>
            <a:off x="287573" y="2452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The Production Swap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91D2A5A-00C3-C0DC-0675-FE7470BC684D}"/>
              </a:ext>
            </a:extLst>
          </p:cNvPr>
          <p:cNvSpPr/>
          <p:nvPr/>
        </p:nvSpPr>
        <p:spPr>
          <a:xfrm>
            <a:off x="287573" y="2708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High AI cuts </a:t>
            </a:r>
            <a:r>
              <a:rPr lang="it-IT" sz="1000" b="1" dirty="0">
                <a:solidFill>
                  <a:srgbClr val="0A0A0A"/>
                </a:solidFill>
                <a:latin typeface="Inter"/>
              </a:rPr>
              <a:t>hours spent</a:t>
            </a:r>
            <a:r>
              <a:rPr lang="it-IT" sz="1000" dirty="0">
                <a:solidFill>
                  <a:srgbClr val="5A5A6E"/>
                </a:solidFill>
                <a:latin typeface="Inter"/>
              </a:rPr>
              <a:t> but raises </a:t>
            </a:r>
            <a:r>
              <a:rPr lang="it-IT" sz="1000" b="1" dirty="0">
                <a:solidFill>
                  <a:srgbClr val="0A0A0A"/>
                </a:solidFill>
                <a:latin typeface="Inter"/>
              </a:rPr>
              <a:t>rework hours</a:t>
            </a:r>
            <a:r>
              <a:rPr lang="it-IT" sz="1000" dirty="0">
                <a:solidFill>
                  <a:srgbClr val="5A5A6E"/>
                </a:solidFill>
                <a:latin typeface="Inter"/>
              </a:rPr>
              <a:t>. The labor model shifts from creation to iteration.</a:t>
            </a: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2780727-8E77-031B-1100-CCD737316F4B}"/>
              </a:ext>
            </a:extLst>
          </p:cNvPr>
          <p:cNvSpPr/>
          <p:nvPr/>
        </p:nvSpPr>
        <p:spPr>
          <a:xfrm>
            <a:off x="122981" y="3504002"/>
            <a:ext cx="2950960" cy="10515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37C3395-6FA6-9926-089A-AF3070F7EF07}"/>
              </a:ext>
            </a:extLst>
          </p:cNvPr>
          <p:cNvSpPr/>
          <p:nvPr/>
        </p:nvSpPr>
        <p:spPr>
          <a:xfrm>
            <a:off x="122981" y="3504002"/>
            <a:ext cx="60755" cy="10515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BF8EA27-AAF9-8526-D0D6-2CF3182F74B9}"/>
              </a:ext>
            </a:extLst>
          </p:cNvPr>
          <p:cNvSpPr/>
          <p:nvPr/>
        </p:nvSpPr>
        <p:spPr>
          <a:xfrm>
            <a:off x="287573" y="3595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Quality Stability</a:t>
            </a: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4AA3621-4079-1A8C-EE5F-4345A1499A64}"/>
              </a:ext>
            </a:extLst>
          </p:cNvPr>
          <p:cNvSpPr/>
          <p:nvPr/>
        </p:nvSpPr>
        <p:spPr>
          <a:xfrm>
            <a:off x="287573" y="3851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Average </a:t>
            </a:r>
            <a:r>
              <a:rPr lang="it-IT" sz="1000" b="1" dirty="0">
                <a:solidFill>
                  <a:srgbClr val="0A0A0A"/>
                </a:solidFill>
                <a:latin typeface="Inter"/>
              </a:rPr>
              <a:t>outcome score</a:t>
            </a:r>
            <a:r>
              <a:rPr lang="it-IT" sz="1000" dirty="0">
                <a:solidFill>
                  <a:srgbClr val="5A5A6E"/>
                </a:solidFill>
                <a:latin typeface="Inter"/>
              </a:rPr>
              <a:t> stays stable, but the worst decile worsens at high AI usage.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C49C3-C7EC-7C28-33A6-2A50EF54EF3D}"/>
              </a:ext>
            </a:extLst>
          </p:cNvPr>
          <p:cNvSpPr txBox="1"/>
          <p:nvPr/>
        </p:nvSpPr>
        <p:spPr>
          <a:xfrm>
            <a:off x="122981" y="401913"/>
            <a:ext cx="295096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000" b="1" spc="-30" dirty="0">
                <a:solidFill>
                  <a:srgbClr val="0A0A0A"/>
                </a:solidFill>
                <a:latin typeface="Inter"/>
              </a:rPr>
              <a:t>The Efficiency Dividend</a:t>
            </a:r>
          </a:p>
          <a:p>
            <a:pPr algn="l">
              <a:buNone/>
            </a:pPr>
            <a:r>
              <a:rPr lang="it-IT" sz="1300" dirty="0">
                <a:solidFill>
                  <a:srgbClr val="5A5A6E"/>
                </a:solidFill>
                <a:latin typeface="Inter"/>
              </a:rPr>
              <a:t>Trading rework for speed</a:t>
            </a:r>
          </a:p>
        </p:txBody>
      </p:sp>
    </p:spTree>
    <p:extLst>
      <p:ext uri="{BB962C8B-B14F-4D97-AF65-F5344CB8AC3E}">
        <p14:creationId xmlns:p14="http://schemas.microsoft.com/office/powerpoint/2010/main" val="194148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 FINDING 3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2300"/>
            <a:ext cx="822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600" b="1" spc="-30" dirty="0">
                <a:solidFill>
                  <a:srgbClr val="0A0A0A"/>
                </a:solidFill>
                <a:latin typeface="Inter"/>
              </a:rPr>
              <a:t>The pricing model is the bottleneck, not the technology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397000"/>
            <a:ext cx="2606040" cy="2606040"/>
          </a:xfr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1473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6400" b="1" spc="-50" dirty="0">
                <a:solidFill>
                  <a:srgbClr val="FF3D6E"/>
                </a:solidFill>
                <a:latin typeface="Inter"/>
              </a:rPr>
              <a:t>€870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27305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it-IT" sz="1200" dirty="0">
                <a:solidFill>
                  <a:srgbClr val="5A5A6E"/>
                </a:solidFill>
                <a:latin typeface="Inter"/>
              </a:rPr>
              <a:t>per-task gap between</a:t>
            </a:r>
          </a:p>
          <a:p>
            <a:pPr algn="ctr"/>
            <a:r>
              <a:rPr lang="it-IT" sz="1200" b="1" dirty="0">
                <a:solidFill>
                  <a:srgbClr val="5A5A6E"/>
                </a:solidFill>
                <a:latin typeface="Inter"/>
              </a:rPr>
              <a:t>hourly (€202) and value-based (€1,073)</a:t>
            </a:r>
          </a:p>
          <a:p>
            <a:pPr algn="ctr"/>
            <a:r>
              <a:rPr lang="it-IT" sz="1100" dirty="0">
                <a:solidFill>
                  <a:srgbClr val="5A5A6E"/>
                </a:solidFill>
                <a:latin typeface="Inter"/>
              </a:rPr>
              <a:t>at high AI usage</a:t>
            </a:r>
          </a:p>
        </p:txBody>
      </p:sp>
      <p:sp>
        <p:nvSpPr>
          <p:cNvPr id="9" name="Shape 6"/>
          <p:cNvSpPr/>
          <p:nvPr/>
        </p:nvSpPr>
        <p:spPr>
          <a:xfrm>
            <a:off x="365760" y="4318000"/>
            <a:ext cx="2011680" cy="63500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57200" y="4368800"/>
            <a:ext cx="182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OLS: Hourly vs Fixed</a:t>
            </a:r>
          </a:p>
        </p:txBody>
      </p:sp>
      <p:sp>
        <p:nvSpPr>
          <p:cNvPr id="11" name="Text 8"/>
          <p:cNvSpPr/>
          <p:nvPr/>
        </p:nvSpPr>
        <p:spPr>
          <a:xfrm>
            <a:off x="457200" y="46355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300" b="1" dirty="0">
                <a:solidFill>
                  <a:srgbClr val="C92847"/>
                </a:solidFill>
                <a:latin typeface="Inter"/>
              </a:rPr>
              <a:t>-€254 / task</a:t>
            </a:r>
          </a:p>
        </p:txBody>
      </p:sp>
      <p:sp>
        <p:nvSpPr>
          <p:cNvPr id="12" name="Shape 9"/>
          <p:cNvSpPr/>
          <p:nvPr/>
        </p:nvSpPr>
        <p:spPr>
          <a:xfrm>
            <a:off x="2514600" y="4318000"/>
            <a:ext cx="2011680" cy="63500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2606040" y="4368800"/>
            <a:ext cx="182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OLS: Value vs Fixed</a:t>
            </a:r>
          </a:p>
        </p:txBody>
      </p:sp>
      <p:sp>
        <p:nvSpPr>
          <p:cNvPr id="14" name="Text 11"/>
          <p:cNvSpPr/>
          <p:nvPr/>
        </p:nvSpPr>
        <p:spPr>
          <a:xfrm>
            <a:off x="2606040" y="46355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300" b="1" dirty="0">
                <a:solidFill>
                  <a:srgbClr val="1F8F4A"/>
                </a:solidFill>
                <a:latin typeface="Inter"/>
              </a:rPr>
              <a:t>+€286 / task</a:t>
            </a:r>
          </a:p>
        </p:txBody>
      </p:sp>
      <p:sp>
        <p:nvSpPr>
          <p:cNvPr id="15" name="Shape 12"/>
          <p:cNvSpPr/>
          <p:nvPr/>
        </p:nvSpPr>
        <p:spPr>
          <a:xfrm>
            <a:off x="4663440" y="4318000"/>
            <a:ext cx="2011680" cy="63500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4754880" y="4368800"/>
            <a:ext cx="182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AI × Hourly interaction</a:t>
            </a:r>
          </a:p>
        </p:txBody>
      </p:sp>
      <p:sp>
        <p:nvSpPr>
          <p:cNvPr id="17" name="Text 14"/>
          <p:cNvSpPr/>
          <p:nvPr/>
        </p:nvSpPr>
        <p:spPr>
          <a:xfrm>
            <a:off x="4754880" y="46355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300" b="1" dirty="0">
                <a:solidFill>
                  <a:srgbClr val="C92847"/>
                </a:solidFill>
                <a:latin typeface="Inter"/>
              </a:rPr>
              <a:t>-€701 (p&lt;0.001)</a:t>
            </a:r>
          </a:p>
        </p:txBody>
      </p:sp>
      <p:sp>
        <p:nvSpPr>
          <p:cNvPr id="18" name="Shape 15"/>
          <p:cNvSpPr/>
          <p:nvPr/>
        </p:nvSpPr>
        <p:spPr>
          <a:xfrm>
            <a:off x="6812280" y="4318000"/>
            <a:ext cx="2011680" cy="63500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 dirty="0"/>
          </a:p>
        </p:txBody>
      </p:sp>
      <p:sp>
        <p:nvSpPr>
          <p:cNvPr id="19" name="Text 16"/>
          <p:cNvSpPr/>
          <p:nvPr/>
        </p:nvSpPr>
        <p:spPr>
          <a:xfrm>
            <a:off x="6903720" y="4368800"/>
            <a:ext cx="182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Hourly loss rate</a:t>
            </a:r>
          </a:p>
        </p:txBody>
      </p:sp>
      <p:sp>
        <p:nvSpPr>
          <p:cNvPr id="20" name="Text 17"/>
          <p:cNvSpPr/>
          <p:nvPr/>
        </p:nvSpPr>
        <p:spPr>
          <a:xfrm>
            <a:off x="6903720" y="46355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t-IT" sz="1300" b="1" dirty="0">
                <a:solidFill>
                  <a:srgbClr val="C92847"/>
                </a:solidFill>
                <a:latin typeface="Inter"/>
              </a:rPr>
              <a:t>34% vs 16%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9B3521-E731-8D6A-66D5-3FF9BA7E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349" y="1587500"/>
            <a:ext cx="5712898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9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 FINDING 4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800" b="1" spc="-30" dirty="0">
                <a:solidFill>
                  <a:srgbClr val="0A0A0A"/>
                </a:solidFill>
                <a:latin typeface="Inter"/>
              </a:rPr>
              <a:t>Not all work responds equally to AI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234440"/>
          <a:ext cx="8412480" cy="29443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/>
                        </a:rPr>
                        <a:t>Task 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/>
                        </a:rPr>
                        <a:t>Profit, Low AI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/>
                        </a:rPr>
                        <a:t>Profit, High AI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/>
                        </a:rPr>
                        <a:t>Multiplier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/>
                        </a:rPr>
                        <a:t>Recommendation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Release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€146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€701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4.8×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Push to 70 to 80%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Dev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€297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€587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2.0×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Push to 70 to 80%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Report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€311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€559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1.8×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Push to 70 to 80%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Design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€236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€550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2.3×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0A0A"/>
                          </a:solidFill>
                          <a:latin typeface="Inter"/>
                        </a:rPr>
                        <a:t>Push to 60 to 70%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Article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€318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€368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1.2×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Cap at 25 to 50%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Ad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€205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A0A0A"/>
                          </a:solidFill>
                          <a:latin typeface="Inter"/>
                        </a:rPr>
                        <a:t>€266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0A0A"/>
                          </a:solidFill>
                          <a:latin typeface="Inter"/>
                        </a:rPr>
                        <a:t>Peaks at medium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A0A0A"/>
                          </a:solidFill>
                          <a:latin typeface="Inter"/>
                        </a:rPr>
                        <a:t>Cap at 25 to 50%</a:t>
                      </a:r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5A5A6E"/>
                </a:solidFill>
                <a:latin typeface="Inter"/>
              </a:rPr>
              <a:t>Push AI hard on </a:t>
            </a:r>
            <a:r>
              <a:rPr lang="it-IT" sz="1100" b="1" dirty="0">
                <a:solidFill>
                  <a:srgbClr val="0A0A0A"/>
                </a:solidFill>
                <a:latin typeface="Inter"/>
              </a:rPr>
              <a:t>Release, Dev, Report</a:t>
            </a:r>
            <a:r>
              <a:rPr lang="it-IT" sz="1100" dirty="0">
                <a:solidFill>
                  <a:srgbClr val="5A5A6E"/>
                </a:solidFill>
                <a:latin typeface="Inter"/>
              </a:rPr>
              <a:t>. For </a:t>
            </a:r>
            <a:r>
              <a:rPr lang="it-IT" sz="1100" b="1" dirty="0">
                <a:solidFill>
                  <a:srgbClr val="0A0A0A"/>
                </a:solidFill>
                <a:latin typeface="Inter"/>
              </a:rPr>
              <a:t>Article and Ad</a:t>
            </a:r>
            <a:r>
              <a:rPr lang="it-IT" sz="1100" dirty="0">
                <a:solidFill>
                  <a:srgbClr val="5A5A6E"/>
                </a:solidFill>
                <a:latin typeface="Inter"/>
              </a:rPr>
              <a:t>, performance peaks in the medium band — cap at 25–50%.</a:t>
            </a:r>
          </a:p>
        </p:txBody>
      </p:sp>
    </p:spTree>
    <p:extLst>
      <p:ext uri="{BB962C8B-B14F-4D97-AF65-F5344CB8AC3E}">
        <p14:creationId xmlns:p14="http://schemas.microsoft.com/office/powerpoint/2010/main" val="213143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 FINDING 5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800" b="1" spc="-30" dirty="0">
                <a:solidFill>
                  <a:srgbClr val="0A0A0A"/>
                </a:solidFill>
                <a:latin typeface="Inter"/>
              </a:rPr>
              <a:t>Seniority is your biggest risk variable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69080" cy="361188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b="1" spc="300" dirty="0">
                <a:solidFill>
                  <a:srgbClr val="C92847"/>
                </a:solidFill>
                <a:latin typeface="Inter"/>
              </a:rPr>
              <a:t>SENIORS AT LOW AI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6400" b="1" spc="-50" dirty="0">
                <a:solidFill>
                  <a:srgbClr val="C92847"/>
                </a:solidFill>
                <a:latin typeface="Inter"/>
              </a:rPr>
              <a:t>50%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b="1" dirty="0">
                <a:solidFill>
                  <a:srgbClr val="0A0A0A"/>
                </a:solidFill>
                <a:latin typeface="Inter"/>
              </a:rPr>
              <a:t>loss rate — worst in the workforce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dirty="0">
                <a:solidFill>
                  <a:srgbClr val="5A5A6E"/>
                </a:solidFill>
                <a:latin typeface="Inter"/>
              </a:rPr>
              <a:t>Senior billing rates can't justify manual execution. Each seniority level costs −€173/task at baseline; every unassisted senior hour compresses margin.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3794760" cy="502920"/>
          </a:xfrm>
          <a:solidFill>
            <a:srgbClr val="C92847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59436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latin typeface="Inter"/>
              </a:rPr>
              <a:t>AI isn't optional for seniors — it's the only viable config</a:t>
            </a:r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069080" cy="361188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b="1" spc="300" dirty="0">
                <a:solidFill>
                  <a:srgbClr val="1F8F4A"/>
                </a:solidFill>
                <a:latin typeface="Inter"/>
              </a:rPr>
              <a:t>SENIORS AT HIGH AI + RIGHT CONTRACT</a:t>
            </a:r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5400" b="1" spc="-50" dirty="0">
                <a:solidFill>
                  <a:srgbClr val="1F8F4A"/>
                </a:solidFill>
                <a:latin typeface="Inter"/>
              </a:rPr>
              <a:t>€3,935</a:t>
            </a:r>
          </a:p>
        </p:txBody>
      </p:sp>
      <p:sp>
        <p:nvSpPr>
          <p:cNvPr id="15" name="Text 13"/>
          <p:cNvSpPr/>
          <p:nvPr/>
        </p:nvSpPr>
        <p:spPr>
          <a:xfrm>
            <a:off x="484632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100" b="1" dirty="0">
                <a:solidFill>
                  <a:srgbClr val="0A0A0A"/>
                </a:solidFill>
                <a:latin typeface="Inter"/>
              </a:rPr>
              <a:t>mean profit per task (~8× dataset median)</a:t>
            </a:r>
          </a:p>
        </p:txBody>
      </p:sp>
      <p:sp>
        <p:nvSpPr>
          <p:cNvPr id="16" name="Text 14"/>
          <p:cNvSpPr/>
          <p:nvPr/>
        </p:nvSpPr>
        <p:spPr>
          <a:xfrm>
            <a:off x="4846320" y="31272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dirty="0">
                <a:solidFill>
                  <a:srgbClr val="5A5A6E"/>
                </a:solidFill>
                <a:latin typeface="Inter"/>
              </a:rPr>
              <a:t>AI × seniority interaction: +€359/level (p=0.002). At senior: +€718 interaction gain vs −€346 cost drag — net reversal.</a:t>
            </a:r>
          </a:p>
        </p:txBody>
      </p:sp>
      <p:sp>
        <p:nvSpPr>
          <p:cNvPr id="17" name="Shape 15"/>
          <p:cNvSpPr/>
          <p:nvPr/>
        </p:nvSpPr>
        <p:spPr>
          <a:xfrm>
            <a:off x="4846320" y="3858768"/>
            <a:ext cx="3794760" cy="502920"/>
          </a:xfrm>
          <a:solidFill>
            <a:srgbClr val="1F8F4A"/>
          </a:solidFill>
          <a:ln>
            <a:noFill/>
          </a:ln>
        </p:spPr>
        <p:txBody>
          <a:bodyPr/>
          <a:lstStyle/>
          <a:p>
            <a:r>
              <a:rPr sz="950" dirty="0">
                <a:solidFill>
                  <a:schemeClr val="accent4"/>
                </a:solidFill>
              </a:rPr>
              <a:t>Condition: fixed or value based contract, with the €3,935 ceiling observed specifically in the 80 to 100% AI band.</a:t>
            </a:r>
          </a:p>
        </p:txBody>
      </p:sp>
      <p:sp>
        <p:nvSpPr>
          <p:cNvPr id="18" name="Text 16"/>
          <p:cNvSpPr/>
          <p:nvPr/>
        </p:nvSpPr>
        <p:spPr>
          <a:xfrm>
            <a:off x="493776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latin typeface="Inter"/>
              </a:rPr>
              <a:t>Seniors become the highest-value asset</a:t>
            </a:r>
          </a:p>
        </p:txBody>
      </p:sp>
    </p:spTree>
    <p:extLst>
      <p:ext uri="{BB962C8B-B14F-4D97-AF65-F5344CB8AC3E}">
        <p14:creationId xmlns:p14="http://schemas.microsoft.com/office/powerpoint/2010/main" val="378230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1729"/>
            <a:ext cx="1533832" cy="329479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3" name="Text 1"/>
          <p:cNvSpPr/>
          <p:nvPr/>
        </p:nvSpPr>
        <p:spPr>
          <a:xfrm>
            <a:off x="527992" y="242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THE REWORK PARADOX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400" b="1" spc="-30" dirty="0">
                <a:solidFill>
                  <a:srgbClr val="0A0A0A"/>
                </a:solidFill>
                <a:latin typeface="Inter"/>
              </a:rPr>
              <a:t>The business gets financially safer by getting operationally messier</a:t>
            </a:r>
          </a:p>
        </p:txBody>
      </p:sp>
      <p:sp>
        <p:nvSpPr>
          <p:cNvPr id="6" name="Shape 3"/>
          <p:cNvSpPr/>
          <p:nvPr/>
        </p:nvSpPr>
        <p:spPr>
          <a:xfrm>
            <a:off x="5868785" y="1147156"/>
            <a:ext cx="3108960" cy="10515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5868785" y="1147156"/>
            <a:ext cx="64008" cy="10515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6033377" y="1238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The profitability paradox</a:t>
            </a:r>
          </a:p>
        </p:txBody>
      </p:sp>
      <p:sp>
        <p:nvSpPr>
          <p:cNvPr id="9" name="Text 6"/>
          <p:cNvSpPr/>
          <p:nvPr/>
        </p:nvSpPr>
        <p:spPr>
          <a:xfrm>
            <a:off x="6033377" y="1494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Loss rate falls 31% → 19% while rework rises to 32%. Speed creates an efficiency cushion that absorbs correction cost.</a:t>
            </a:r>
          </a:p>
        </p:txBody>
      </p:sp>
      <p:sp>
        <p:nvSpPr>
          <p:cNvPr id="10" name="Shape 7"/>
          <p:cNvSpPr/>
          <p:nvPr/>
        </p:nvSpPr>
        <p:spPr>
          <a:xfrm>
            <a:off x="5868785" y="2290156"/>
            <a:ext cx="3108960" cy="10515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5868785" y="2290156"/>
            <a:ext cx="64008" cy="10515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6033377" y="2381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The critical pivot: 50–60%</a:t>
            </a:r>
          </a:p>
        </p:txBody>
      </p:sp>
      <p:sp>
        <p:nvSpPr>
          <p:cNvPr id="13" name="Text 10"/>
          <p:cNvSpPr/>
          <p:nvPr/>
        </p:nvSpPr>
        <p:spPr>
          <a:xfrm>
            <a:off x="6033377" y="2637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Between 50–60% AI usage the business crosses from high-loss to high-rework, low-risk. This is operational break-even.</a:t>
            </a:r>
          </a:p>
        </p:txBody>
      </p:sp>
      <p:sp>
        <p:nvSpPr>
          <p:cNvPr id="14" name="Shape 11"/>
          <p:cNvSpPr/>
          <p:nvPr/>
        </p:nvSpPr>
        <p:spPr>
          <a:xfrm>
            <a:off x="5868785" y="3433156"/>
            <a:ext cx="3108960" cy="105156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5868785" y="3433156"/>
            <a:ext cx="64008" cy="1051560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033377" y="3524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Rework is not failure</a:t>
            </a:r>
          </a:p>
        </p:txBody>
      </p:sp>
      <p:sp>
        <p:nvSpPr>
          <p:cNvPr id="17" name="Text 14"/>
          <p:cNvSpPr/>
          <p:nvPr/>
        </p:nvSpPr>
        <p:spPr>
          <a:xfrm>
            <a:off x="6033377" y="3780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OLS: rework quadratic p=0.605 — no tipping point. Fast generation + heavy iteration is the profitable model.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B6FCF0-82ED-FF80-10ED-1AB993DC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4" y="1238596"/>
            <a:ext cx="5729401" cy="299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04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THE THRESHOLD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9600" b="1" spc="-100" dirty="0">
                <a:solidFill>
                  <a:srgbClr val="FF3D6E"/>
                </a:solidFill>
                <a:latin typeface="Inter"/>
              </a:rPr>
              <a:t>30.6%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400" dirty="0">
                <a:solidFill>
                  <a:srgbClr val="0A0A0A"/>
                </a:solidFill>
                <a:latin typeface="Inter"/>
              </a:rPr>
              <a:t>The SHAP sign-change threshold. </a:t>
            </a:r>
            <a:r>
              <a:rPr lang="it-IT" sz="1400" b="1" dirty="0">
                <a:solidFill>
                  <a:srgbClr val="C92847"/>
                </a:solidFill>
                <a:latin typeface="Inter"/>
              </a:rPr>
              <a:t>Below it, AI costs money. </a:t>
            </a:r>
            <a:r>
              <a:rPr lang="it-IT" sz="1400" b="1" dirty="0">
                <a:solidFill>
                  <a:srgbClr val="1F8F4A"/>
                </a:solidFill>
                <a:latin typeface="Inter"/>
              </a:rPr>
              <a:t>Above it, AI makes money.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2651760" cy="192024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b="1" spc="200" dirty="0">
                <a:solidFill>
                  <a:srgbClr val="C92847"/>
                </a:solidFill>
                <a:latin typeface="Inter"/>
              </a:rPr>
              <a:t>BELOW 30.6%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800" b="1" spc="-30" dirty="0">
                <a:solidFill>
                  <a:srgbClr val="C92847"/>
                </a:solidFill>
                <a:latin typeface="Inter"/>
              </a:rPr>
              <a:t>−€52.5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dirty="0">
                <a:solidFill>
                  <a:srgbClr val="5A5A6E"/>
                </a:solidFill>
                <a:latin typeface="Inter"/>
              </a:rPr>
              <a:t>per-task avg. SHAP contribution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i="1" dirty="0">
                <a:solidFill>
                  <a:srgbClr val="5A5A6E"/>
                </a:solidFill>
                <a:latin typeface="Inter"/>
              </a:rPr>
              <a:t>234 of 553 test-set tasks</a:t>
            </a:r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651760" cy="1920240"/>
          </a:xfr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b="1" spc="200" dirty="0">
                <a:solidFill>
                  <a:srgbClr val="FF3D6E"/>
                </a:solidFill>
                <a:latin typeface="Inter"/>
              </a:rPr>
              <a:t>THE SIGN CHANGE</a:t>
            </a:r>
          </a:p>
        </p:txBody>
      </p:sp>
      <p:sp>
        <p:nvSpPr>
          <p:cNvPr id="12" name="Text 10"/>
          <p:cNvSpPr/>
          <p:nvPr/>
        </p:nvSpPr>
        <p:spPr>
          <a:xfrm>
            <a:off x="329184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800" b="1" spc="-30" dirty="0">
                <a:solidFill>
                  <a:srgbClr val="FF3D6E"/>
                </a:solidFill>
                <a:latin typeface="Inter"/>
              </a:rPr>
              <a:t>≈ €103</a:t>
            </a:r>
          </a:p>
        </p:txBody>
      </p:sp>
      <p:sp>
        <p:nvSpPr>
          <p:cNvPr id="13" name="Text 11"/>
          <p:cNvSpPr/>
          <p:nvPr/>
        </p:nvSpPr>
        <p:spPr>
          <a:xfrm>
            <a:off x="329184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dirty="0">
                <a:solidFill>
                  <a:srgbClr val="5A5A6E"/>
                </a:solidFill>
                <a:latin typeface="Inter"/>
              </a:rPr>
              <a:t>gap between above vs below</a:t>
            </a:r>
          </a:p>
        </p:txBody>
      </p:sp>
      <p:sp>
        <p:nvSpPr>
          <p:cNvPr id="14" name="Text 12"/>
          <p:cNvSpPr/>
          <p:nvPr/>
        </p:nvSpPr>
        <p:spPr>
          <a:xfrm>
            <a:off x="329184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i="1" dirty="0">
                <a:solidFill>
                  <a:srgbClr val="5A5A6E"/>
                </a:solidFill>
                <a:latin typeface="Inter"/>
              </a:rPr>
              <a:t>entirely from AI contribution shift</a:t>
            </a:r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651760" cy="1920240"/>
          </a:xfrm>
          <a:solidFill>
            <a:srgbClr val="FFFFFF"/>
          </a:solidFill>
          <a:ln w="9525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12648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b="1" spc="200" dirty="0">
                <a:solidFill>
                  <a:srgbClr val="1F8F4A"/>
                </a:solidFill>
                <a:latin typeface="Inter"/>
              </a:rPr>
              <a:t>ABOVE 30.6%</a:t>
            </a:r>
          </a:p>
        </p:txBody>
      </p:sp>
      <p:sp>
        <p:nvSpPr>
          <p:cNvPr id="17" name="Text 15"/>
          <p:cNvSpPr/>
          <p:nvPr/>
        </p:nvSpPr>
        <p:spPr>
          <a:xfrm>
            <a:off x="612648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3800" b="1" spc="-30" dirty="0">
                <a:solidFill>
                  <a:srgbClr val="1F8F4A"/>
                </a:solidFill>
                <a:latin typeface="Inter"/>
              </a:rPr>
              <a:t>+€51.1</a:t>
            </a:r>
          </a:p>
        </p:txBody>
      </p:sp>
      <p:sp>
        <p:nvSpPr>
          <p:cNvPr id="18" name="Text 16"/>
          <p:cNvSpPr/>
          <p:nvPr/>
        </p:nvSpPr>
        <p:spPr>
          <a:xfrm>
            <a:off x="612648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dirty="0">
                <a:solidFill>
                  <a:srgbClr val="5A5A6E"/>
                </a:solidFill>
                <a:latin typeface="Inter"/>
              </a:rPr>
              <a:t>per-task avg. SHAP contribution</a:t>
            </a:r>
          </a:p>
        </p:txBody>
      </p:sp>
      <p:sp>
        <p:nvSpPr>
          <p:cNvPr id="19" name="Text 17"/>
          <p:cNvSpPr/>
          <p:nvPr/>
        </p:nvSpPr>
        <p:spPr>
          <a:xfrm>
            <a:off x="612648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000" i="1" dirty="0">
                <a:solidFill>
                  <a:srgbClr val="5A5A6E"/>
                </a:solidFill>
                <a:latin typeface="Inter"/>
              </a:rPr>
              <a:t>319 of 553 test-set tasks</a:t>
            </a:r>
          </a:p>
        </p:txBody>
      </p:sp>
    </p:spTree>
    <p:extLst>
      <p:ext uri="{BB962C8B-B14F-4D97-AF65-F5344CB8AC3E}">
        <p14:creationId xmlns:p14="http://schemas.microsoft.com/office/powerpoint/2010/main" val="1261766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RISK SCORE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600" b="1" spc="-30" dirty="0">
                <a:solidFill>
                  <a:srgbClr val="0A0A0A"/>
                </a:solidFill>
                <a:latin typeface="Inter"/>
              </a:rPr>
              <a:t>The pre-task risk score: six variables, one lookup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1000" dirty="0">
                <a:solidFill>
                  <a:srgbClr val="5A5A6E"/>
                </a:solidFill>
                <a:latin typeface="Inter"/>
              </a:rPr>
              <a:t>Random Forest · ROC-AUC 0.754 · Recall 55% · Flags 43 genuine losses per 100 risk-flagged tasks (base rate: 24%)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329184"/>
          </a:xfrm>
          <a:solidFill>
            <a:srgbClr val="C92847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b="1" spc="200" dirty="0">
                <a:latin typeface="Inter"/>
              </a:rPr>
              <a:t>RISK FACTORS — loss rate rises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65760" y="1901952"/>
          <a:ext cx="4114800" cy="148132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Variable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Safe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Risky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Gap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Share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Hourly pricing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16%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34%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+18pp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46% of tasks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Senior contributor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33%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+12pp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22% of tasks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Hours spent (top 25%)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31%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+9pp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25% of tasks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572768"/>
            <a:ext cx="4114800" cy="329184"/>
          </a:xfrm>
          <a:solidFill>
            <a:srgbClr val="1F8F4A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66344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000" b="1" spc="200" dirty="0">
                <a:solidFill>
                  <a:srgbClr val="FFFFFF"/>
                </a:solidFill>
                <a:latin typeface="Inter"/>
              </a:rPr>
              <a:t>PROTECTIVE FACTORS — loss rate falls</a:t>
            </a:r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4663440" y="1901952"/>
          <a:ext cx="4114800" cy="148132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Variable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Without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With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Gap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Share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High-tier client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27%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16%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-10pp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26% of tasks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High task complexity (top 25%)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26%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18%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-8pp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30% of tasks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/>
                        </a:rPr>
                        <a:t>AI usage &gt;= 30%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28%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21%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-8pp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Inter"/>
                        </a:rPr>
                        <a:t>58% of tasks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365760" y="3429000"/>
            <a:ext cx="8412480" cy="1397000"/>
          </a:xfr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9"/>
          <p:cNvSpPr/>
          <p:nvPr/>
        </p:nvSpPr>
        <p:spPr>
          <a:xfrm>
            <a:off x="548640" y="35179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b="1" spc="300" dirty="0">
                <a:solidFill>
                  <a:srgbClr val="FF3D6E"/>
                </a:solidFill>
                <a:latin typeface="Inter"/>
              </a:rPr>
              <a:t>HOW TO USE THIS</a:t>
            </a:r>
          </a:p>
        </p:txBody>
      </p:sp>
      <p:sp>
        <p:nvSpPr>
          <p:cNvPr id="14" name="Text 10"/>
          <p:cNvSpPr/>
          <p:nvPr/>
        </p:nvSpPr>
        <p:spPr>
          <a:xfrm>
            <a:off x="548640" y="3784600"/>
            <a:ext cx="804672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FFFFFF"/>
                </a:solidFill>
                <a:latin typeface="Inter"/>
              </a:rPr>
              <a:t>Any task combining </a:t>
            </a:r>
            <a:r>
              <a:rPr lang="it-IT" sz="1100" b="1" dirty="0">
                <a:solidFill>
                  <a:srgbClr val="FFFFFF"/>
                </a:solidFill>
                <a:latin typeface="Inter"/>
              </a:rPr>
              <a:t>2+ risk factors</a:t>
            </a:r>
            <a:r>
              <a:rPr lang="it-IT" sz="1100" dirty="0">
                <a:solidFill>
                  <a:srgbClr val="FFFFFF"/>
                </a:solidFill>
                <a:latin typeface="Inter"/>
              </a:rPr>
              <a:t> triggers a pre-kickoff review of contract structure, staffing, and scope.</a:t>
            </a:r>
          </a:p>
          <a:p>
            <a:pPr marL="0" indent="0">
              <a:buNone/>
            </a:pPr>
            <a:r>
              <a:rPr lang="it-IT" sz="1100" dirty="0">
                <a:solidFill>
                  <a:srgbClr val="5A5A6E"/>
                </a:solidFill>
                <a:latin typeface="Inter"/>
              </a:rPr>
              <a:t>Best case: high client tier + high complexity + fixed/value-based contract + AI ≥ 30% → </a:t>
            </a:r>
            <a:r>
              <a:rPr lang="it-IT" sz="1100" b="1" dirty="0">
                <a:solidFill>
                  <a:srgbClr val="5A5A6E"/>
                </a:solidFill>
                <a:latin typeface="Inter"/>
              </a:rPr>
              <a:t>loss rate below 18%</a:t>
            </a:r>
            <a:r>
              <a:rPr lang="it-IT" sz="1100" dirty="0">
                <a:solidFill>
                  <a:srgbClr val="5A5A6E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199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21792"/>
            <a:ext cx="80467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2600" b="1" spc="-30" dirty="0">
                <a:solidFill>
                  <a:srgbClr val="0A0A0A"/>
                </a:solidFill>
                <a:latin typeface="Inter"/>
              </a:rPr>
              <a:t>What the dataset still cannot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8046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100" dirty="0">
                <a:solidFill>
                  <a:srgbClr val="5A5A6E"/>
                </a:solidFill>
                <a:latin typeface="Inter"/>
              </a:rPr>
              <a:t>The model explains margin mechanics well — but is missing the signals required to explain client value and revision causality.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72768"/>
            <a:ext cx="2606040" cy="1965960"/>
          </a:xfr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572768"/>
            <a:ext cx="73152" cy="1965960"/>
          </a:xfr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645920"/>
            <a:ext cx="69494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800" b="1" dirty="0">
                <a:solidFill>
                  <a:srgbClr val="FF3D6E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20240"/>
            <a:ext cx="21488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400" b="1" dirty="0">
                <a:solidFill>
                  <a:srgbClr val="0A0A0A"/>
                </a:solidFill>
                <a:latin typeface="Inter"/>
              </a:rPr>
              <a:t>Client retention &amp; satisfaction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395728"/>
            <a:ext cx="2212848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000" dirty="0">
                <a:solidFill>
                  <a:srgbClr val="5A5A6E"/>
                </a:solidFill>
                <a:latin typeface="Inter"/>
              </a:rPr>
              <a:t>We measure task profit but not whether AI-heavy delivery hurts long-term trust, renewals, or NPS.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3145536"/>
            <a:ext cx="1417320" cy="237744"/>
          </a:xfr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3163824"/>
            <a:ext cx="12344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spc="200" dirty="0">
                <a:solidFill>
                  <a:srgbClr val="FFFFFF"/>
                </a:solidFill>
                <a:latin typeface="Inter"/>
              </a:rPr>
              <a:t>HIGHEST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1572768"/>
            <a:ext cx="2606040" cy="1965960"/>
          </a:xfr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72968" y="1572768"/>
            <a:ext cx="73152" cy="1965960"/>
          </a:xfr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645920"/>
            <a:ext cx="64098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800" b="1" dirty="0">
                <a:solidFill>
                  <a:srgbClr val="FF3D6E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920240"/>
            <a:ext cx="2148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400" b="1" dirty="0">
                <a:solidFill>
                  <a:srgbClr val="0A0A0A"/>
                </a:solidFill>
                <a:latin typeface="Inter"/>
              </a:rPr>
              <a:t>Tool &amp; prompt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395728"/>
            <a:ext cx="2212848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000" dirty="0">
                <a:solidFill>
                  <a:srgbClr val="5A5A6E"/>
                </a:solidFill>
                <a:latin typeface="Inter"/>
              </a:rPr>
              <a:t>The same ai_usage_pct can mean one precise draft or thirty failed iterations — blocking tool ROI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1" y="3145536"/>
            <a:ext cx="1973945" cy="237744"/>
          </a:xfr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5270" y="3149126"/>
            <a:ext cx="170117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spc="200" dirty="0">
                <a:solidFill>
                  <a:srgbClr val="FFFFFF"/>
                </a:solidFill>
                <a:latin typeface="Inter"/>
              </a:rPr>
              <a:t>PROCUREMENT + TRAINING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0176" y="1572768"/>
            <a:ext cx="2606040" cy="1965960"/>
          </a:xfr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0176" y="1572768"/>
            <a:ext cx="73152" cy="1965960"/>
          </a:xfr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79" y="1645920"/>
            <a:ext cx="62848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800" b="1" dirty="0">
                <a:solidFill>
                  <a:srgbClr val="FF3D6E"/>
                </a:solidFill>
                <a:latin typeface="Int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20240"/>
            <a:ext cx="2148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400" b="1" dirty="0">
                <a:solidFill>
                  <a:srgbClr val="0A0A0A"/>
                </a:solidFill>
                <a:latin typeface="Inter"/>
              </a:rPr>
              <a:t>Revision reason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95728"/>
            <a:ext cx="2212848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000" dirty="0">
                <a:solidFill>
                  <a:srgbClr val="5A5A6E"/>
                </a:solidFill>
                <a:latin typeface="Inter"/>
              </a:rPr>
              <a:t>Rework hours tell us cost, not cause. Distinguish AI mistakes, scope creep, and client preference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145536"/>
            <a:ext cx="2322576" cy="237744"/>
          </a:xfr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9631" y="3163824"/>
            <a:ext cx="1907619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spc="200" dirty="0">
                <a:solidFill>
                  <a:srgbClr val="FFFFFF"/>
                </a:solidFill>
                <a:latin typeface="Inter"/>
              </a:rPr>
              <a:t>OPERATIONAL ROOT CAUSE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794760"/>
            <a:ext cx="8183879" cy="1161288"/>
          </a:xfr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867912"/>
            <a:ext cx="396392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100" b="1" spc="200" dirty="0">
                <a:solidFill>
                  <a:srgbClr val="0A0A0A"/>
                </a:solidFill>
                <a:latin typeface="Inter"/>
              </a:rPr>
              <a:t>WHAT WE'D ASK ALKEMY — NEXT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4123944"/>
            <a:ext cx="1874519" cy="393192"/>
          </a:xfrm>
          <a:solidFill>
            <a:srgbClr val="F5F5F8"/>
          </a:solidFill>
          <a:ln w="6350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" y="4178808"/>
            <a:ext cx="172821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dirty="0">
                <a:solidFill>
                  <a:srgbClr val="0A0A0A"/>
                </a:solidFill>
                <a:latin typeface="Inter"/>
              </a:rPr>
              <a:t>Which revisions were AI-caused vs client-driven?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123944"/>
            <a:ext cx="1874519" cy="393192"/>
          </a:xfrm>
          <a:solidFill>
            <a:srgbClr val="F5F5F8"/>
          </a:solidFill>
          <a:ln w="6350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33472" y="4178808"/>
            <a:ext cx="172821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dirty="0">
                <a:solidFill>
                  <a:srgbClr val="0A0A0A"/>
                </a:solidFill>
                <a:latin typeface="Inter"/>
              </a:rPr>
              <a:t>Which tools, prompts &amp; iterations were used per task?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90288" y="4123944"/>
            <a:ext cx="1874519" cy="393192"/>
          </a:xfrm>
          <a:solidFill>
            <a:srgbClr val="F5F5F8"/>
          </a:solidFill>
          <a:ln w="6350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4178808"/>
            <a:ext cx="172821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dirty="0">
                <a:solidFill>
                  <a:srgbClr val="0A0A0A"/>
                </a:solidFill>
                <a:latin typeface="Inter"/>
              </a:rPr>
              <a:t>Retention, upsell &amp; NPS after delivery?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0256" y="4123944"/>
            <a:ext cx="1828800" cy="393192"/>
          </a:xfrm>
          <a:solidFill>
            <a:srgbClr val="F5F5F8"/>
          </a:solidFill>
          <a:ln w="6350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93408" y="4178808"/>
            <a:ext cx="1682496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lang="it-IT" sz="950" b="1" dirty="0">
                <a:solidFill>
                  <a:srgbClr val="0A0A0A"/>
                </a:solidFill>
                <a:latin typeface="Inter"/>
              </a:rPr>
              <a:t>Which tasks were under-scoped or repriced?</a:t>
            </a:r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254E04F8-D59A-9CAF-811D-49B80D2DBE3C}"/>
              </a:ext>
            </a:extLst>
          </p:cNvPr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84F4E816-8BFD-98B2-030A-B28E907D9F4B}"/>
              </a:ext>
            </a:extLst>
          </p:cNvPr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BLIND SPOTS</a:t>
            </a:r>
          </a:p>
        </p:txBody>
      </p:sp>
    </p:spTree>
    <p:extLst>
      <p:ext uri="{BB962C8B-B14F-4D97-AF65-F5344CB8AC3E}">
        <p14:creationId xmlns:p14="http://schemas.microsoft.com/office/powerpoint/2010/main" val="3640619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DECISIONS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t-IT" sz="2800" b="1" spc="-30" dirty="0">
                <a:solidFill>
                  <a:srgbClr val="0A0A0A"/>
                </a:solidFill>
                <a:latin typeface="Inter"/>
              </a:rPr>
              <a:t>Three decisions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475488" cy="475488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800" b="1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987552" y="1435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Restructure the pricing book before scaling AI further</a:t>
            </a:r>
          </a:p>
        </p:txBody>
      </p:sp>
      <p:sp>
        <p:nvSpPr>
          <p:cNvPr id="8" name="Text 6"/>
          <p:cNvSpPr/>
          <p:nvPr/>
        </p:nvSpPr>
        <p:spPr>
          <a:xfrm>
            <a:off x="987552" y="1764792"/>
            <a:ext cx="6070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200" dirty="0">
                <a:solidFill>
                  <a:srgbClr val="2A2A35"/>
                </a:solidFill>
                <a:latin typeface="Inter"/>
              </a:rPr>
              <a:t>Treat AI adoption as binary per workflow. &lt;30% costs more than it produces; 30–60% positive but not efficient; &gt;60% profit + time dividends consolidate. The 10–50% band is worse than either extreme.</a:t>
            </a:r>
          </a:p>
        </p:txBody>
      </p:sp>
      <p:sp>
        <p:nvSpPr>
          <p:cNvPr id="9" name="Shape 7"/>
          <p:cNvSpPr/>
          <p:nvPr/>
        </p:nvSpPr>
        <p:spPr>
          <a:xfrm>
            <a:off x="7114032" y="1490472"/>
            <a:ext cx="1664208" cy="475488"/>
          </a:xfrm>
          <a:solidFill>
            <a:srgbClr val="F5F5F8"/>
          </a:solidFill>
          <a:ln w="6350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114032" y="14904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solidFill>
                  <a:srgbClr val="0A0A0A"/>
                </a:solidFill>
                <a:latin typeface="Inter"/>
              </a:rPr>
              <a:t>€540/task structural recovery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2724912"/>
            <a:ext cx="475488" cy="475488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800" b="1" dirty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987552" y="2670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Set AI floors: 30% minimum floor, 60% efficiency threshold</a:t>
            </a:r>
          </a:p>
        </p:txBody>
      </p:sp>
      <p:sp>
        <p:nvSpPr>
          <p:cNvPr id="14" name="Text 12"/>
          <p:cNvSpPr/>
          <p:nvPr/>
        </p:nvSpPr>
        <p:spPr>
          <a:xfrm>
            <a:off x="987552" y="2999232"/>
            <a:ext cx="6070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200" dirty="0">
                <a:solidFill>
                  <a:srgbClr val="2A2A35"/>
                </a:solidFill>
                <a:latin typeface="Inter"/>
              </a:rPr>
              <a:t>Migrate AI-eligible work off hourly contracts. Priority: senior engagements (hourly senior = −€78/task vs value-based = +€511). The data justifies the pitch.</a:t>
            </a:r>
          </a:p>
        </p:txBody>
      </p:sp>
      <p:sp>
        <p:nvSpPr>
          <p:cNvPr id="15" name="Shape 13"/>
          <p:cNvSpPr/>
          <p:nvPr/>
        </p:nvSpPr>
        <p:spPr>
          <a:xfrm>
            <a:off x="7114032" y="2724912"/>
            <a:ext cx="1664208" cy="475488"/>
          </a:xfrm>
          <a:solidFill>
            <a:srgbClr val="F5F5F8"/>
          </a:solidFill>
          <a:ln w="6350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7114032" y="272491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solidFill>
                  <a:srgbClr val="0A0A0A"/>
                </a:solidFill>
                <a:latin typeface="Inter"/>
              </a:rPr>
              <a:t>€242/task lift on migrated volume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75488" cy="475488"/>
          </a:xfrm>
          <a:solidFill>
            <a:srgbClr val="FF3D6E"/>
          </a:solidFill>
          <a:ln>
            <a:noFill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800" b="1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 17"/>
          <p:cNvSpPr/>
          <p:nvPr/>
        </p:nvSpPr>
        <p:spPr>
          <a:xfrm>
            <a:off x="987552" y="39044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>
                <a:solidFill>
                  <a:srgbClr val="0A0A0A"/>
                </a:solidFill>
                <a:latin typeface="Inter"/>
              </a:rPr>
              <a:t>Reposition seniors as AI force multipliers — remove from low-AI execution</a:t>
            </a:r>
          </a:p>
        </p:txBody>
      </p:sp>
      <p:sp>
        <p:nvSpPr>
          <p:cNvPr id="20" name="Text 18"/>
          <p:cNvSpPr/>
          <p:nvPr/>
        </p:nvSpPr>
        <p:spPr>
          <a:xfrm>
            <a:off x="987552" y="4233672"/>
            <a:ext cx="6070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200" dirty="0">
                <a:solidFill>
                  <a:srgbClr val="2A2A35"/>
                </a:solidFill>
                <a:latin typeface="Inter"/>
              </a:rPr>
              <a:t>Senior-led tasks must pass two conditions: AI usage ≥60% AND fixed/value-based contract. Redirect seniors to 80–100% AI workflows where the €3,935 ceiling is observed.</a:t>
            </a:r>
          </a:p>
        </p:txBody>
      </p:sp>
      <p:sp>
        <p:nvSpPr>
          <p:cNvPr id="21" name="Shape 19"/>
          <p:cNvSpPr/>
          <p:nvPr/>
        </p:nvSpPr>
        <p:spPr>
          <a:xfrm>
            <a:off x="7112000" y="3962400"/>
            <a:ext cx="1663700" cy="469900"/>
          </a:xfrm>
          <a:solidFill>
            <a:srgbClr val="F5F5F8"/>
          </a:solidFill>
          <a:ln w="6350">
            <a:solidFill>
              <a:srgbClr val="E5E5EC"/>
            </a:solidFill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7114032" y="39593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solidFill>
                  <a:srgbClr val="0A0A0A"/>
                </a:solidFill>
                <a:latin typeface="Inter"/>
              </a:rPr>
              <a:t>Senior margin reversal</a:t>
            </a:r>
          </a:p>
        </p:txBody>
      </p:sp>
    </p:spTree>
    <p:extLst>
      <p:ext uri="{BB962C8B-B14F-4D97-AF65-F5344CB8AC3E}">
        <p14:creationId xmlns:p14="http://schemas.microsoft.com/office/powerpoint/2010/main" val="3231548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7800" cy="5143500"/>
          </a:xfrm>
          <a:prstGeom prst="rect">
            <a:avLst/>
          </a:prstGeom>
          <a:solidFill>
            <a:srgbClr val="FF3D6E"/>
          </a:solidFill>
          <a:ln w="1270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spc="400" dirty="0">
                <a:solidFill>
                  <a:srgbClr val="FF3D6E"/>
                </a:solidFill>
                <a:latin typeface="Inter"/>
              </a:rPr>
              <a:t>THE BOTTOM LINE</a:t>
            </a:r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838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it-IT" sz="5400" b="1" spc="-50" dirty="0">
                <a:solidFill>
                  <a:srgbClr val="FFFFFF"/>
                </a:solidFill>
                <a:latin typeface="Inter"/>
              </a:rPr>
              <a:t>The technology is doing its job.</a:t>
            </a:r>
          </a:p>
        </p:txBody>
      </p:sp>
      <p:sp>
        <p:nvSpPr>
          <p:cNvPr id="5" name="Shape 3"/>
          <p:cNvSpPr/>
          <p:nvPr/>
        </p:nvSpPr>
        <p:spPr>
          <a:xfrm>
            <a:off x="762000" y="3683000"/>
            <a:ext cx="2540000" cy="0"/>
          </a:xfrm>
          <a:prstGeom prst="line">
            <a:avLst/>
          </a:prstGeom>
          <a:noFill/>
          <a:ln w="19050">
            <a:solidFill>
              <a:srgbClr val="2A2A4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762000" y="38735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it-IT" sz="3200" b="1" dirty="0">
                <a:solidFill>
                  <a:srgbClr val="FF3D6E"/>
                </a:solidFill>
                <a:latin typeface="Inter"/>
              </a:rPr>
              <a:t>The business model is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218049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460415672]">
  <a:themeElements>
    <a:clrScheme name="Office">
      <a:dk1>
        <a:srgbClr val="0A0A0A"/>
      </a:dk1>
      <a:lt1>
        <a:srgbClr val="FAFAFA"/>
      </a:lt1>
      <a:dk2>
        <a:srgbClr val="5A5A6E"/>
      </a:dk2>
      <a:lt2>
        <a:srgbClr val="E5E5EC"/>
      </a:lt2>
      <a:accent1>
        <a:srgbClr val="FF3D6E"/>
      </a:accent1>
      <a:accent2>
        <a:srgbClr val="0A0A0A"/>
      </a:accent2>
      <a:accent3>
        <a:srgbClr val="FFE600"/>
      </a:accent3>
      <a:accent4>
        <a:srgbClr val="5A5A6E"/>
      </a:accent4>
      <a:accent5>
        <a:srgbClr val="FFFFFF"/>
      </a:accent5>
      <a:accent6>
        <a:srgbClr val="FF3D6E"/>
      </a:accent6>
      <a:hlink>
        <a:srgbClr val="0563C1"/>
      </a:hlink>
      <a:folHlink>
        <a:srgbClr val="954F72"/>
      </a:folHlink>
    </a:clrScheme>
    <a:fontScheme name="Office">
      <a:majorFont>
        <a:latin typeface="Int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1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2C1F9DE-F8FA-4E9C-8DC7-B6702889FB99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88c9a2a5-9181-4e2e-8bb8-f00eabaee7a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1528</Words>
  <Application>Microsoft Office PowerPoint</Application>
  <PresentationFormat>Presentazione su schermo (16:9)</PresentationFormat>
  <Paragraphs>254</Paragraphs>
  <Slides>15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Inter</vt:lpstr>
      <vt:lpstr>Office Theme [1777460415672]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Gabriele Loreti</cp:lastModifiedBy>
  <cp:revision>7</cp:revision>
  <dcterms:created xsi:type="dcterms:W3CDTF">2026-04-28T12:35:50Z</dcterms:created>
  <dcterms:modified xsi:type="dcterms:W3CDTF">2026-04-29T11:26:58Z</dcterms:modified>
</cp:coreProperties>
</file>
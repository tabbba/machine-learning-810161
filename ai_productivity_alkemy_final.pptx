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</p:sldMasterIdLst>
  <p:notesMasterIdLst>
    <p:notesMasterId r:id="rId17"/>
  </p:notesMasterIdLst>
  <p:sldIdLst>
    <p:sldId id="275" r:id="rId2"/>
    <p:sldId id="276" r:id="rId3"/>
    <p:sldId id="277" r:id="rId4"/>
    <p:sldId id="278" r:id="rId5"/>
    <p:sldId id="279" r:id="rId6"/>
    <p:sldId id="280" r:id="rId7"/>
    <p:sldId id="281" r:id="rId8"/>
    <p:sldId id="282" r:id="rId9"/>
    <p:sldId id="290" r:id="rId10"/>
    <p:sldId id="284" r:id="rId11"/>
    <p:sldId id="285" r:id="rId12"/>
    <p:sldId id="292" r:id="rId13"/>
    <p:sldId id="287" r:id="rId14"/>
    <p:sldId id="294" r:id="rId15"/>
    <p:sldId id="289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A5A6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793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307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010797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rgbClr val="0A0A0A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rgbClr val="0A0A0A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rgbClr val="0A0A0A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rgbClr val="0A0A0A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rgbClr val="0A0A0A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rgbClr val="0A0A0A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rgbClr val="0A0A0A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rgbClr val="0A0A0A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rgbClr val="0A0A0A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rgbClr val="0A0A0A"/>
          </a:solidFill>
          <a:latin typeface="+mn-lt"/>
          <a:ea typeface="+mn-ea"/>
          <a:cs typeface="+mn-cs"/>
        </a:defRPr>
      </a:lvl9pPr>
    </p:bodyStyle>
    <p:otherStyle>
      <a:defPPr>
        <a:defRPr lang="en-US">
          <a:solidFill>
            <a:srgbClr val="0A0A0A"/>
          </a:solidFill>
        </a:defRPr>
      </a:defPPr>
      <a:lvl1pPr marL="0" algn="l" defTabSz="914400" rtl="0" eaLnBrk="1" latinLnBrk="0" hangingPunct="1">
        <a:defRPr sz="1800" kern="1200">
          <a:solidFill>
            <a:srgbClr val="0A0A0A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rgbClr val="0A0A0A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rgbClr val="0A0A0A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rgbClr val="0A0A0A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rgbClr val="0A0A0A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rgbClr val="0A0A0A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rgbClr val="0A0A0A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rgbClr val="0A0A0A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rgbClr val="0A0A0A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AF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0"/>
            <a:ext cx="2560320" cy="5143500"/>
          </a:xfrm>
          <a:solidFill>
            <a:srgbClr val="FF3D6E"/>
          </a:solidFill>
          <a:ln>
            <a:noFill/>
          </a:ln>
        </p:spPr>
        <p:txBody>
          <a:bodyPr/>
          <a:lstStyle/>
          <a:p>
            <a:endParaRPr lang="en-IT"/>
          </a:p>
        </p:txBody>
      </p:sp>
      <p:sp>
        <p:nvSpPr>
          <p:cNvPr id="3" name="Shape 1"/>
          <p:cNvSpPr/>
          <p:nvPr/>
        </p:nvSpPr>
        <p:spPr>
          <a:xfrm>
            <a:off x="6583680" y="0"/>
            <a:ext cx="91440" cy="5143500"/>
          </a:xfrm>
          <a:solidFill>
            <a:srgbClr val="0A0A0A"/>
          </a:solidFill>
          <a:ln>
            <a:noFill/>
          </a:ln>
        </p:spPr>
        <p:txBody>
          <a:bodyPr/>
          <a:lstStyle/>
          <a:p>
            <a:endParaRPr lang="en-IT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400" b="1" kern="0" spc="400" dirty="0">
                <a:solidFill>
                  <a:srgbClr val="FF3D6E"/>
                </a:solidFill>
                <a:latin typeface="Inter"/>
              </a:rPr>
              <a:t>AI PRODUCTIVITY</a:t>
            </a:r>
          </a:p>
        </p:txBody>
      </p:sp>
      <p:sp>
        <p:nvSpPr>
          <p:cNvPr id="6" name="Text 4"/>
          <p:cNvSpPr/>
          <p:nvPr/>
        </p:nvSpPr>
        <p:spPr>
          <a:xfrm>
            <a:off x="457200" y="960120"/>
            <a:ext cx="58521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it-IT" sz="4400" b="1" spc="-50" dirty="0">
                <a:solidFill>
                  <a:srgbClr val="0A0A0A"/>
                </a:solidFill>
                <a:latin typeface="Inter"/>
              </a:rPr>
              <a:t>Does AI Help or</a:t>
            </a:r>
          </a:p>
          <a:p>
            <a:pPr marL="0" indent="0" algn="l">
              <a:buNone/>
            </a:pPr>
            <a:r>
              <a:rPr lang="it-IT" sz="4400" b="1" spc="-50" dirty="0">
                <a:solidFill>
                  <a:srgbClr val="0A0A0A"/>
                </a:solidFill>
                <a:latin typeface="Inter"/>
              </a:rPr>
              <a:t>Hurt the Business?</a:t>
            </a:r>
          </a:p>
        </p:txBody>
      </p:sp>
      <p:sp>
        <p:nvSpPr>
          <p:cNvPr id="8" name="Shape 6"/>
          <p:cNvSpPr/>
          <p:nvPr/>
        </p:nvSpPr>
        <p:spPr>
          <a:xfrm>
            <a:off x="457200" y="3383280"/>
            <a:ext cx="2743200" cy="0"/>
          </a:xfrm>
          <a:prstGeom prst="line">
            <a:avLst/>
          </a:prstGeom>
          <a:noFill/>
          <a:ln w="19050">
            <a:solidFill>
              <a:srgbClr val="FF3D6E"/>
            </a:solidFill>
          </a:ln>
        </p:spPr>
        <p:txBody>
          <a:bodyPr/>
          <a:lstStyle/>
          <a:p>
            <a:endParaRPr lang="en-IT"/>
          </a:p>
        </p:txBody>
      </p:sp>
      <p:sp>
        <p:nvSpPr>
          <p:cNvPr id="9" name="Text 7"/>
          <p:cNvSpPr/>
          <p:nvPr/>
        </p:nvSpPr>
        <p:spPr>
          <a:xfrm>
            <a:off x="457200" y="3566160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it-IT" sz="1100" b="1" dirty="0">
                <a:solidFill>
                  <a:srgbClr val="0A0A0A"/>
                </a:solidFill>
                <a:latin typeface="Inter"/>
              </a:rPr>
              <a:t>Alexandra Tabarani · Gabriele Loreti · Edoardo Cocciò</a:t>
            </a:r>
          </a:p>
        </p:txBody>
      </p:sp>
      <p:sp>
        <p:nvSpPr>
          <p:cNvPr id="10" name="Text 8"/>
          <p:cNvSpPr/>
          <p:nvPr/>
        </p:nvSpPr>
        <p:spPr>
          <a:xfrm>
            <a:off x="457200" y="39136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it-IT" sz="1100" dirty="0">
                <a:solidFill>
                  <a:srgbClr val="5A5A6E"/>
                </a:solidFill>
                <a:latin typeface="Inter"/>
              </a:rPr>
              <a:t>Presented to Alkemy</a:t>
            </a:r>
          </a:p>
        </p:txBody>
      </p:sp>
    </p:spTree>
    <p:extLst>
      <p:ext uri="{BB962C8B-B14F-4D97-AF65-F5344CB8AC3E}">
        <p14:creationId xmlns:p14="http://schemas.microsoft.com/office/powerpoint/2010/main" val="9950268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400" b="1" kern="0" spc="400" dirty="0">
                <a:solidFill>
                  <a:srgbClr val="FF3D6E"/>
                </a:solidFill>
                <a:latin typeface="Inter"/>
              </a:rPr>
              <a:t>THE QUESTION WE ANSWERED</a:t>
            </a:r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822960"/>
          </a:xfrm>
          <a:solidFill>
            <a:srgbClr val="FFFFFF"/>
          </a:solidFill>
          <a:ln w="9525">
            <a:solidFill>
              <a:srgbClr val="E5E5EC"/>
            </a:solidFill>
          </a:ln>
        </p:spPr>
        <p:txBody>
          <a:bodyPr/>
          <a:lstStyle/>
          <a:p>
            <a:endParaRPr lang="en-IT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2400" b="1" dirty="0">
                <a:solidFill>
                  <a:srgbClr val="5A5A6E"/>
                </a:solidFill>
                <a:latin typeface="Inter"/>
              </a:rPr>
              <a:t>Does AI help?</a:t>
            </a:r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8229600" cy="1417320"/>
          </a:xfrm>
          <a:solidFill>
            <a:srgbClr val="FF3D6E"/>
          </a:solidFill>
          <a:ln>
            <a:noFill/>
          </a:ln>
        </p:spPr>
        <p:txBody>
          <a:bodyPr/>
          <a:lstStyle/>
          <a:p>
            <a:endParaRPr lang="en-IT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2200" b="1" dirty="0">
                <a:latin typeface="Inter"/>
              </a:rPr>
              <a:t>Under what conditions does AI capture margin and under what conditions does it destroy it?</a:t>
            </a:r>
          </a:p>
        </p:txBody>
      </p:sp>
      <p:sp>
        <p:nvSpPr>
          <p:cNvPr id="7" name="Shape 5"/>
          <p:cNvSpPr/>
          <p:nvPr/>
        </p:nvSpPr>
        <p:spPr>
          <a:xfrm>
            <a:off x="457200" y="3429000"/>
            <a:ext cx="2743200" cy="960120"/>
          </a:xfrm>
          <a:solidFill>
            <a:srgbClr val="FFFFFF"/>
          </a:solidFill>
          <a:ln w="9525">
            <a:solidFill>
              <a:srgbClr val="E5E5EC"/>
            </a:solidFill>
          </a:ln>
        </p:spPr>
        <p:txBody>
          <a:bodyPr/>
          <a:lstStyle/>
          <a:p>
            <a:endParaRPr lang="en-IT"/>
          </a:p>
        </p:txBody>
      </p:sp>
      <p:sp>
        <p:nvSpPr>
          <p:cNvPr id="8" name="Text 6"/>
          <p:cNvSpPr/>
          <p:nvPr/>
        </p:nvSpPr>
        <p:spPr>
          <a:xfrm>
            <a:off x="594360" y="34290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it-IT" sz="1100" dirty="0">
                <a:solidFill>
                  <a:srgbClr val="0A0A0A"/>
                </a:solidFill>
                <a:latin typeface="Inter"/>
              </a:rPr>
              <a:t>At what AI usage level does the profit effect cross zero?</a:t>
            </a:r>
          </a:p>
        </p:txBody>
      </p:sp>
      <p:sp>
        <p:nvSpPr>
          <p:cNvPr id="9" name="Shape 7"/>
          <p:cNvSpPr/>
          <p:nvPr/>
        </p:nvSpPr>
        <p:spPr>
          <a:xfrm>
            <a:off x="3337560" y="3429000"/>
            <a:ext cx="2743200" cy="960120"/>
          </a:xfrm>
          <a:solidFill>
            <a:srgbClr val="FFFFFF"/>
          </a:solidFill>
          <a:ln w="9525">
            <a:solidFill>
              <a:srgbClr val="E5E5EC"/>
            </a:solidFill>
          </a:ln>
        </p:spPr>
        <p:txBody>
          <a:bodyPr/>
          <a:lstStyle/>
          <a:p>
            <a:endParaRPr lang="en-IT" dirty="0"/>
          </a:p>
        </p:txBody>
      </p:sp>
      <p:sp>
        <p:nvSpPr>
          <p:cNvPr id="10" name="Text 8"/>
          <p:cNvSpPr/>
          <p:nvPr/>
        </p:nvSpPr>
        <p:spPr>
          <a:xfrm>
            <a:off x="3474720" y="34290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it-IT" sz="1100" dirty="0">
                <a:solidFill>
                  <a:srgbClr val="0A0A0A"/>
                </a:solidFill>
                <a:latin typeface="Inter"/>
              </a:rPr>
              <a:t>What is the mechanism: hours or quality?</a:t>
            </a:r>
          </a:p>
        </p:txBody>
      </p:sp>
      <p:sp>
        <p:nvSpPr>
          <p:cNvPr id="11" name="Shape 9"/>
          <p:cNvSpPr/>
          <p:nvPr/>
        </p:nvSpPr>
        <p:spPr>
          <a:xfrm>
            <a:off x="6217920" y="3429000"/>
            <a:ext cx="2743200" cy="960120"/>
          </a:xfrm>
          <a:solidFill>
            <a:srgbClr val="FFFFFF"/>
          </a:solidFill>
          <a:ln w="9525">
            <a:solidFill>
              <a:srgbClr val="E5E5EC"/>
            </a:solidFill>
          </a:ln>
        </p:spPr>
        <p:txBody>
          <a:bodyPr/>
          <a:lstStyle/>
          <a:p>
            <a:endParaRPr lang="en-IT"/>
          </a:p>
        </p:txBody>
      </p:sp>
      <p:sp>
        <p:nvSpPr>
          <p:cNvPr id="12" name="Text 10"/>
          <p:cNvSpPr/>
          <p:nvPr/>
        </p:nvSpPr>
        <p:spPr>
          <a:xfrm>
            <a:off x="6355080" y="34290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it-IT" sz="1100" dirty="0">
                <a:solidFill>
                  <a:srgbClr val="0A0A0A"/>
                </a:solidFill>
                <a:latin typeface="Inter"/>
              </a:rPr>
              <a:t>Which contract structures capture the productivity dividend?</a:t>
            </a:r>
          </a:p>
        </p:txBody>
      </p:sp>
    </p:spTree>
    <p:extLst>
      <p:ext uri="{BB962C8B-B14F-4D97-AF65-F5344CB8AC3E}">
        <p14:creationId xmlns:p14="http://schemas.microsoft.com/office/powerpoint/2010/main" val="405752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1463040" cy="228600"/>
          </a:xfrm>
          <a:prstGeom prst="rect">
            <a:avLst/>
          </a:prstGeom>
          <a:solidFill>
            <a:srgbClr val="F0C040"/>
          </a:solidFill>
          <a:ln w="12700">
            <a:solidFill>
              <a:srgbClr val="F0C04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it-IT" sz="1100" b="1" spc="400" dirty="0">
                <a:solidFill>
                  <a:srgbClr val="FF3D6E"/>
                </a:solidFill>
                <a:latin typeface="Inter"/>
              </a:rPr>
              <a:t> THE DATA</a:t>
            </a:r>
          </a:p>
        </p:txBody>
      </p:sp>
      <p:sp>
        <p:nvSpPr>
          <p:cNvPr id="4" name="Text 2"/>
          <p:cNvSpPr/>
          <p:nvPr/>
        </p:nvSpPr>
        <p:spPr>
          <a:xfrm>
            <a:off x="457200" y="62179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buNone/>
            </a:pPr>
            <a:r>
              <a:rPr lang="it-IT" sz="2800" b="1" spc="-30" dirty="0">
                <a:solidFill>
                  <a:srgbClr val="0A0A0A"/>
                </a:solidFill>
                <a:latin typeface="Inter"/>
              </a:rPr>
              <a:t>3,248 raw tasks. 3,016 analyzed after cleaning.</a:t>
            </a:r>
          </a:p>
        </p:txBody>
      </p:sp>
      <p:sp>
        <p:nvSpPr>
          <p:cNvPr id="5" name="Text 3"/>
          <p:cNvSpPr/>
          <p:nvPr/>
        </p:nvSpPr>
        <p:spPr>
          <a:xfrm>
            <a:off x="457200" y="12070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it-IT" sz="1300" dirty="0">
                <a:solidFill>
                  <a:srgbClr val="5A5A6E"/>
                </a:solidFill>
                <a:latin typeface="Inter"/>
              </a:rPr>
              <a:t>Every row is a delivered task with revenue, cost, hours, AI usage, and outcome recorded.</a:t>
            </a:r>
          </a:p>
        </p:txBody>
      </p:sp>
      <p:sp>
        <p:nvSpPr>
          <p:cNvPr id="6" name="Shape 4"/>
          <p:cNvSpPr/>
          <p:nvPr/>
        </p:nvSpPr>
        <p:spPr>
          <a:xfrm>
            <a:off x="365760" y="1600200"/>
            <a:ext cx="1965960" cy="1280160"/>
          </a:xfrm>
          <a:solidFill>
            <a:srgbClr val="FF3D6E"/>
          </a:solidFill>
          <a:ln>
            <a:noFill/>
          </a:ln>
        </p:spPr>
        <p:txBody>
          <a:bodyPr/>
          <a:lstStyle/>
          <a:p>
            <a:endParaRPr lang="en-IT"/>
          </a:p>
        </p:txBody>
      </p:sp>
      <p:sp>
        <p:nvSpPr>
          <p:cNvPr id="7" name="Text 5"/>
          <p:cNvSpPr/>
          <p:nvPr/>
        </p:nvSpPr>
        <p:spPr>
          <a:xfrm>
            <a:off x="365760" y="1664208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it-IT" sz="3600" b="1" dirty="0">
                <a:latin typeface="Inter"/>
              </a:rPr>
              <a:t>3,016</a:t>
            </a:r>
          </a:p>
        </p:txBody>
      </p:sp>
      <p:sp>
        <p:nvSpPr>
          <p:cNvPr id="8" name="Text 6"/>
          <p:cNvSpPr/>
          <p:nvPr/>
        </p:nvSpPr>
        <p:spPr>
          <a:xfrm>
            <a:off x="365760" y="235458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it-IT" sz="1100" dirty="0">
                <a:solidFill>
                  <a:srgbClr val="5A5A6E"/>
                </a:solidFill>
                <a:latin typeface="Inter"/>
              </a:rPr>
              <a:t>Tasks</a:t>
            </a:r>
            <a:r>
              <a:rPr lang="it-IT" sz="1100" b="1" dirty="0">
                <a:solidFill>
                  <a:srgbClr val="5A5A6E"/>
                </a:solidFill>
                <a:latin typeface="Inter"/>
              </a:rPr>
              <a:t> </a:t>
            </a:r>
            <a:r>
              <a:rPr lang="it-IT" sz="1100" dirty="0">
                <a:solidFill>
                  <a:srgbClr val="5A5A6E"/>
                </a:solidFill>
                <a:latin typeface="Inter"/>
              </a:rPr>
              <a:t>Analyzed</a:t>
            </a:r>
          </a:p>
        </p:txBody>
      </p:sp>
      <p:sp>
        <p:nvSpPr>
          <p:cNvPr id="9" name="Shape 7"/>
          <p:cNvSpPr/>
          <p:nvPr/>
        </p:nvSpPr>
        <p:spPr>
          <a:xfrm>
            <a:off x="2487168" y="1600200"/>
            <a:ext cx="1965960" cy="1280160"/>
          </a:xfrm>
          <a:solidFill>
            <a:srgbClr val="FFFFFF"/>
          </a:solidFill>
          <a:ln w="9525">
            <a:solidFill>
              <a:srgbClr val="E5E5EC"/>
            </a:solidFill>
          </a:ln>
        </p:spPr>
        <p:txBody>
          <a:bodyPr/>
          <a:lstStyle/>
          <a:p>
            <a:endParaRPr lang="en-IT"/>
          </a:p>
        </p:txBody>
      </p:sp>
      <p:sp>
        <p:nvSpPr>
          <p:cNvPr id="10" name="Text 8"/>
          <p:cNvSpPr/>
          <p:nvPr/>
        </p:nvSpPr>
        <p:spPr>
          <a:xfrm>
            <a:off x="2487168" y="1664208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it-IT" sz="3600" b="1" dirty="0">
                <a:solidFill>
                  <a:srgbClr val="0A0A0A"/>
                </a:solidFill>
                <a:latin typeface="Inter"/>
              </a:rPr>
              <a:t>4 Teams</a:t>
            </a:r>
          </a:p>
        </p:txBody>
      </p:sp>
      <p:sp>
        <p:nvSpPr>
          <p:cNvPr id="11" name="Text 9"/>
          <p:cNvSpPr/>
          <p:nvPr/>
        </p:nvSpPr>
        <p:spPr>
          <a:xfrm>
            <a:off x="2487168" y="237744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it-IT" sz="1100" dirty="0">
                <a:solidFill>
                  <a:srgbClr val="5A5A6E"/>
                </a:solidFill>
                <a:latin typeface="Inter"/>
              </a:rPr>
              <a:t>Content · Design · SEO · Media</a:t>
            </a:r>
          </a:p>
        </p:txBody>
      </p:sp>
      <p:sp>
        <p:nvSpPr>
          <p:cNvPr id="12" name="Shape 10"/>
          <p:cNvSpPr/>
          <p:nvPr/>
        </p:nvSpPr>
        <p:spPr>
          <a:xfrm>
            <a:off x="4608576" y="1600200"/>
            <a:ext cx="1965960" cy="1280160"/>
          </a:xfrm>
          <a:solidFill>
            <a:srgbClr val="FFFFFF"/>
          </a:solidFill>
          <a:ln w="9525">
            <a:solidFill>
              <a:srgbClr val="E5E5EC"/>
            </a:solidFill>
          </a:ln>
        </p:spPr>
        <p:txBody>
          <a:bodyPr/>
          <a:lstStyle/>
          <a:p>
            <a:endParaRPr lang="en-IT"/>
          </a:p>
        </p:txBody>
      </p:sp>
      <p:sp>
        <p:nvSpPr>
          <p:cNvPr id="13" name="Text 11"/>
          <p:cNvSpPr/>
          <p:nvPr/>
        </p:nvSpPr>
        <p:spPr>
          <a:xfrm>
            <a:off x="4608576" y="1664208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it-IT" sz="3600" b="1" dirty="0">
                <a:solidFill>
                  <a:srgbClr val="0A0A0A"/>
                </a:solidFill>
                <a:latin typeface="Inter"/>
              </a:rPr>
              <a:t>3 Levels</a:t>
            </a:r>
          </a:p>
        </p:txBody>
      </p:sp>
      <p:sp>
        <p:nvSpPr>
          <p:cNvPr id="14" name="Text 12"/>
          <p:cNvSpPr/>
          <p:nvPr/>
        </p:nvSpPr>
        <p:spPr>
          <a:xfrm>
            <a:off x="4608576" y="237744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it-IT" sz="1100" dirty="0">
                <a:solidFill>
                  <a:srgbClr val="5A5A6E"/>
                </a:solidFill>
                <a:latin typeface="Inter"/>
              </a:rPr>
              <a:t>Junior · Mid · Senior</a:t>
            </a:r>
          </a:p>
        </p:txBody>
      </p:sp>
      <p:sp>
        <p:nvSpPr>
          <p:cNvPr id="15" name="Shape 13"/>
          <p:cNvSpPr/>
          <p:nvPr/>
        </p:nvSpPr>
        <p:spPr>
          <a:xfrm>
            <a:off x="6729984" y="1600200"/>
            <a:ext cx="1965960" cy="1280160"/>
          </a:xfrm>
          <a:solidFill>
            <a:srgbClr val="FFFFFF"/>
          </a:solidFill>
          <a:ln w="9525">
            <a:solidFill>
              <a:srgbClr val="E5E5EC"/>
            </a:solidFill>
          </a:ln>
        </p:spPr>
        <p:txBody>
          <a:bodyPr/>
          <a:lstStyle/>
          <a:p>
            <a:endParaRPr lang="en-IT"/>
          </a:p>
        </p:txBody>
      </p:sp>
      <p:sp>
        <p:nvSpPr>
          <p:cNvPr id="16" name="Text 14"/>
          <p:cNvSpPr/>
          <p:nvPr/>
        </p:nvSpPr>
        <p:spPr>
          <a:xfrm>
            <a:off x="6729984" y="1664208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it-IT" sz="3600" b="1" dirty="0">
                <a:solidFill>
                  <a:srgbClr val="0A0A0A"/>
                </a:solidFill>
                <a:latin typeface="Inter"/>
              </a:rPr>
              <a:t>0 to 100%</a:t>
            </a:r>
          </a:p>
        </p:txBody>
      </p:sp>
      <p:sp>
        <p:nvSpPr>
          <p:cNvPr id="17" name="Text 15"/>
          <p:cNvSpPr/>
          <p:nvPr/>
        </p:nvSpPr>
        <p:spPr>
          <a:xfrm>
            <a:off x="6729984" y="237744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it-IT" sz="1100" dirty="0">
                <a:solidFill>
                  <a:srgbClr val="5A5A6E"/>
                </a:solidFill>
                <a:latin typeface="Inter"/>
              </a:rPr>
              <a:t>AI Usage Range</a:t>
            </a:r>
          </a:p>
        </p:txBody>
      </p:sp>
      <p:sp>
        <p:nvSpPr>
          <p:cNvPr id="18" name="Text 16"/>
          <p:cNvSpPr/>
          <p:nvPr/>
        </p:nvSpPr>
        <p:spPr>
          <a:xfrm>
            <a:off x="457200" y="3108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100" b="1" spc="400" dirty="0">
                <a:solidFill>
                  <a:srgbClr val="FF3D6E"/>
                </a:solidFill>
                <a:latin typeface="Inter"/>
              </a:rPr>
              <a:t>KEY VARIABLES TRACKED</a:t>
            </a:r>
          </a:p>
        </p:txBody>
      </p:sp>
      <p:sp>
        <p:nvSpPr>
          <p:cNvPr id="19" name="Shape 17"/>
          <p:cNvSpPr/>
          <p:nvPr/>
        </p:nvSpPr>
        <p:spPr>
          <a:xfrm>
            <a:off x="365760" y="3429000"/>
            <a:ext cx="2011680" cy="365760"/>
          </a:xfrm>
          <a:solidFill>
            <a:srgbClr val="FFFFFF"/>
          </a:solidFill>
          <a:ln w="9525">
            <a:solidFill>
              <a:srgbClr val="E5E5EC"/>
            </a:solidFill>
          </a:ln>
        </p:spPr>
        <p:txBody>
          <a:bodyPr/>
          <a:lstStyle/>
          <a:p>
            <a:endParaRPr lang="en-IT"/>
          </a:p>
        </p:txBody>
      </p:sp>
      <p:sp>
        <p:nvSpPr>
          <p:cNvPr id="20" name="Text 18"/>
          <p:cNvSpPr/>
          <p:nvPr/>
        </p:nvSpPr>
        <p:spPr>
          <a:xfrm>
            <a:off x="365760" y="34290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it-IT" sz="1100" dirty="0">
                <a:solidFill>
                  <a:srgbClr val="0A0A0A"/>
                </a:solidFill>
                <a:latin typeface="Inter"/>
              </a:rPr>
              <a:t>ai_usage_pct (0 to 100%)</a:t>
            </a:r>
          </a:p>
        </p:txBody>
      </p:sp>
      <p:sp>
        <p:nvSpPr>
          <p:cNvPr id="21" name="Shape 19"/>
          <p:cNvSpPr/>
          <p:nvPr/>
        </p:nvSpPr>
        <p:spPr>
          <a:xfrm>
            <a:off x="2487168" y="3429000"/>
            <a:ext cx="2011680" cy="365760"/>
          </a:xfrm>
          <a:solidFill>
            <a:srgbClr val="FFFFFF"/>
          </a:solidFill>
          <a:ln w="9525">
            <a:solidFill>
              <a:srgbClr val="E5E5EC"/>
            </a:solidFill>
          </a:ln>
        </p:spPr>
        <p:txBody>
          <a:bodyPr/>
          <a:lstStyle/>
          <a:p>
            <a:endParaRPr lang="en-IT"/>
          </a:p>
        </p:txBody>
      </p:sp>
      <p:sp>
        <p:nvSpPr>
          <p:cNvPr id="22" name="Text 20"/>
          <p:cNvSpPr/>
          <p:nvPr/>
        </p:nvSpPr>
        <p:spPr>
          <a:xfrm>
            <a:off x="2487168" y="34290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it-IT" sz="1100" dirty="0">
                <a:solidFill>
                  <a:srgbClr val="0A0A0A"/>
                </a:solidFill>
                <a:latin typeface="Inter"/>
              </a:rPr>
              <a:t>profit = revenue − cost</a:t>
            </a:r>
          </a:p>
        </p:txBody>
      </p:sp>
      <p:sp>
        <p:nvSpPr>
          <p:cNvPr id="23" name="Shape 21"/>
          <p:cNvSpPr/>
          <p:nvPr/>
        </p:nvSpPr>
        <p:spPr>
          <a:xfrm>
            <a:off x="4608576" y="3429000"/>
            <a:ext cx="2011680" cy="365760"/>
          </a:xfrm>
          <a:solidFill>
            <a:srgbClr val="FFFFFF"/>
          </a:solidFill>
          <a:ln w="9525">
            <a:solidFill>
              <a:srgbClr val="E5E5EC"/>
            </a:solidFill>
          </a:ln>
        </p:spPr>
        <p:txBody>
          <a:bodyPr/>
          <a:lstStyle/>
          <a:p>
            <a:endParaRPr lang="en-IT"/>
          </a:p>
        </p:txBody>
      </p:sp>
      <p:sp>
        <p:nvSpPr>
          <p:cNvPr id="24" name="Text 22"/>
          <p:cNvSpPr/>
          <p:nvPr/>
        </p:nvSpPr>
        <p:spPr>
          <a:xfrm>
            <a:off x="4608576" y="34290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it-IT" sz="1100" dirty="0">
                <a:solidFill>
                  <a:srgbClr val="0A0A0A"/>
                </a:solidFill>
                <a:latin typeface="Inter"/>
              </a:rPr>
              <a:t>hours_spent</a:t>
            </a:r>
          </a:p>
        </p:txBody>
      </p:sp>
      <p:sp>
        <p:nvSpPr>
          <p:cNvPr id="25" name="Shape 23"/>
          <p:cNvSpPr/>
          <p:nvPr/>
        </p:nvSpPr>
        <p:spPr>
          <a:xfrm>
            <a:off x="6729984" y="3429000"/>
            <a:ext cx="2011680" cy="365760"/>
          </a:xfrm>
          <a:solidFill>
            <a:srgbClr val="FFFFFF"/>
          </a:solidFill>
          <a:ln w="9525">
            <a:solidFill>
              <a:srgbClr val="E5E5EC"/>
            </a:solidFill>
          </a:ln>
        </p:spPr>
        <p:txBody>
          <a:bodyPr/>
          <a:lstStyle/>
          <a:p>
            <a:endParaRPr lang="en-IT"/>
          </a:p>
        </p:txBody>
      </p:sp>
      <p:sp>
        <p:nvSpPr>
          <p:cNvPr id="26" name="Text 24"/>
          <p:cNvSpPr/>
          <p:nvPr/>
        </p:nvSpPr>
        <p:spPr>
          <a:xfrm>
            <a:off x="6729984" y="34290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it-IT" sz="1100" dirty="0">
                <a:solidFill>
                  <a:srgbClr val="0A0A0A"/>
                </a:solidFill>
                <a:latin typeface="Inter"/>
              </a:rPr>
              <a:t>rework_hours</a:t>
            </a:r>
          </a:p>
        </p:txBody>
      </p:sp>
      <p:sp>
        <p:nvSpPr>
          <p:cNvPr id="27" name="Shape 25"/>
          <p:cNvSpPr/>
          <p:nvPr/>
        </p:nvSpPr>
        <p:spPr>
          <a:xfrm>
            <a:off x="365760" y="3886200"/>
            <a:ext cx="2011680" cy="365760"/>
          </a:xfrm>
          <a:solidFill>
            <a:srgbClr val="FFFFFF"/>
          </a:solidFill>
          <a:ln w="9525">
            <a:solidFill>
              <a:srgbClr val="E5E5EC"/>
            </a:solidFill>
          </a:ln>
        </p:spPr>
        <p:txBody>
          <a:bodyPr/>
          <a:lstStyle/>
          <a:p>
            <a:endParaRPr lang="en-IT"/>
          </a:p>
        </p:txBody>
      </p:sp>
      <p:sp>
        <p:nvSpPr>
          <p:cNvPr id="28" name="Text 26"/>
          <p:cNvSpPr/>
          <p:nvPr/>
        </p:nvSpPr>
        <p:spPr>
          <a:xfrm>
            <a:off x="365760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it-IT" sz="1100" dirty="0">
                <a:solidFill>
                  <a:srgbClr val="0A0A0A"/>
                </a:solidFill>
                <a:latin typeface="Inter"/>
              </a:rPr>
              <a:t>pricing_model</a:t>
            </a:r>
          </a:p>
        </p:txBody>
      </p:sp>
      <p:sp>
        <p:nvSpPr>
          <p:cNvPr id="29" name="Shape 27"/>
          <p:cNvSpPr/>
          <p:nvPr/>
        </p:nvSpPr>
        <p:spPr>
          <a:xfrm>
            <a:off x="2487168" y="3886200"/>
            <a:ext cx="2011680" cy="365760"/>
          </a:xfrm>
          <a:solidFill>
            <a:srgbClr val="FFFFFF"/>
          </a:solidFill>
          <a:ln w="9525">
            <a:solidFill>
              <a:srgbClr val="E5E5EC"/>
            </a:solidFill>
          </a:ln>
        </p:spPr>
        <p:txBody>
          <a:bodyPr/>
          <a:lstStyle/>
          <a:p>
            <a:endParaRPr lang="en-IT"/>
          </a:p>
        </p:txBody>
      </p:sp>
      <p:sp>
        <p:nvSpPr>
          <p:cNvPr id="30" name="Text 28"/>
          <p:cNvSpPr/>
          <p:nvPr/>
        </p:nvSpPr>
        <p:spPr>
          <a:xfrm>
            <a:off x="24871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it-IT" sz="1100" dirty="0">
                <a:solidFill>
                  <a:srgbClr val="0A0A0A"/>
                </a:solidFill>
                <a:latin typeface="Inter"/>
              </a:rPr>
              <a:t>seniority</a:t>
            </a:r>
          </a:p>
        </p:txBody>
      </p:sp>
      <p:sp>
        <p:nvSpPr>
          <p:cNvPr id="31" name="Shape 29"/>
          <p:cNvSpPr/>
          <p:nvPr/>
        </p:nvSpPr>
        <p:spPr>
          <a:xfrm>
            <a:off x="4608576" y="3886200"/>
            <a:ext cx="2011680" cy="365760"/>
          </a:xfrm>
          <a:solidFill>
            <a:srgbClr val="FFFFFF"/>
          </a:solidFill>
          <a:ln w="9525">
            <a:solidFill>
              <a:srgbClr val="E5E5EC"/>
            </a:solidFill>
          </a:ln>
        </p:spPr>
        <p:txBody>
          <a:bodyPr/>
          <a:lstStyle/>
          <a:p>
            <a:endParaRPr lang="en-IT"/>
          </a:p>
        </p:txBody>
      </p:sp>
      <p:sp>
        <p:nvSpPr>
          <p:cNvPr id="32" name="Text 30"/>
          <p:cNvSpPr/>
          <p:nvPr/>
        </p:nvSpPr>
        <p:spPr>
          <a:xfrm>
            <a:off x="4608576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it-IT" sz="1100" dirty="0">
                <a:solidFill>
                  <a:srgbClr val="0A0A0A"/>
                </a:solidFill>
                <a:latin typeface="Inter"/>
              </a:rPr>
              <a:t>sla_breach</a:t>
            </a:r>
          </a:p>
        </p:txBody>
      </p:sp>
      <p:sp>
        <p:nvSpPr>
          <p:cNvPr id="33" name="Shape 31"/>
          <p:cNvSpPr/>
          <p:nvPr/>
        </p:nvSpPr>
        <p:spPr>
          <a:xfrm>
            <a:off x="6729984" y="3886200"/>
            <a:ext cx="2011680" cy="365760"/>
          </a:xfrm>
          <a:solidFill>
            <a:srgbClr val="FFFFFF"/>
          </a:solidFill>
          <a:ln w="9525">
            <a:solidFill>
              <a:srgbClr val="E5E5EC"/>
            </a:solidFill>
          </a:ln>
        </p:spPr>
        <p:txBody>
          <a:bodyPr/>
          <a:lstStyle/>
          <a:p>
            <a:endParaRPr lang="en-IT"/>
          </a:p>
        </p:txBody>
      </p:sp>
      <p:sp>
        <p:nvSpPr>
          <p:cNvPr id="34" name="Text 32"/>
          <p:cNvSpPr/>
          <p:nvPr/>
        </p:nvSpPr>
        <p:spPr>
          <a:xfrm>
            <a:off x="6729984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it-IT" sz="1100" dirty="0">
                <a:solidFill>
                  <a:srgbClr val="0A0A0A"/>
                </a:solidFill>
                <a:latin typeface="Inter"/>
              </a:rPr>
              <a:t>outcome_score</a:t>
            </a:r>
          </a:p>
        </p:txBody>
      </p:sp>
    </p:spTree>
    <p:extLst>
      <p:ext uri="{BB962C8B-B14F-4D97-AF65-F5344CB8AC3E}">
        <p14:creationId xmlns:p14="http://schemas.microsoft.com/office/powerpoint/2010/main" val="8234591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1463040" cy="228600"/>
          </a:xfrm>
          <a:prstGeom prst="rect">
            <a:avLst/>
          </a:prstGeom>
          <a:solidFill>
            <a:srgbClr val="F0C040"/>
          </a:solidFill>
          <a:ln w="12700">
            <a:solidFill>
              <a:srgbClr val="F0C04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100" b="1" spc="400" dirty="0">
                <a:solidFill>
                  <a:srgbClr val="FF3D6E"/>
                </a:solidFill>
                <a:latin typeface="Inter"/>
              </a:rPr>
              <a:t> FINDING #1</a:t>
            </a:r>
          </a:p>
        </p:txBody>
      </p:sp>
      <p:sp>
        <p:nvSpPr>
          <p:cNvPr id="4" name="Text 2"/>
          <p:cNvSpPr/>
          <p:nvPr/>
        </p:nvSpPr>
        <p:spPr>
          <a:xfrm>
            <a:off x="457200" y="6223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it-IT" sz="2800" b="1" spc="-30" dirty="0">
                <a:solidFill>
                  <a:srgbClr val="0A0A0A"/>
                </a:solidFill>
                <a:latin typeface="Inter"/>
              </a:rPr>
              <a:t>AI works: but only above a threshold</a:t>
            </a:r>
          </a:p>
        </p:txBody>
      </p:sp>
      <p:sp>
        <p:nvSpPr>
          <p:cNvPr id="6" name="Shape 3"/>
          <p:cNvSpPr/>
          <p:nvPr/>
        </p:nvSpPr>
        <p:spPr>
          <a:xfrm>
            <a:off x="102789" y="4066551"/>
            <a:ext cx="2912785" cy="987552"/>
          </a:xfrm>
          <a:solidFill>
            <a:srgbClr val="FFFFFF"/>
          </a:solidFill>
          <a:ln w="9525">
            <a:solidFill>
              <a:srgbClr val="E5E5EC"/>
            </a:solidFill>
          </a:ln>
        </p:spPr>
        <p:txBody>
          <a:bodyPr/>
          <a:lstStyle/>
          <a:p>
            <a:endParaRPr lang="en-IT"/>
          </a:p>
        </p:txBody>
      </p:sp>
      <p:sp>
        <p:nvSpPr>
          <p:cNvPr id="7" name="Shape 4"/>
          <p:cNvSpPr/>
          <p:nvPr/>
        </p:nvSpPr>
        <p:spPr>
          <a:xfrm>
            <a:off x="102789" y="4066551"/>
            <a:ext cx="54372" cy="987552"/>
          </a:xfrm>
          <a:solidFill>
            <a:srgbClr val="FF3D6E"/>
          </a:solidFill>
          <a:ln>
            <a:noFill/>
          </a:ln>
        </p:spPr>
        <p:txBody>
          <a:bodyPr/>
          <a:lstStyle/>
          <a:p>
            <a:endParaRPr lang="en-IT"/>
          </a:p>
        </p:txBody>
      </p:sp>
      <p:sp>
        <p:nvSpPr>
          <p:cNvPr id="8" name="Text 5"/>
          <p:cNvSpPr/>
          <p:nvPr/>
        </p:nvSpPr>
        <p:spPr>
          <a:xfrm>
            <a:off x="267381" y="4157991"/>
            <a:ext cx="269529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300" b="1" dirty="0">
                <a:solidFill>
                  <a:srgbClr val="0A0A0A"/>
                </a:solidFill>
                <a:latin typeface="Inter"/>
              </a:rPr>
              <a:t>Profit nearly doubles</a:t>
            </a:r>
          </a:p>
        </p:txBody>
      </p:sp>
      <p:sp>
        <p:nvSpPr>
          <p:cNvPr id="9" name="Text 6"/>
          <p:cNvSpPr/>
          <p:nvPr/>
        </p:nvSpPr>
        <p:spPr>
          <a:xfrm>
            <a:off x="267381" y="4414023"/>
            <a:ext cx="269529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100" dirty="0">
                <a:solidFill>
                  <a:srgbClr val="5A5A6E"/>
                </a:solidFill>
                <a:latin typeface="Inter"/>
              </a:rPr>
              <a:t>€232 in low band rises to €474 in high band. Medium AI barely moves the needle, the jump happens above 50%.</a:t>
            </a:r>
          </a:p>
        </p:txBody>
      </p:sp>
      <p:sp>
        <p:nvSpPr>
          <p:cNvPr id="10" name="Shape 7"/>
          <p:cNvSpPr/>
          <p:nvPr/>
        </p:nvSpPr>
        <p:spPr>
          <a:xfrm>
            <a:off x="3125794" y="4066551"/>
            <a:ext cx="2666352" cy="987552"/>
          </a:xfrm>
          <a:solidFill>
            <a:srgbClr val="FFFFFF"/>
          </a:solidFill>
          <a:ln w="9525">
            <a:solidFill>
              <a:srgbClr val="E5E5EC"/>
            </a:solidFill>
          </a:ln>
        </p:spPr>
        <p:txBody>
          <a:bodyPr/>
          <a:lstStyle/>
          <a:p>
            <a:endParaRPr lang="en-IT"/>
          </a:p>
        </p:txBody>
      </p:sp>
      <p:sp>
        <p:nvSpPr>
          <p:cNvPr id="11" name="Shape 8"/>
          <p:cNvSpPr/>
          <p:nvPr/>
        </p:nvSpPr>
        <p:spPr>
          <a:xfrm>
            <a:off x="3125794" y="4066551"/>
            <a:ext cx="49772" cy="987552"/>
          </a:xfrm>
          <a:solidFill>
            <a:srgbClr val="FF3D6E"/>
          </a:solidFill>
          <a:ln>
            <a:noFill/>
          </a:ln>
        </p:spPr>
        <p:txBody>
          <a:bodyPr/>
          <a:lstStyle/>
          <a:p>
            <a:endParaRPr lang="en-IT"/>
          </a:p>
        </p:txBody>
      </p:sp>
      <p:sp>
        <p:nvSpPr>
          <p:cNvPr id="12" name="Text 9"/>
          <p:cNvSpPr/>
          <p:nvPr/>
        </p:nvSpPr>
        <p:spPr>
          <a:xfrm>
            <a:off x="3290386" y="4157991"/>
            <a:ext cx="2467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300" b="1" dirty="0">
                <a:solidFill>
                  <a:srgbClr val="0A0A0A"/>
                </a:solidFill>
                <a:latin typeface="Inter"/>
              </a:rPr>
              <a:t>The 50% phase change</a:t>
            </a:r>
          </a:p>
        </p:txBody>
      </p:sp>
      <p:sp>
        <p:nvSpPr>
          <p:cNvPr id="13" name="Text 10"/>
          <p:cNvSpPr/>
          <p:nvPr/>
        </p:nvSpPr>
        <p:spPr>
          <a:xfrm>
            <a:off x="3290386" y="4414023"/>
            <a:ext cx="24672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100" dirty="0">
                <a:solidFill>
                  <a:srgbClr val="5A5A6E"/>
                </a:solidFill>
                <a:latin typeface="Inter"/>
              </a:rPr>
              <a:t>Below 50%, gains are modest and barely separable from noise. Above 50%, profit improvement accelerates sharply.</a:t>
            </a:r>
          </a:p>
        </p:txBody>
      </p:sp>
      <p:sp>
        <p:nvSpPr>
          <p:cNvPr id="14" name="Shape 11"/>
          <p:cNvSpPr/>
          <p:nvPr/>
        </p:nvSpPr>
        <p:spPr>
          <a:xfrm>
            <a:off x="5917335" y="4066551"/>
            <a:ext cx="2860905" cy="987552"/>
          </a:xfrm>
          <a:solidFill>
            <a:srgbClr val="FFFFFF"/>
          </a:solidFill>
          <a:ln w="9525">
            <a:solidFill>
              <a:srgbClr val="E5E5EC"/>
            </a:solidFill>
          </a:ln>
        </p:spPr>
        <p:txBody>
          <a:bodyPr/>
          <a:lstStyle/>
          <a:p>
            <a:endParaRPr lang="en-IT"/>
          </a:p>
        </p:txBody>
      </p:sp>
      <p:sp>
        <p:nvSpPr>
          <p:cNvPr id="15" name="Shape 12"/>
          <p:cNvSpPr/>
          <p:nvPr/>
        </p:nvSpPr>
        <p:spPr>
          <a:xfrm>
            <a:off x="5917335" y="4066551"/>
            <a:ext cx="53404" cy="987552"/>
          </a:xfrm>
          <a:solidFill>
            <a:srgbClr val="FF3D6E"/>
          </a:solidFill>
          <a:ln>
            <a:noFill/>
          </a:ln>
        </p:spPr>
        <p:txBody>
          <a:bodyPr/>
          <a:lstStyle/>
          <a:p>
            <a:endParaRPr lang="en-IT"/>
          </a:p>
        </p:txBody>
      </p:sp>
      <p:sp>
        <p:nvSpPr>
          <p:cNvPr id="16" name="Text 13"/>
          <p:cNvSpPr/>
          <p:nvPr/>
        </p:nvSpPr>
        <p:spPr>
          <a:xfrm>
            <a:off x="6081927" y="4157991"/>
            <a:ext cx="26472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300" b="1" dirty="0">
                <a:solidFill>
                  <a:srgbClr val="0A0A0A"/>
                </a:solidFill>
                <a:latin typeface="Inter"/>
              </a:rPr>
              <a:t>Loss rate collapses</a:t>
            </a:r>
          </a:p>
        </p:txBody>
      </p:sp>
      <p:sp>
        <p:nvSpPr>
          <p:cNvPr id="17" name="Text 14"/>
          <p:cNvSpPr/>
          <p:nvPr/>
        </p:nvSpPr>
        <p:spPr>
          <a:xfrm>
            <a:off x="6081927" y="4414023"/>
            <a:ext cx="26472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100" dirty="0">
                <a:solidFill>
                  <a:srgbClr val="5A5A6E"/>
                </a:solidFill>
                <a:latin typeface="Inter"/>
              </a:rPr>
              <a:t>SLA breaches fall 44% → 32%. Loss rate drops 31% → 19%. AI de-risks delivery, not just speeds it up.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53E60589-EFD9-DFE4-C292-13E0DEB8943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79"/>
          <a:stretch>
            <a:fillRect/>
          </a:stretch>
        </p:blipFill>
        <p:spPr>
          <a:xfrm>
            <a:off x="804740" y="1206500"/>
            <a:ext cx="7534519" cy="1397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48548C85-BAAA-6E60-4609-FAE931AB85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64933" y="2667000"/>
            <a:ext cx="5518169" cy="127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26764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1463040" cy="228600"/>
          </a:xfrm>
          <a:prstGeom prst="rect">
            <a:avLst/>
          </a:prstGeom>
          <a:solidFill>
            <a:srgbClr val="F0C040"/>
          </a:solidFill>
          <a:ln w="12700">
            <a:solidFill>
              <a:srgbClr val="F0C04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100" b="1" spc="400" dirty="0">
                <a:solidFill>
                  <a:srgbClr val="FF3D6E"/>
                </a:solidFill>
                <a:latin typeface="Inter"/>
              </a:rPr>
              <a:t> FINDING #2</a:t>
            </a:r>
          </a:p>
        </p:txBody>
      </p:sp>
      <p:sp>
        <p:nvSpPr>
          <p:cNvPr id="4" name="Text 2"/>
          <p:cNvSpPr/>
          <p:nvPr/>
        </p:nvSpPr>
        <p:spPr>
          <a:xfrm>
            <a:off x="457200" y="621792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it-IT" sz="2800" b="1" spc="-30" dirty="0">
                <a:solidFill>
                  <a:srgbClr val="0A0A0A"/>
                </a:solidFill>
                <a:latin typeface="Inter"/>
              </a:rPr>
              <a:t>The mechanism is hours, not quality</a:t>
            </a:r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8229600" cy="749808"/>
          </a:xfrm>
          <a:solidFill>
            <a:srgbClr val="FFFFFF"/>
          </a:solidFill>
          <a:ln w="9525">
            <a:solidFill>
              <a:srgbClr val="E5E5EC"/>
            </a:solidFill>
          </a:ln>
        </p:spPr>
        <p:txBody>
          <a:bodyPr/>
          <a:lstStyle/>
          <a:p>
            <a:endParaRPr lang="en-IT"/>
          </a:p>
        </p:txBody>
      </p:sp>
      <p:sp>
        <p:nvSpPr>
          <p:cNvPr id="6" name="Text 4"/>
          <p:cNvSpPr/>
          <p:nvPr/>
        </p:nvSpPr>
        <p:spPr>
          <a:xfrm>
            <a:off x="640080" y="1234440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it-IT" sz="1300" dirty="0">
                <a:solidFill>
                  <a:srgbClr val="0A0A0A"/>
                </a:solidFill>
                <a:latin typeface="Inter"/>
              </a:rPr>
              <a:t>Once </a:t>
            </a:r>
            <a:r>
              <a:rPr lang="it-IT" sz="1300" b="1" dirty="0">
                <a:solidFill>
                  <a:srgbClr val="0A0A0A"/>
                </a:solidFill>
                <a:latin typeface="Inter"/>
              </a:rPr>
              <a:t>hours_spent</a:t>
            </a:r>
            <a:r>
              <a:rPr lang="it-IT" sz="1300" dirty="0">
                <a:solidFill>
                  <a:srgbClr val="0A0A0A"/>
                </a:solidFill>
                <a:latin typeface="Inter"/>
              </a:rPr>
              <a:t> enters the OLS model, errors, revisions, rework and outcome_score all become statistically insignificant </a:t>
            </a:r>
            <a:r>
              <a:rPr lang="it-IT" sz="1300" b="1" dirty="0">
                <a:solidFill>
                  <a:srgbClr val="FF3D6E"/>
                </a:solidFill>
                <a:latin typeface="Inter"/>
              </a:rPr>
              <a:t>(p &gt; 0.4)</a:t>
            </a:r>
          </a:p>
        </p:txBody>
      </p:sp>
      <p:sp>
        <p:nvSpPr>
          <p:cNvPr id="7" name="Shape 5"/>
          <p:cNvSpPr/>
          <p:nvPr/>
        </p:nvSpPr>
        <p:spPr>
          <a:xfrm>
            <a:off x="365760" y="2103120"/>
            <a:ext cx="4114800" cy="2606040"/>
          </a:xfrm>
          <a:solidFill>
            <a:srgbClr val="0A0A0A"/>
          </a:solidFill>
          <a:ln>
            <a:noFill/>
          </a:ln>
        </p:spPr>
        <p:txBody>
          <a:bodyPr/>
          <a:lstStyle/>
          <a:p>
            <a:endParaRPr lang="en-IT" dirty="0"/>
          </a:p>
        </p:txBody>
      </p:sp>
      <p:sp>
        <p:nvSpPr>
          <p:cNvPr id="8" name="Text 6"/>
          <p:cNvSpPr/>
          <p:nvPr/>
        </p:nvSpPr>
        <p:spPr>
          <a:xfrm>
            <a:off x="502920" y="221284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100" b="1" spc="400" dirty="0">
                <a:solidFill>
                  <a:srgbClr val="FF3D6E"/>
                </a:solidFill>
                <a:latin typeface="Inter"/>
              </a:rPr>
              <a:t>HOW AI ACTS ON PROFIT</a:t>
            </a:r>
          </a:p>
        </p:txBody>
      </p:sp>
      <p:sp>
        <p:nvSpPr>
          <p:cNvPr id="9" name="Text 7"/>
          <p:cNvSpPr/>
          <p:nvPr/>
        </p:nvSpPr>
        <p:spPr>
          <a:xfrm>
            <a:off x="502920" y="254203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500" b="1" dirty="0">
                <a:solidFill>
                  <a:srgbClr val="FFFFFF"/>
                </a:solidFill>
                <a:latin typeface="Inter"/>
              </a:rPr>
              <a:t>AI compresses hours.</a:t>
            </a:r>
          </a:p>
        </p:txBody>
      </p:sp>
      <p:sp>
        <p:nvSpPr>
          <p:cNvPr id="10" name="Text 8"/>
          <p:cNvSpPr/>
          <p:nvPr/>
        </p:nvSpPr>
        <p:spPr>
          <a:xfrm>
            <a:off x="502920" y="283464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100" dirty="0">
                <a:solidFill>
                  <a:srgbClr val="5A5A6E"/>
                </a:solidFill>
                <a:latin typeface="Inter"/>
              </a:rPr>
              <a:t>The contract decides where those hours go:</a:t>
            </a:r>
          </a:p>
        </p:txBody>
      </p:sp>
      <p:sp>
        <p:nvSpPr>
          <p:cNvPr id="11" name="Shape 9"/>
          <p:cNvSpPr/>
          <p:nvPr/>
        </p:nvSpPr>
        <p:spPr>
          <a:xfrm>
            <a:off x="502920" y="3154680"/>
            <a:ext cx="3840480" cy="384048"/>
          </a:xfrm>
          <a:solidFill>
            <a:srgbClr val="1A2918"/>
          </a:solidFill>
          <a:ln>
            <a:noFill/>
          </a:ln>
        </p:spPr>
        <p:txBody>
          <a:bodyPr/>
          <a:lstStyle/>
          <a:p>
            <a:endParaRPr lang="en-IT"/>
          </a:p>
        </p:txBody>
      </p:sp>
      <p:sp>
        <p:nvSpPr>
          <p:cNvPr id="12" name="Text 10"/>
          <p:cNvSpPr/>
          <p:nvPr/>
        </p:nvSpPr>
        <p:spPr>
          <a:xfrm>
            <a:off x="594360" y="315468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200" b="1" dirty="0">
                <a:solidFill>
                  <a:srgbClr val="6BE07F"/>
                </a:solidFill>
                <a:latin typeface="Inter"/>
              </a:rPr>
              <a:t>↑ Agency margin (fixed / value-based)</a:t>
            </a:r>
          </a:p>
        </p:txBody>
      </p:sp>
      <p:sp>
        <p:nvSpPr>
          <p:cNvPr id="13" name="Shape 11"/>
          <p:cNvSpPr/>
          <p:nvPr/>
        </p:nvSpPr>
        <p:spPr>
          <a:xfrm>
            <a:off x="502920" y="3611880"/>
            <a:ext cx="3840480" cy="384048"/>
          </a:xfrm>
          <a:solidFill>
            <a:srgbClr val="2A1815"/>
          </a:solidFill>
          <a:ln>
            <a:noFill/>
          </a:ln>
        </p:spPr>
        <p:txBody>
          <a:bodyPr/>
          <a:lstStyle/>
          <a:p>
            <a:endParaRPr lang="en-IT"/>
          </a:p>
        </p:txBody>
      </p:sp>
      <p:sp>
        <p:nvSpPr>
          <p:cNvPr id="14" name="Text 12"/>
          <p:cNvSpPr/>
          <p:nvPr/>
        </p:nvSpPr>
        <p:spPr>
          <a:xfrm>
            <a:off x="594360" y="361188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200" b="1" dirty="0">
                <a:solidFill>
                  <a:srgbClr val="FF6B7A"/>
                </a:solidFill>
                <a:latin typeface="Inter"/>
              </a:rPr>
              <a:t>↓ Client discount (hourly)</a:t>
            </a:r>
          </a:p>
        </p:txBody>
      </p:sp>
      <p:sp>
        <p:nvSpPr>
          <p:cNvPr id="15" name="Text 13"/>
          <p:cNvSpPr/>
          <p:nvPr/>
        </p:nvSpPr>
        <p:spPr>
          <a:xfrm>
            <a:off x="502920" y="409651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000" i="1" dirty="0">
                <a:solidFill>
                  <a:srgbClr val="5A5A6E"/>
                </a:solidFill>
                <a:latin typeface="Inter"/>
              </a:rPr>
              <a:t>Net efficiency: −2.0 hrs saved + 0.9 hrs rework = 1.1 hrs net gain per task</a:t>
            </a:r>
          </a:p>
        </p:txBody>
      </p:sp>
      <p:sp>
        <p:nvSpPr>
          <p:cNvPr id="16" name="Text 14"/>
          <p:cNvSpPr/>
          <p:nvPr/>
        </p:nvSpPr>
        <p:spPr>
          <a:xfrm>
            <a:off x="4754880" y="210312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100" b="1" spc="400" dirty="0">
                <a:solidFill>
                  <a:srgbClr val="FF3D6E"/>
                </a:solidFill>
                <a:latin typeface="Inter"/>
              </a:rPr>
              <a:t>OLS COEFFICIENTS</a:t>
            </a:r>
          </a:p>
        </p:txBody>
      </p:sp>
      <p:sp>
        <p:nvSpPr>
          <p:cNvPr id="17" name="Shape 15"/>
          <p:cNvSpPr/>
          <p:nvPr/>
        </p:nvSpPr>
        <p:spPr>
          <a:xfrm>
            <a:off x="4754880" y="2423160"/>
            <a:ext cx="4023360" cy="347472"/>
          </a:xfrm>
          <a:solidFill>
            <a:srgbClr val="FFFFFF"/>
          </a:solidFill>
          <a:ln w="9525">
            <a:solidFill>
              <a:srgbClr val="E5E5EC"/>
            </a:solidFill>
          </a:ln>
        </p:spPr>
        <p:txBody>
          <a:bodyPr/>
          <a:lstStyle/>
          <a:p>
            <a:endParaRPr lang="en-IT"/>
          </a:p>
        </p:txBody>
      </p:sp>
      <p:sp>
        <p:nvSpPr>
          <p:cNvPr id="18" name="Text 16"/>
          <p:cNvSpPr/>
          <p:nvPr/>
        </p:nvSpPr>
        <p:spPr>
          <a:xfrm>
            <a:off x="4846320" y="2423160"/>
            <a:ext cx="20955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000" dirty="0">
                <a:solidFill>
                  <a:srgbClr val="5A5A6E"/>
                </a:solidFill>
                <a:latin typeface="Inter"/>
              </a:rPr>
              <a:t>ai_usage_pct coefficient (OLS)</a:t>
            </a:r>
          </a:p>
        </p:txBody>
      </p:sp>
      <p:sp>
        <p:nvSpPr>
          <p:cNvPr id="19" name="Text 17"/>
          <p:cNvSpPr/>
          <p:nvPr/>
        </p:nvSpPr>
        <p:spPr>
          <a:xfrm>
            <a:off x="7086600" y="2423160"/>
            <a:ext cx="1651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it-IT" sz="1000" b="1" dirty="0">
                <a:solidFill>
                  <a:srgbClr val="0A0A0A"/>
                </a:solidFill>
                <a:latin typeface="Inter"/>
              </a:rPr>
              <a:t>+€222 at full adoption (p=0.015)</a:t>
            </a:r>
          </a:p>
        </p:txBody>
      </p:sp>
      <p:sp>
        <p:nvSpPr>
          <p:cNvPr id="20" name="Shape 18"/>
          <p:cNvSpPr/>
          <p:nvPr/>
        </p:nvSpPr>
        <p:spPr>
          <a:xfrm>
            <a:off x="4754880" y="2816352"/>
            <a:ext cx="4023360" cy="347472"/>
          </a:xfrm>
          <a:solidFill>
            <a:srgbClr val="FFFFFF"/>
          </a:solidFill>
          <a:ln w="9525">
            <a:solidFill>
              <a:srgbClr val="E5E5EC"/>
            </a:solidFill>
          </a:ln>
        </p:spPr>
        <p:txBody>
          <a:bodyPr/>
          <a:lstStyle/>
          <a:p>
            <a:endParaRPr lang="en-IT"/>
          </a:p>
        </p:txBody>
      </p:sp>
      <p:sp>
        <p:nvSpPr>
          <p:cNvPr id="21" name="Text 19"/>
          <p:cNvSpPr/>
          <p:nvPr/>
        </p:nvSpPr>
        <p:spPr>
          <a:xfrm>
            <a:off x="4846320" y="2816352"/>
            <a:ext cx="20955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000" dirty="0">
                <a:solidFill>
                  <a:srgbClr val="5A5A6E"/>
                </a:solidFill>
                <a:latin typeface="Inter"/>
              </a:rPr>
              <a:t>hours_spent coefficient</a:t>
            </a:r>
          </a:p>
        </p:txBody>
      </p:sp>
      <p:sp>
        <p:nvSpPr>
          <p:cNvPr id="22" name="Text 20"/>
          <p:cNvSpPr/>
          <p:nvPr/>
        </p:nvSpPr>
        <p:spPr>
          <a:xfrm>
            <a:off x="7086600" y="2816352"/>
            <a:ext cx="1651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it-IT" sz="1000" b="1" dirty="0">
                <a:solidFill>
                  <a:srgbClr val="0A0A0A"/>
                </a:solidFill>
                <a:latin typeface="Inter"/>
              </a:rPr>
              <a:t>−€5/hr (p=0.034)</a:t>
            </a:r>
          </a:p>
        </p:txBody>
      </p:sp>
      <p:sp>
        <p:nvSpPr>
          <p:cNvPr id="23" name="Shape 21"/>
          <p:cNvSpPr/>
          <p:nvPr/>
        </p:nvSpPr>
        <p:spPr>
          <a:xfrm>
            <a:off x="4754880" y="3209544"/>
            <a:ext cx="4023360" cy="347472"/>
          </a:xfrm>
          <a:solidFill>
            <a:srgbClr val="FFFFFF"/>
          </a:solidFill>
          <a:ln w="9525">
            <a:solidFill>
              <a:srgbClr val="E5E5EC"/>
            </a:solidFill>
          </a:ln>
        </p:spPr>
        <p:txBody>
          <a:bodyPr/>
          <a:lstStyle/>
          <a:p>
            <a:endParaRPr lang="en-IT"/>
          </a:p>
        </p:txBody>
      </p:sp>
      <p:sp>
        <p:nvSpPr>
          <p:cNvPr id="24" name="Text 22"/>
          <p:cNvSpPr/>
          <p:nvPr/>
        </p:nvSpPr>
        <p:spPr>
          <a:xfrm>
            <a:off x="4846320" y="3209544"/>
            <a:ext cx="20955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000" dirty="0">
                <a:solidFill>
                  <a:srgbClr val="5A5A6E"/>
                </a:solidFill>
                <a:latin typeface="Inter"/>
              </a:rPr>
              <a:t>Quality vars once hours enter</a:t>
            </a:r>
          </a:p>
        </p:txBody>
      </p:sp>
      <p:sp>
        <p:nvSpPr>
          <p:cNvPr id="25" name="Text 23"/>
          <p:cNvSpPr/>
          <p:nvPr/>
        </p:nvSpPr>
        <p:spPr>
          <a:xfrm>
            <a:off x="7086600" y="3209544"/>
            <a:ext cx="1651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it-IT" sz="1000" b="1" dirty="0">
                <a:solidFill>
                  <a:srgbClr val="0A0A0A"/>
                </a:solidFill>
                <a:latin typeface="Inter"/>
              </a:rPr>
              <a:t>All insignificant p&gt;0.4</a:t>
            </a:r>
          </a:p>
        </p:txBody>
      </p:sp>
      <p:sp>
        <p:nvSpPr>
          <p:cNvPr id="26" name="Shape 24"/>
          <p:cNvSpPr/>
          <p:nvPr/>
        </p:nvSpPr>
        <p:spPr>
          <a:xfrm>
            <a:off x="4754880" y="3602736"/>
            <a:ext cx="4023360" cy="347472"/>
          </a:xfrm>
          <a:solidFill>
            <a:srgbClr val="FFFFFF"/>
          </a:solidFill>
          <a:ln w="9525">
            <a:solidFill>
              <a:srgbClr val="E5E5EC"/>
            </a:solidFill>
          </a:ln>
        </p:spPr>
        <p:txBody>
          <a:bodyPr/>
          <a:lstStyle/>
          <a:p>
            <a:endParaRPr lang="en-IT"/>
          </a:p>
        </p:txBody>
      </p:sp>
      <p:sp>
        <p:nvSpPr>
          <p:cNvPr id="27" name="Text 25"/>
          <p:cNvSpPr/>
          <p:nvPr/>
        </p:nvSpPr>
        <p:spPr>
          <a:xfrm>
            <a:off x="4846320" y="3602736"/>
            <a:ext cx="20955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000" dirty="0">
                <a:solidFill>
                  <a:srgbClr val="5A5A6E"/>
                </a:solidFill>
                <a:latin typeface="Inter"/>
              </a:rPr>
              <a:t>Rework quadratic term</a:t>
            </a:r>
          </a:p>
        </p:txBody>
      </p:sp>
      <p:sp>
        <p:nvSpPr>
          <p:cNvPr id="28" name="Text 26"/>
          <p:cNvSpPr/>
          <p:nvPr/>
        </p:nvSpPr>
        <p:spPr>
          <a:xfrm>
            <a:off x="7086600" y="3602736"/>
            <a:ext cx="1651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it-IT" sz="1000" b="1" dirty="0">
                <a:solidFill>
                  <a:srgbClr val="0A0A0A"/>
                </a:solidFill>
                <a:latin typeface="Inter"/>
              </a:rPr>
              <a:t>p=0.605, no tipping point</a:t>
            </a:r>
          </a:p>
        </p:txBody>
      </p:sp>
      <p:sp>
        <p:nvSpPr>
          <p:cNvPr id="29" name="Shape 27"/>
          <p:cNvSpPr/>
          <p:nvPr/>
        </p:nvSpPr>
        <p:spPr>
          <a:xfrm>
            <a:off x="4754880" y="3995928"/>
            <a:ext cx="4023360" cy="347472"/>
          </a:xfrm>
          <a:solidFill>
            <a:srgbClr val="FFFFFF"/>
          </a:solidFill>
          <a:ln w="9525">
            <a:solidFill>
              <a:srgbClr val="E5E5EC"/>
            </a:solidFill>
          </a:ln>
        </p:spPr>
        <p:txBody>
          <a:bodyPr/>
          <a:lstStyle/>
          <a:p>
            <a:endParaRPr lang="en-IT"/>
          </a:p>
        </p:txBody>
      </p:sp>
      <p:sp>
        <p:nvSpPr>
          <p:cNvPr id="30" name="Text 28"/>
          <p:cNvSpPr/>
          <p:nvPr/>
        </p:nvSpPr>
        <p:spPr>
          <a:xfrm>
            <a:off x="4846320" y="3995928"/>
            <a:ext cx="20955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000" dirty="0">
                <a:solidFill>
                  <a:srgbClr val="5A5A6E"/>
                </a:solidFill>
                <a:latin typeface="Inter"/>
              </a:rPr>
              <a:t>AI × rework interaction</a:t>
            </a:r>
          </a:p>
        </p:txBody>
      </p:sp>
      <p:sp>
        <p:nvSpPr>
          <p:cNvPr id="31" name="Text 29"/>
          <p:cNvSpPr/>
          <p:nvPr/>
        </p:nvSpPr>
        <p:spPr>
          <a:xfrm>
            <a:off x="7086600" y="3995928"/>
            <a:ext cx="1651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it-IT" sz="1000" b="1" dirty="0">
                <a:solidFill>
                  <a:srgbClr val="0A0A0A"/>
                </a:solidFill>
                <a:latin typeface="Inter"/>
              </a:rPr>
              <a:t>p=0.80, not a quality channel</a:t>
            </a:r>
          </a:p>
        </p:txBody>
      </p:sp>
    </p:spTree>
    <p:extLst>
      <p:ext uri="{BB962C8B-B14F-4D97-AF65-F5344CB8AC3E}">
        <p14:creationId xmlns:p14="http://schemas.microsoft.com/office/powerpoint/2010/main" val="34183786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8C8F075-18B1-AA84-8B24-24A425927C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9067" y="2547311"/>
            <a:ext cx="5842495" cy="25717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F0EC1FE-D8FC-BE3A-5D88-11C349826C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7778" y="272051"/>
            <a:ext cx="5903250" cy="2074781"/>
          </a:xfrm>
          <a:prstGeom prst="rect">
            <a:avLst/>
          </a:prstGeom>
        </p:spPr>
      </p:pic>
      <p:sp>
        <p:nvSpPr>
          <p:cNvPr id="4" name="Shape 3">
            <a:extLst>
              <a:ext uri="{FF2B5EF4-FFF2-40B4-BE49-F238E27FC236}">
                <a16:creationId xmlns:a16="http://schemas.microsoft.com/office/drawing/2014/main" id="{0D21DE71-438E-3302-787C-CB83993EF132}"/>
              </a:ext>
            </a:extLst>
          </p:cNvPr>
          <p:cNvSpPr/>
          <p:nvPr/>
        </p:nvSpPr>
        <p:spPr>
          <a:xfrm>
            <a:off x="122981" y="1218002"/>
            <a:ext cx="2950960" cy="1051560"/>
          </a:xfrm>
          <a:solidFill>
            <a:srgbClr val="FFFFFF"/>
          </a:solidFill>
          <a:ln w="9525">
            <a:solidFill>
              <a:srgbClr val="E5E5EC"/>
            </a:solidFill>
          </a:ln>
        </p:spPr>
        <p:txBody>
          <a:bodyPr/>
          <a:lstStyle/>
          <a:p>
            <a:endParaRPr lang="en-IT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A2A87841-8765-3E85-A8EF-7C644A20D557}"/>
              </a:ext>
            </a:extLst>
          </p:cNvPr>
          <p:cNvSpPr/>
          <p:nvPr/>
        </p:nvSpPr>
        <p:spPr>
          <a:xfrm>
            <a:off x="122981" y="1218002"/>
            <a:ext cx="60755" cy="1051560"/>
          </a:xfrm>
          <a:solidFill>
            <a:srgbClr val="FF3D6E"/>
          </a:solidFill>
          <a:ln>
            <a:noFill/>
          </a:ln>
        </p:spPr>
        <p:txBody>
          <a:bodyPr/>
          <a:lstStyle/>
          <a:p>
            <a:endParaRPr lang="en-IT"/>
          </a:p>
        </p:txBody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1B47BFCC-0FE3-F7BA-DC9E-65B8084DC3BA}"/>
              </a:ext>
            </a:extLst>
          </p:cNvPr>
          <p:cNvSpPr/>
          <p:nvPr/>
        </p:nvSpPr>
        <p:spPr>
          <a:xfrm>
            <a:off x="287573" y="1309442"/>
            <a:ext cx="27079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300" b="1" dirty="0">
                <a:solidFill>
                  <a:srgbClr val="0A0A0A"/>
                </a:solidFill>
                <a:latin typeface="Inter"/>
              </a:rPr>
              <a:t>The Net Gain Pivot</a:t>
            </a:r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460F2ED3-4496-A4F1-C98B-462BF4186F74}"/>
              </a:ext>
            </a:extLst>
          </p:cNvPr>
          <p:cNvSpPr/>
          <p:nvPr/>
        </p:nvSpPr>
        <p:spPr>
          <a:xfrm>
            <a:off x="287573" y="1565474"/>
            <a:ext cx="27079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000" dirty="0">
                <a:solidFill>
                  <a:srgbClr val="5A5A6E"/>
                </a:solidFill>
                <a:latin typeface="Inter"/>
              </a:rPr>
              <a:t>AI is a net time loss until crossing the </a:t>
            </a:r>
            <a:r>
              <a:rPr lang="it-IT" sz="1000" b="1" dirty="0">
                <a:solidFill>
                  <a:srgbClr val="0A0A0A"/>
                </a:solidFill>
                <a:latin typeface="Inter"/>
              </a:rPr>
              <a:t>50–60% usage threshold</a:t>
            </a:r>
            <a:r>
              <a:rPr lang="it-IT" sz="1000" dirty="0">
                <a:solidFill>
                  <a:srgbClr val="5A5A6E"/>
                </a:solidFill>
                <a:latin typeface="Inter"/>
              </a:rPr>
              <a:t>. Below it, rework cancels out gains; above it, speed wins.</a:t>
            </a: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34784FD9-E411-B005-C1ED-EFE16D8AAC21}"/>
              </a:ext>
            </a:extLst>
          </p:cNvPr>
          <p:cNvSpPr/>
          <p:nvPr/>
        </p:nvSpPr>
        <p:spPr>
          <a:xfrm>
            <a:off x="122981" y="2361002"/>
            <a:ext cx="2950960" cy="1051560"/>
          </a:xfrm>
          <a:solidFill>
            <a:srgbClr val="FFFFFF"/>
          </a:solidFill>
          <a:ln w="9525">
            <a:solidFill>
              <a:srgbClr val="E5E5EC"/>
            </a:solidFill>
          </a:ln>
        </p:spPr>
        <p:txBody>
          <a:bodyPr/>
          <a:lstStyle/>
          <a:p>
            <a:endParaRPr lang="en-IT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D2F93E70-1CB9-EB11-B464-65DC0B17B8B4}"/>
              </a:ext>
            </a:extLst>
          </p:cNvPr>
          <p:cNvSpPr/>
          <p:nvPr/>
        </p:nvSpPr>
        <p:spPr>
          <a:xfrm>
            <a:off x="122981" y="2361002"/>
            <a:ext cx="60755" cy="1051560"/>
          </a:xfrm>
          <a:solidFill>
            <a:srgbClr val="FF3D6E"/>
          </a:solidFill>
          <a:ln>
            <a:noFill/>
          </a:ln>
        </p:spPr>
        <p:txBody>
          <a:bodyPr/>
          <a:lstStyle/>
          <a:p>
            <a:endParaRPr lang="en-IT"/>
          </a:p>
        </p:txBody>
      </p:sp>
      <p:sp>
        <p:nvSpPr>
          <p:cNvPr id="13" name="Text 9">
            <a:extLst>
              <a:ext uri="{FF2B5EF4-FFF2-40B4-BE49-F238E27FC236}">
                <a16:creationId xmlns:a16="http://schemas.microsoft.com/office/drawing/2014/main" id="{A407179E-29F2-08FF-6C41-EB66F3328A58}"/>
              </a:ext>
            </a:extLst>
          </p:cNvPr>
          <p:cNvSpPr/>
          <p:nvPr/>
        </p:nvSpPr>
        <p:spPr>
          <a:xfrm>
            <a:off x="287573" y="2452442"/>
            <a:ext cx="27079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300" b="1" dirty="0">
                <a:solidFill>
                  <a:srgbClr val="0A0A0A"/>
                </a:solidFill>
                <a:latin typeface="Inter"/>
              </a:rPr>
              <a:t>The Production Swap</a:t>
            </a:r>
          </a:p>
        </p:txBody>
      </p:sp>
      <p:sp>
        <p:nvSpPr>
          <p:cNvPr id="15" name="Text 10">
            <a:extLst>
              <a:ext uri="{FF2B5EF4-FFF2-40B4-BE49-F238E27FC236}">
                <a16:creationId xmlns:a16="http://schemas.microsoft.com/office/drawing/2014/main" id="{191D2A5A-00C3-C0DC-0675-FE7470BC684D}"/>
              </a:ext>
            </a:extLst>
          </p:cNvPr>
          <p:cNvSpPr/>
          <p:nvPr/>
        </p:nvSpPr>
        <p:spPr>
          <a:xfrm>
            <a:off x="287573" y="2708474"/>
            <a:ext cx="27079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000" dirty="0">
                <a:solidFill>
                  <a:srgbClr val="5A5A6E"/>
                </a:solidFill>
                <a:latin typeface="Inter"/>
              </a:rPr>
              <a:t>High AI cuts </a:t>
            </a:r>
            <a:r>
              <a:rPr lang="it-IT" sz="1000" b="1" dirty="0">
                <a:solidFill>
                  <a:srgbClr val="0A0A0A"/>
                </a:solidFill>
                <a:latin typeface="Inter"/>
              </a:rPr>
              <a:t>hours spent</a:t>
            </a:r>
            <a:r>
              <a:rPr lang="it-IT" sz="1000" dirty="0">
                <a:solidFill>
                  <a:srgbClr val="5A5A6E"/>
                </a:solidFill>
                <a:latin typeface="Inter"/>
              </a:rPr>
              <a:t> but raises </a:t>
            </a:r>
            <a:r>
              <a:rPr lang="it-IT" sz="1000" b="1" dirty="0">
                <a:solidFill>
                  <a:srgbClr val="0A0A0A"/>
                </a:solidFill>
                <a:latin typeface="Inter"/>
              </a:rPr>
              <a:t>rework hours</a:t>
            </a:r>
            <a:r>
              <a:rPr lang="it-IT" sz="1000" dirty="0">
                <a:solidFill>
                  <a:srgbClr val="5A5A6E"/>
                </a:solidFill>
                <a:latin typeface="Inter"/>
              </a:rPr>
              <a:t>. The labor model shifts from creation to iteration.</a:t>
            </a:r>
          </a:p>
        </p:txBody>
      </p:sp>
      <p:sp>
        <p:nvSpPr>
          <p:cNvPr id="17" name="Shape 11">
            <a:extLst>
              <a:ext uri="{FF2B5EF4-FFF2-40B4-BE49-F238E27FC236}">
                <a16:creationId xmlns:a16="http://schemas.microsoft.com/office/drawing/2014/main" id="{F2780727-8E77-031B-1100-CCD737316F4B}"/>
              </a:ext>
            </a:extLst>
          </p:cNvPr>
          <p:cNvSpPr/>
          <p:nvPr/>
        </p:nvSpPr>
        <p:spPr>
          <a:xfrm>
            <a:off x="122981" y="3504002"/>
            <a:ext cx="2950960" cy="1051560"/>
          </a:xfrm>
          <a:solidFill>
            <a:srgbClr val="FFFFFF"/>
          </a:solidFill>
          <a:ln w="9525">
            <a:solidFill>
              <a:srgbClr val="E5E5EC"/>
            </a:solidFill>
          </a:ln>
        </p:spPr>
        <p:txBody>
          <a:bodyPr/>
          <a:lstStyle/>
          <a:p>
            <a:endParaRPr lang="en-IT"/>
          </a:p>
        </p:txBody>
      </p:sp>
      <p:sp>
        <p:nvSpPr>
          <p:cNvPr id="18" name="Shape 12">
            <a:extLst>
              <a:ext uri="{FF2B5EF4-FFF2-40B4-BE49-F238E27FC236}">
                <a16:creationId xmlns:a16="http://schemas.microsoft.com/office/drawing/2014/main" id="{737C3395-6FA6-9926-089A-AF3070F7EF07}"/>
              </a:ext>
            </a:extLst>
          </p:cNvPr>
          <p:cNvSpPr/>
          <p:nvPr/>
        </p:nvSpPr>
        <p:spPr>
          <a:xfrm>
            <a:off x="122981" y="3504002"/>
            <a:ext cx="60755" cy="1051560"/>
          </a:xfrm>
          <a:solidFill>
            <a:srgbClr val="FF3D6E"/>
          </a:solidFill>
          <a:ln>
            <a:noFill/>
          </a:ln>
        </p:spPr>
        <p:txBody>
          <a:bodyPr/>
          <a:lstStyle/>
          <a:p>
            <a:endParaRPr lang="en-IT"/>
          </a:p>
        </p:txBody>
      </p:sp>
      <p:sp>
        <p:nvSpPr>
          <p:cNvPr id="19" name="Text 13">
            <a:extLst>
              <a:ext uri="{FF2B5EF4-FFF2-40B4-BE49-F238E27FC236}">
                <a16:creationId xmlns:a16="http://schemas.microsoft.com/office/drawing/2014/main" id="{7BF8EA27-AAF9-8526-D0D6-2CF3182F74B9}"/>
              </a:ext>
            </a:extLst>
          </p:cNvPr>
          <p:cNvSpPr/>
          <p:nvPr/>
        </p:nvSpPr>
        <p:spPr>
          <a:xfrm>
            <a:off x="287573" y="3595442"/>
            <a:ext cx="27079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300" b="1" dirty="0">
                <a:solidFill>
                  <a:srgbClr val="0A0A0A"/>
                </a:solidFill>
                <a:latin typeface="Inter"/>
              </a:rPr>
              <a:t>Quality Stability</a:t>
            </a:r>
          </a:p>
        </p:txBody>
      </p:sp>
      <p:sp>
        <p:nvSpPr>
          <p:cNvPr id="20" name="Text 14">
            <a:extLst>
              <a:ext uri="{FF2B5EF4-FFF2-40B4-BE49-F238E27FC236}">
                <a16:creationId xmlns:a16="http://schemas.microsoft.com/office/drawing/2014/main" id="{84AA3621-4079-1A8C-EE5F-4345A1499A64}"/>
              </a:ext>
            </a:extLst>
          </p:cNvPr>
          <p:cNvSpPr/>
          <p:nvPr/>
        </p:nvSpPr>
        <p:spPr>
          <a:xfrm>
            <a:off x="287573" y="3851474"/>
            <a:ext cx="27079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000" dirty="0">
                <a:solidFill>
                  <a:srgbClr val="5A5A6E"/>
                </a:solidFill>
                <a:latin typeface="Inter"/>
              </a:rPr>
              <a:t>Average </a:t>
            </a:r>
            <a:r>
              <a:rPr lang="it-IT" sz="1000" b="1" dirty="0">
                <a:solidFill>
                  <a:srgbClr val="0A0A0A"/>
                </a:solidFill>
                <a:latin typeface="Inter"/>
              </a:rPr>
              <a:t>outcome score</a:t>
            </a:r>
            <a:r>
              <a:rPr lang="it-IT" sz="1000" dirty="0">
                <a:solidFill>
                  <a:srgbClr val="5A5A6E"/>
                </a:solidFill>
                <a:latin typeface="Inter"/>
              </a:rPr>
              <a:t> stays stable, but the worst decile worsens at high AI usage.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C8C49C3-C7EC-7C28-33A6-2A50EF54EF3D}"/>
              </a:ext>
            </a:extLst>
          </p:cNvPr>
          <p:cNvSpPr txBox="1"/>
          <p:nvPr/>
        </p:nvSpPr>
        <p:spPr>
          <a:xfrm>
            <a:off x="122981" y="401913"/>
            <a:ext cx="2950960" cy="60016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it-IT" sz="2000" b="1" spc="-30" dirty="0">
                <a:solidFill>
                  <a:srgbClr val="0A0A0A"/>
                </a:solidFill>
                <a:latin typeface="Inter"/>
              </a:rPr>
              <a:t>The Efficiency Dividend</a:t>
            </a:r>
          </a:p>
          <a:p>
            <a:pPr algn="l">
              <a:buNone/>
            </a:pPr>
            <a:r>
              <a:rPr lang="it-IT" sz="1300" dirty="0">
                <a:solidFill>
                  <a:srgbClr val="5A5A6E"/>
                </a:solidFill>
                <a:latin typeface="Inter"/>
              </a:rPr>
              <a:t>Trading rework for speed</a:t>
            </a:r>
          </a:p>
        </p:txBody>
      </p:sp>
    </p:spTree>
    <p:extLst>
      <p:ext uri="{BB962C8B-B14F-4D97-AF65-F5344CB8AC3E}">
        <p14:creationId xmlns:p14="http://schemas.microsoft.com/office/powerpoint/2010/main" val="19414842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1463040" cy="228600"/>
          </a:xfrm>
          <a:prstGeom prst="rect">
            <a:avLst/>
          </a:prstGeom>
          <a:solidFill>
            <a:srgbClr val="F0C040"/>
          </a:solidFill>
          <a:ln w="12700">
            <a:solidFill>
              <a:srgbClr val="F0C04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100" b="1" spc="400" dirty="0">
                <a:solidFill>
                  <a:srgbClr val="FF3D6E"/>
                </a:solidFill>
                <a:latin typeface="Inter"/>
              </a:rPr>
              <a:t> FINDING #3</a:t>
            </a:r>
          </a:p>
        </p:txBody>
      </p:sp>
      <p:sp>
        <p:nvSpPr>
          <p:cNvPr id="4" name="Text 2"/>
          <p:cNvSpPr/>
          <p:nvPr/>
        </p:nvSpPr>
        <p:spPr>
          <a:xfrm>
            <a:off x="457200" y="622300"/>
            <a:ext cx="82296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it-IT" sz="2600" b="1" spc="-30" dirty="0">
                <a:solidFill>
                  <a:srgbClr val="0A0A0A"/>
                </a:solidFill>
                <a:latin typeface="Inter"/>
              </a:rPr>
              <a:t>The pricing model is the bottleneck, not the technology</a:t>
            </a:r>
          </a:p>
        </p:txBody>
      </p:sp>
      <p:sp>
        <p:nvSpPr>
          <p:cNvPr id="5" name="Shape 3"/>
          <p:cNvSpPr/>
          <p:nvPr/>
        </p:nvSpPr>
        <p:spPr>
          <a:xfrm>
            <a:off x="365760" y="1397000"/>
            <a:ext cx="2606040" cy="2606040"/>
          </a:xfrm>
          <a:solidFill>
            <a:srgbClr val="0A0A0A"/>
          </a:solidFill>
          <a:ln>
            <a:noFill/>
          </a:ln>
        </p:spPr>
        <p:txBody>
          <a:bodyPr/>
          <a:lstStyle/>
          <a:p>
            <a:endParaRPr lang="en-IT"/>
          </a:p>
        </p:txBody>
      </p:sp>
      <p:sp>
        <p:nvSpPr>
          <p:cNvPr id="6" name="Text 4"/>
          <p:cNvSpPr/>
          <p:nvPr/>
        </p:nvSpPr>
        <p:spPr>
          <a:xfrm>
            <a:off x="365760" y="1473200"/>
            <a:ext cx="2606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it-IT" sz="6400" b="1" spc="-50" dirty="0">
                <a:solidFill>
                  <a:srgbClr val="FF3D6E"/>
                </a:solidFill>
                <a:latin typeface="Inter"/>
              </a:rPr>
              <a:t>€870</a:t>
            </a:r>
          </a:p>
        </p:txBody>
      </p:sp>
      <p:sp>
        <p:nvSpPr>
          <p:cNvPr id="7" name="Text 5"/>
          <p:cNvSpPr/>
          <p:nvPr/>
        </p:nvSpPr>
        <p:spPr>
          <a:xfrm>
            <a:off x="365760" y="273050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it-IT" sz="1200" dirty="0">
                <a:solidFill>
                  <a:srgbClr val="5A5A6E"/>
                </a:solidFill>
                <a:latin typeface="Inter"/>
              </a:rPr>
              <a:t>per-task gap between</a:t>
            </a:r>
          </a:p>
          <a:p>
            <a:pPr algn="ctr"/>
            <a:r>
              <a:rPr lang="it-IT" sz="1200" b="1" dirty="0">
                <a:solidFill>
                  <a:srgbClr val="5A5A6E"/>
                </a:solidFill>
                <a:latin typeface="Inter"/>
              </a:rPr>
              <a:t>hourly (€202) and value-based (€1,073)</a:t>
            </a:r>
          </a:p>
          <a:p>
            <a:pPr algn="ctr"/>
            <a:r>
              <a:rPr lang="it-IT" sz="1100" dirty="0">
                <a:solidFill>
                  <a:srgbClr val="5A5A6E"/>
                </a:solidFill>
                <a:latin typeface="Inter"/>
              </a:rPr>
              <a:t>at high AI usage</a:t>
            </a:r>
          </a:p>
        </p:txBody>
      </p:sp>
      <p:sp>
        <p:nvSpPr>
          <p:cNvPr id="9" name="Shape 6"/>
          <p:cNvSpPr/>
          <p:nvPr/>
        </p:nvSpPr>
        <p:spPr>
          <a:xfrm>
            <a:off x="365760" y="4318000"/>
            <a:ext cx="2011680" cy="635000"/>
          </a:xfrm>
          <a:solidFill>
            <a:srgbClr val="FFFFFF"/>
          </a:solidFill>
          <a:ln w="9525">
            <a:solidFill>
              <a:srgbClr val="E5E5EC"/>
            </a:solidFill>
          </a:ln>
        </p:spPr>
        <p:txBody>
          <a:bodyPr/>
          <a:lstStyle/>
          <a:p>
            <a:endParaRPr lang="en-IT"/>
          </a:p>
        </p:txBody>
      </p:sp>
      <p:sp>
        <p:nvSpPr>
          <p:cNvPr id="10" name="Text 7"/>
          <p:cNvSpPr/>
          <p:nvPr/>
        </p:nvSpPr>
        <p:spPr>
          <a:xfrm>
            <a:off x="457200" y="4368800"/>
            <a:ext cx="1828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it-IT" sz="1000" dirty="0">
                <a:solidFill>
                  <a:srgbClr val="5A5A6E"/>
                </a:solidFill>
                <a:latin typeface="Inter"/>
              </a:rPr>
              <a:t>OLS: Hourly vs Fixed</a:t>
            </a:r>
          </a:p>
        </p:txBody>
      </p:sp>
      <p:sp>
        <p:nvSpPr>
          <p:cNvPr id="11" name="Text 8"/>
          <p:cNvSpPr/>
          <p:nvPr/>
        </p:nvSpPr>
        <p:spPr>
          <a:xfrm>
            <a:off x="457200" y="46355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it-IT" sz="1300" b="1" dirty="0">
                <a:solidFill>
                  <a:srgbClr val="C92847"/>
                </a:solidFill>
                <a:latin typeface="Inter"/>
              </a:rPr>
              <a:t>-€254 / task</a:t>
            </a:r>
          </a:p>
        </p:txBody>
      </p:sp>
      <p:sp>
        <p:nvSpPr>
          <p:cNvPr id="12" name="Shape 9"/>
          <p:cNvSpPr/>
          <p:nvPr/>
        </p:nvSpPr>
        <p:spPr>
          <a:xfrm>
            <a:off x="2514600" y="4318000"/>
            <a:ext cx="2011680" cy="635000"/>
          </a:xfrm>
          <a:solidFill>
            <a:srgbClr val="FFFFFF"/>
          </a:solidFill>
          <a:ln w="9525">
            <a:solidFill>
              <a:srgbClr val="E5E5EC"/>
            </a:solidFill>
          </a:ln>
        </p:spPr>
        <p:txBody>
          <a:bodyPr/>
          <a:lstStyle/>
          <a:p>
            <a:endParaRPr lang="en-IT"/>
          </a:p>
        </p:txBody>
      </p:sp>
      <p:sp>
        <p:nvSpPr>
          <p:cNvPr id="13" name="Text 10"/>
          <p:cNvSpPr/>
          <p:nvPr/>
        </p:nvSpPr>
        <p:spPr>
          <a:xfrm>
            <a:off x="2606040" y="4368800"/>
            <a:ext cx="1828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it-IT" sz="1000" dirty="0">
                <a:solidFill>
                  <a:srgbClr val="5A5A6E"/>
                </a:solidFill>
                <a:latin typeface="Inter"/>
              </a:rPr>
              <a:t>OLS: Value vs Fixed</a:t>
            </a:r>
          </a:p>
        </p:txBody>
      </p:sp>
      <p:sp>
        <p:nvSpPr>
          <p:cNvPr id="14" name="Text 11"/>
          <p:cNvSpPr/>
          <p:nvPr/>
        </p:nvSpPr>
        <p:spPr>
          <a:xfrm>
            <a:off x="2606040" y="46355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it-IT" sz="1300" b="1" dirty="0">
                <a:solidFill>
                  <a:srgbClr val="1F8F4A"/>
                </a:solidFill>
                <a:latin typeface="Inter"/>
              </a:rPr>
              <a:t>+€286 / task</a:t>
            </a:r>
          </a:p>
        </p:txBody>
      </p:sp>
      <p:sp>
        <p:nvSpPr>
          <p:cNvPr id="15" name="Shape 12"/>
          <p:cNvSpPr/>
          <p:nvPr/>
        </p:nvSpPr>
        <p:spPr>
          <a:xfrm>
            <a:off x="4663440" y="4318000"/>
            <a:ext cx="2011680" cy="635000"/>
          </a:xfrm>
          <a:solidFill>
            <a:srgbClr val="FFFFFF"/>
          </a:solidFill>
          <a:ln w="9525">
            <a:solidFill>
              <a:srgbClr val="E5E5EC"/>
            </a:solidFill>
          </a:ln>
        </p:spPr>
        <p:txBody>
          <a:bodyPr/>
          <a:lstStyle/>
          <a:p>
            <a:endParaRPr lang="en-IT"/>
          </a:p>
        </p:txBody>
      </p:sp>
      <p:sp>
        <p:nvSpPr>
          <p:cNvPr id="16" name="Text 13"/>
          <p:cNvSpPr/>
          <p:nvPr/>
        </p:nvSpPr>
        <p:spPr>
          <a:xfrm>
            <a:off x="4754880" y="4368800"/>
            <a:ext cx="1828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it-IT" sz="1000" dirty="0">
                <a:solidFill>
                  <a:srgbClr val="5A5A6E"/>
                </a:solidFill>
                <a:latin typeface="Inter"/>
              </a:rPr>
              <a:t>AI × Hourly interaction</a:t>
            </a:r>
          </a:p>
        </p:txBody>
      </p:sp>
      <p:sp>
        <p:nvSpPr>
          <p:cNvPr id="17" name="Text 14"/>
          <p:cNvSpPr/>
          <p:nvPr/>
        </p:nvSpPr>
        <p:spPr>
          <a:xfrm>
            <a:off x="4754880" y="46355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it-IT" sz="1300" b="1" dirty="0">
                <a:solidFill>
                  <a:srgbClr val="C92847"/>
                </a:solidFill>
                <a:latin typeface="Inter"/>
              </a:rPr>
              <a:t>-€701 (p&lt;0.001)</a:t>
            </a:r>
          </a:p>
        </p:txBody>
      </p:sp>
      <p:sp>
        <p:nvSpPr>
          <p:cNvPr id="18" name="Shape 15"/>
          <p:cNvSpPr/>
          <p:nvPr/>
        </p:nvSpPr>
        <p:spPr>
          <a:xfrm>
            <a:off x="6812280" y="4318000"/>
            <a:ext cx="2011680" cy="635000"/>
          </a:xfrm>
          <a:solidFill>
            <a:srgbClr val="FFFFFF"/>
          </a:solidFill>
          <a:ln w="9525">
            <a:solidFill>
              <a:srgbClr val="E5E5EC"/>
            </a:solidFill>
          </a:ln>
        </p:spPr>
        <p:txBody>
          <a:bodyPr/>
          <a:lstStyle/>
          <a:p>
            <a:endParaRPr lang="en-IT" dirty="0"/>
          </a:p>
        </p:txBody>
      </p:sp>
      <p:sp>
        <p:nvSpPr>
          <p:cNvPr id="19" name="Text 16"/>
          <p:cNvSpPr/>
          <p:nvPr/>
        </p:nvSpPr>
        <p:spPr>
          <a:xfrm>
            <a:off x="6903720" y="4368800"/>
            <a:ext cx="1828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it-IT" sz="1000" dirty="0">
                <a:solidFill>
                  <a:srgbClr val="5A5A6E"/>
                </a:solidFill>
                <a:latin typeface="Inter"/>
              </a:rPr>
              <a:t>Hourly loss rate</a:t>
            </a:r>
          </a:p>
        </p:txBody>
      </p:sp>
      <p:sp>
        <p:nvSpPr>
          <p:cNvPr id="20" name="Text 17"/>
          <p:cNvSpPr/>
          <p:nvPr/>
        </p:nvSpPr>
        <p:spPr>
          <a:xfrm>
            <a:off x="6903720" y="46355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it-IT" sz="1300" b="1" dirty="0">
                <a:solidFill>
                  <a:srgbClr val="C92847"/>
                </a:solidFill>
                <a:latin typeface="Inter"/>
              </a:rPr>
              <a:t>34% vs 16%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5E9B3521-E731-8D6A-66D5-3FF9BA7ED0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0349" y="1587500"/>
            <a:ext cx="5712898" cy="222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78970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1463040" cy="228600"/>
          </a:xfrm>
          <a:prstGeom prst="rect">
            <a:avLst/>
          </a:prstGeom>
          <a:solidFill>
            <a:srgbClr val="F0C040"/>
          </a:solidFill>
          <a:ln w="12700">
            <a:solidFill>
              <a:srgbClr val="F0C04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100" b="1" spc="400" dirty="0">
                <a:solidFill>
                  <a:srgbClr val="FF3D6E"/>
                </a:solidFill>
                <a:latin typeface="Inter"/>
              </a:rPr>
              <a:t> FINDING #4</a:t>
            </a:r>
          </a:p>
        </p:txBody>
      </p:sp>
      <p:sp>
        <p:nvSpPr>
          <p:cNvPr id="4" name="Text 2"/>
          <p:cNvSpPr/>
          <p:nvPr/>
        </p:nvSpPr>
        <p:spPr>
          <a:xfrm>
            <a:off x="457200" y="621792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it-IT" sz="2800" b="1" spc="-30" dirty="0">
                <a:solidFill>
                  <a:srgbClr val="0A0A0A"/>
                </a:solidFill>
                <a:latin typeface="Inter"/>
              </a:rPr>
              <a:t>Not all work responds equally to AI</a:t>
            </a:r>
          </a:p>
        </p:txBody>
      </p:sp>
      <p:graphicFrame>
        <p:nvGraphicFramePr>
          <p:cNvPr id="8" name="Table 0"/>
          <p:cNvGraphicFramePr>
            <a:graphicFrameLocks noGrp="1"/>
          </p:cNvGraphicFramePr>
          <p:nvPr/>
        </p:nvGraphicFramePr>
        <p:xfrm>
          <a:off x="365760" y="1234440"/>
          <a:ext cx="8412480" cy="2944368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/>
                        </a:rPr>
                        <a:t>Task Type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/>
                        </a:rPr>
                        <a:t>Profit, Low AI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/>
                        </a:rPr>
                        <a:t>Profit, High AI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/>
                        </a:rPr>
                        <a:t>Multiplier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/>
                        </a:rPr>
                        <a:t>Recommendation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A0A0A"/>
                          </a:solidFill>
                          <a:latin typeface="Inter"/>
                        </a:rPr>
                        <a:t>Release</a:t>
                      </a:r>
                    </a:p>
                  </a:txBody>
                  <a:tcPr anchor="ctr">
                    <a:lnL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A0A0A"/>
                          </a:solidFill>
                          <a:latin typeface="Inter"/>
                        </a:rPr>
                        <a:t>€146</a:t>
                      </a:r>
                    </a:p>
                  </a:txBody>
                  <a:tcPr anchor="ctr">
                    <a:lnL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A0A0A"/>
                          </a:solidFill>
                          <a:latin typeface="Inter"/>
                        </a:rPr>
                        <a:t>€701</a:t>
                      </a:r>
                    </a:p>
                  </a:txBody>
                  <a:tcPr anchor="ctr">
                    <a:lnL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A0A0A"/>
                          </a:solidFill>
                          <a:latin typeface="Inter"/>
                        </a:rPr>
                        <a:t>4.8×</a:t>
                      </a:r>
                    </a:p>
                  </a:txBody>
                  <a:tcPr anchor="ctr">
                    <a:lnL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A0A0A"/>
                          </a:solidFill>
                          <a:latin typeface="Inter"/>
                        </a:rPr>
                        <a:t>Push to 70 to 80%</a:t>
                      </a:r>
                    </a:p>
                  </a:txBody>
                  <a:tcPr anchor="ctr">
                    <a:lnL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A0A0A"/>
                          </a:solidFill>
                          <a:latin typeface="Inter"/>
                        </a:rPr>
                        <a:t>Dev</a:t>
                      </a:r>
                    </a:p>
                  </a:txBody>
                  <a:tcPr anchor="ctr">
                    <a:lnL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A0A0A"/>
                          </a:solidFill>
                          <a:latin typeface="Inter"/>
                        </a:rPr>
                        <a:t>€297</a:t>
                      </a:r>
                    </a:p>
                  </a:txBody>
                  <a:tcPr anchor="ctr">
                    <a:lnL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A0A0A"/>
                          </a:solidFill>
                          <a:latin typeface="Inter"/>
                        </a:rPr>
                        <a:t>€587</a:t>
                      </a:r>
                    </a:p>
                  </a:txBody>
                  <a:tcPr anchor="ctr">
                    <a:lnL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A0A0A"/>
                          </a:solidFill>
                          <a:latin typeface="Inter"/>
                        </a:rPr>
                        <a:t>2.0×</a:t>
                      </a:r>
                    </a:p>
                  </a:txBody>
                  <a:tcPr anchor="ctr">
                    <a:lnL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A0A0A"/>
                          </a:solidFill>
                          <a:latin typeface="Inter"/>
                        </a:rPr>
                        <a:t>Push to 70 to 80%</a:t>
                      </a:r>
                    </a:p>
                  </a:txBody>
                  <a:tcPr anchor="ctr">
                    <a:lnL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A0A0A"/>
                          </a:solidFill>
                          <a:latin typeface="Inter"/>
                        </a:rPr>
                        <a:t>Report</a:t>
                      </a:r>
                    </a:p>
                  </a:txBody>
                  <a:tcPr anchor="ctr">
                    <a:lnL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A0A0A"/>
                          </a:solidFill>
                          <a:latin typeface="Inter"/>
                        </a:rPr>
                        <a:t>€311</a:t>
                      </a:r>
                    </a:p>
                  </a:txBody>
                  <a:tcPr anchor="ctr">
                    <a:lnL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A0A0A"/>
                          </a:solidFill>
                          <a:latin typeface="Inter"/>
                        </a:rPr>
                        <a:t>€559</a:t>
                      </a:r>
                    </a:p>
                  </a:txBody>
                  <a:tcPr anchor="ctr">
                    <a:lnL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A0A0A"/>
                          </a:solidFill>
                          <a:latin typeface="Inter"/>
                        </a:rPr>
                        <a:t>1.8×</a:t>
                      </a:r>
                    </a:p>
                  </a:txBody>
                  <a:tcPr anchor="ctr">
                    <a:lnL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A0A0A"/>
                          </a:solidFill>
                          <a:latin typeface="Inter"/>
                        </a:rPr>
                        <a:t>Push to 70 to 80%</a:t>
                      </a:r>
                    </a:p>
                  </a:txBody>
                  <a:tcPr anchor="ctr">
                    <a:lnL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A0A0A"/>
                          </a:solidFill>
                          <a:latin typeface="Inter"/>
                        </a:rPr>
                        <a:t>Design</a:t>
                      </a:r>
                    </a:p>
                  </a:txBody>
                  <a:tcPr anchor="ctr">
                    <a:lnL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A0A0A"/>
                          </a:solidFill>
                          <a:latin typeface="Inter"/>
                        </a:rPr>
                        <a:t>€236</a:t>
                      </a:r>
                    </a:p>
                  </a:txBody>
                  <a:tcPr anchor="ctr">
                    <a:lnL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A0A0A"/>
                          </a:solidFill>
                          <a:latin typeface="Inter"/>
                        </a:rPr>
                        <a:t>€550</a:t>
                      </a:r>
                    </a:p>
                  </a:txBody>
                  <a:tcPr anchor="ctr">
                    <a:lnL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A0A0A"/>
                          </a:solidFill>
                          <a:latin typeface="Inter"/>
                        </a:rPr>
                        <a:t>2.3×</a:t>
                      </a:r>
                    </a:p>
                  </a:txBody>
                  <a:tcPr anchor="ctr">
                    <a:lnL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0A0A0A"/>
                          </a:solidFill>
                          <a:latin typeface="Inter"/>
                        </a:rPr>
                        <a:t>Push to 60 to 70%</a:t>
                      </a:r>
                    </a:p>
                  </a:txBody>
                  <a:tcPr anchor="ctr">
                    <a:lnL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A0A0A"/>
                          </a:solidFill>
                          <a:latin typeface="Inter"/>
                        </a:rPr>
                        <a:t>Article</a:t>
                      </a:r>
                    </a:p>
                  </a:txBody>
                  <a:tcPr anchor="ctr">
                    <a:lnL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A0A0A"/>
                          </a:solidFill>
                          <a:latin typeface="Inter"/>
                        </a:rPr>
                        <a:t>€318</a:t>
                      </a:r>
                    </a:p>
                  </a:txBody>
                  <a:tcPr anchor="ctr">
                    <a:lnL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A0A0A"/>
                          </a:solidFill>
                          <a:latin typeface="Inter"/>
                        </a:rPr>
                        <a:t>€368</a:t>
                      </a:r>
                    </a:p>
                  </a:txBody>
                  <a:tcPr anchor="ctr">
                    <a:lnL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A0A0A"/>
                          </a:solidFill>
                          <a:latin typeface="Inter"/>
                        </a:rPr>
                        <a:t>1.2×</a:t>
                      </a:r>
                    </a:p>
                  </a:txBody>
                  <a:tcPr anchor="ctr">
                    <a:lnL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A0A0A"/>
                          </a:solidFill>
                          <a:latin typeface="Inter"/>
                        </a:rPr>
                        <a:t>Cap at 25 to 50%</a:t>
                      </a:r>
                    </a:p>
                  </a:txBody>
                  <a:tcPr anchor="ctr">
                    <a:lnL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A0A0A"/>
                          </a:solidFill>
                          <a:latin typeface="Inter"/>
                        </a:rPr>
                        <a:t>Ad</a:t>
                      </a:r>
                    </a:p>
                  </a:txBody>
                  <a:tcPr anchor="ctr">
                    <a:lnL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A0A0A"/>
                          </a:solidFill>
                          <a:latin typeface="Inter"/>
                        </a:rPr>
                        <a:t>€205</a:t>
                      </a:r>
                    </a:p>
                  </a:txBody>
                  <a:tcPr anchor="ctr">
                    <a:lnL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0A0A0A"/>
                          </a:solidFill>
                          <a:latin typeface="Inter"/>
                        </a:rPr>
                        <a:t>€266</a:t>
                      </a:r>
                    </a:p>
                  </a:txBody>
                  <a:tcPr anchor="ctr">
                    <a:lnL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0A0A0A"/>
                          </a:solidFill>
                          <a:latin typeface="Inter"/>
                        </a:rPr>
                        <a:t>Peaks at medium</a:t>
                      </a:r>
                    </a:p>
                  </a:txBody>
                  <a:tcPr anchor="ctr">
                    <a:lnL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0A0A0A"/>
                          </a:solidFill>
                          <a:latin typeface="Inter"/>
                        </a:rPr>
                        <a:t>Cap at 25 to 50%</a:t>
                      </a:r>
                    </a:p>
                  </a:txBody>
                  <a:tcPr anchor="ctr">
                    <a:lnL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663440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100" dirty="0">
                <a:solidFill>
                  <a:srgbClr val="5A5A6E"/>
                </a:solidFill>
                <a:latin typeface="Inter"/>
              </a:rPr>
              <a:t>Push AI hard on </a:t>
            </a:r>
            <a:r>
              <a:rPr lang="it-IT" sz="1100" b="1" dirty="0">
                <a:solidFill>
                  <a:srgbClr val="0A0A0A"/>
                </a:solidFill>
                <a:latin typeface="Inter"/>
              </a:rPr>
              <a:t>Release, Dev, Report</a:t>
            </a:r>
            <a:r>
              <a:rPr lang="it-IT" sz="1100" dirty="0">
                <a:solidFill>
                  <a:srgbClr val="5A5A6E"/>
                </a:solidFill>
                <a:latin typeface="Inter"/>
              </a:rPr>
              <a:t>. For </a:t>
            </a:r>
            <a:r>
              <a:rPr lang="it-IT" sz="1100" b="1" dirty="0">
                <a:solidFill>
                  <a:srgbClr val="0A0A0A"/>
                </a:solidFill>
                <a:latin typeface="Inter"/>
              </a:rPr>
              <a:t>Article and Ad</a:t>
            </a:r>
            <a:r>
              <a:rPr lang="it-IT" sz="1100" dirty="0">
                <a:solidFill>
                  <a:srgbClr val="5A5A6E"/>
                </a:solidFill>
                <a:latin typeface="Inter"/>
              </a:rPr>
              <a:t>, performance peaks in the medium band, </a:t>
            </a:r>
            <a:r>
              <a:rPr lang="it-IT" sz="1100" dirty="0" err="1">
                <a:solidFill>
                  <a:srgbClr val="5A5A6E"/>
                </a:solidFill>
                <a:latin typeface="Inter"/>
              </a:rPr>
              <a:t>cap</a:t>
            </a:r>
            <a:r>
              <a:rPr lang="it-IT" sz="1100" dirty="0">
                <a:solidFill>
                  <a:srgbClr val="5A5A6E"/>
                </a:solidFill>
                <a:latin typeface="Inter"/>
              </a:rPr>
              <a:t> at 25–50%.</a:t>
            </a:r>
          </a:p>
        </p:txBody>
      </p:sp>
    </p:spTree>
    <p:extLst>
      <p:ext uri="{BB962C8B-B14F-4D97-AF65-F5344CB8AC3E}">
        <p14:creationId xmlns:p14="http://schemas.microsoft.com/office/powerpoint/2010/main" val="21314360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1463040" cy="228600"/>
          </a:xfrm>
          <a:prstGeom prst="rect">
            <a:avLst/>
          </a:prstGeom>
          <a:solidFill>
            <a:srgbClr val="F0C040"/>
          </a:solidFill>
          <a:ln w="12700">
            <a:solidFill>
              <a:srgbClr val="F0C04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100" b="1" spc="400" dirty="0">
                <a:solidFill>
                  <a:srgbClr val="FF3D6E"/>
                </a:solidFill>
                <a:latin typeface="Inter"/>
              </a:rPr>
              <a:t> FINDING #5</a:t>
            </a:r>
          </a:p>
        </p:txBody>
      </p:sp>
      <p:sp>
        <p:nvSpPr>
          <p:cNvPr id="4" name="Text 2"/>
          <p:cNvSpPr/>
          <p:nvPr/>
        </p:nvSpPr>
        <p:spPr>
          <a:xfrm>
            <a:off x="457200" y="621792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it-IT" sz="2800" b="1" spc="-30" dirty="0">
                <a:solidFill>
                  <a:srgbClr val="0A0A0A"/>
                </a:solidFill>
                <a:latin typeface="Inter"/>
              </a:rPr>
              <a:t>Seniority is your biggest risk variable</a:t>
            </a:r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4069080" cy="3611880"/>
          </a:xfrm>
          <a:solidFill>
            <a:srgbClr val="FFFFFF"/>
          </a:solidFill>
          <a:ln w="9525">
            <a:solidFill>
              <a:srgbClr val="E5E5EC"/>
            </a:solidFill>
          </a:ln>
        </p:spPr>
        <p:txBody>
          <a:bodyPr/>
          <a:lstStyle/>
          <a:p>
            <a:endParaRPr lang="en-IT"/>
          </a:p>
        </p:txBody>
      </p:sp>
      <p:sp>
        <p:nvSpPr>
          <p:cNvPr id="6" name="Text 4"/>
          <p:cNvSpPr/>
          <p:nvPr/>
        </p:nvSpPr>
        <p:spPr>
          <a:xfrm>
            <a:off x="502920" y="1325880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000" b="1" spc="300" dirty="0">
                <a:solidFill>
                  <a:srgbClr val="C92847"/>
                </a:solidFill>
                <a:latin typeface="Inter"/>
              </a:rPr>
              <a:t>SENIORS AT LOW AI</a:t>
            </a:r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3794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it-IT" sz="6400" b="1" spc="-50" dirty="0">
                <a:solidFill>
                  <a:srgbClr val="C92847"/>
                </a:solidFill>
                <a:latin typeface="Inter"/>
              </a:rPr>
              <a:t>50%</a:t>
            </a:r>
          </a:p>
        </p:txBody>
      </p:sp>
      <p:sp>
        <p:nvSpPr>
          <p:cNvPr id="8" name="Text 6"/>
          <p:cNvSpPr/>
          <p:nvPr/>
        </p:nvSpPr>
        <p:spPr>
          <a:xfrm>
            <a:off x="502920" y="2724912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it-IT" sz="1100" b="1" dirty="0">
                <a:solidFill>
                  <a:srgbClr val="0A0A0A"/>
                </a:solidFill>
                <a:latin typeface="Inter"/>
              </a:rPr>
              <a:t>loss rate — worst in the workforce</a:t>
            </a:r>
          </a:p>
        </p:txBody>
      </p:sp>
      <p:sp>
        <p:nvSpPr>
          <p:cNvPr id="9" name="Text 7"/>
          <p:cNvSpPr/>
          <p:nvPr/>
        </p:nvSpPr>
        <p:spPr>
          <a:xfrm>
            <a:off x="502920" y="3127248"/>
            <a:ext cx="3794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it-IT" sz="1000" dirty="0">
                <a:solidFill>
                  <a:srgbClr val="5A5A6E"/>
                </a:solidFill>
                <a:latin typeface="Inter"/>
              </a:rPr>
              <a:t>Senior billing rates can't justify manual execution. Each seniority level costs −€173/task at baseline; every unassisted senior hour compresses margin.</a:t>
            </a:r>
          </a:p>
        </p:txBody>
      </p:sp>
      <p:sp>
        <p:nvSpPr>
          <p:cNvPr id="10" name="Shape 8"/>
          <p:cNvSpPr/>
          <p:nvPr/>
        </p:nvSpPr>
        <p:spPr>
          <a:xfrm>
            <a:off x="502920" y="3858768"/>
            <a:ext cx="3794760" cy="502920"/>
          </a:xfrm>
          <a:solidFill>
            <a:srgbClr val="C92847"/>
          </a:solidFill>
          <a:ln>
            <a:noFill/>
          </a:ln>
        </p:spPr>
        <p:txBody>
          <a:bodyPr/>
          <a:lstStyle/>
          <a:p>
            <a:endParaRPr lang="en-IT"/>
          </a:p>
        </p:txBody>
      </p:sp>
      <p:sp>
        <p:nvSpPr>
          <p:cNvPr id="11" name="Text 9"/>
          <p:cNvSpPr/>
          <p:nvPr/>
        </p:nvSpPr>
        <p:spPr>
          <a:xfrm>
            <a:off x="594360" y="3858768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1100" b="1" dirty="0">
                <a:latin typeface="Inter"/>
              </a:rPr>
              <a:t>AI isn't optional for seniors — it's the only viable config</a:t>
            </a:r>
          </a:p>
        </p:txBody>
      </p:sp>
      <p:sp>
        <p:nvSpPr>
          <p:cNvPr id="12" name="Shape 10"/>
          <p:cNvSpPr/>
          <p:nvPr/>
        </p:nvSpPr>
        <p:spPr>
          <a:xfrm>
            <a:off x="4709160" y="1188720"/>
            <a:ext cx="4069080" cy="3611880"/>
          </a:xfrm>
          <a:solidFill>
            <a:srgbClr val="FFFFFF"/>
          </a:solidFill>
          <a:ln w="9525">
            <a:solidFill>
              <a:srgbClr val="E5E5EC"/>
            </a:solidFill>
          </a:ln>
        </p:spPr>
        <p:txBody>
          <a:bodyPr/>
          <a:lstStyle/>
          <a:p>
            <a:endParaRPr lang="en-IT"/>
          </a:p>
        </p:txBody>
      </p:sp>
      <p:sp>
        <p:nvSpPr>
          <p:cNvPr id="13" name="Text 11"/>
          <p:cNvSpPr/>
          <p:nvPr/>
        </p:nvSpPr>
        <p:spPr>
          <a:xfrm>
            <a:off x="4846320" y="1325880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000" b="1" spc="300" dirty="0">
                <a:solidFill>
                  <a:srgbClr val="1F8F4A"/>
                </a:solidFill>
                <a:latin typeface="Inter"/>
              </a:rPr>
              <a:t>SENIORS AT HIGH AI + RIGHT CONTRACT</a:t>
            </a:r>
          </a:p>
        </p:txBody>
      </p:sp>
      <p:sp>
        <p:nvSpPr>
          <p:cNvPr id="14" name="Text 12"/>
          <p:cNvSpPr/>
          <p:nvPr/>
        </p:nvSpPr>
        <p:spPr>
          <a:xfrm>
            <a:off x="4846320" y="1645920"/>
            <a:ext cx="3794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it-IT" sz="5400" b="1" spc="-50" dirty="0">
                <a:solidFill>
                  <a:srgbClr val="1F8F4A"/>
                </a:solidFill>
                <a:latin typeface="Inter"/>
              </a:rPr>
              <a:t>€3,935</a:t>
            </a:r>
          </a:p>
        </p:txBody>
      </p:sp>
      <p:sp>
        <p:nvSpPr>
          <p:cNvPr id="15" name="Text 13"/>
          <p:cNvSpPr/>
          <p:nvPr/>
        </p:nvSpPr>
        <p:spPr>
          <a:xfrm>
            <a:off x="4846320" y="2724912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it-IT" sz="1100" b="1" dirty="0">
                <a:solidFill>
                  <a:srgbClr val="0A0A0A"/>
                </a:solidFill>
                <a:latin typeface="Inter"/>
              </a:rPr>
              <a:t>mean profit per task (~8× dataset median)</a:t>
            </a:r>
          </a:p>
        </p:txBody>
      </p:sp>
      <p:sp>
        <p:nvSpPr>
          <p:cNvPr id="16" name="Text 14"/>
          <p:cNvSpPr/>
          <p:nvPr/>
        </p:nvSpPr>
        <p:spPr>
          <a:xfrm>
            <a:off x="4846320" y="3127248"/>
            <a:ext cx="3794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it-IT" sz="1000" dirty="0">
                <a:solidFill>
                  <a:srgbClr val="5A5A6E"/>
                </a:solidFill>
                <a:latin typeface="Inter"/>
              </a:rPr>
              <a:t>AI × seniority interaction: +€359/level (p=0.002). At senior: +€718 interaction gain vs −€346 cost drag — net reversal.</a:t>
            </a:r>
          </a:p>
        </p:txBody>
      </p:sp>
      <p:sp>
        <p:nvSpPr>
          <p:cNvPr id="17" name="Shape 15"/>
          <p:cNvSpPr/>
          <p:nvPr/>
        </p:nvSpPr>
        <p:spPr>
          <a:xfrm>
            <a:off x="4846320" y="3858768"/>
            <a:ext cx="3794760" cy="502920"/>
          </a:xfrm>
          <a:solidFill>
            <a:srgbClr val="1F8F4A"/>
          </a:solidFill>
          <a:ln>
            <a:noFill/>
          </a:ln>
        </p:spPr>
        <p:txBody>
          <a:bodyPr/>
          <a:lstStyle/>
          <a:p>
            <a:r>
              <a:rPr sz="950" dirty="0">
                <a:solidFill>
                  <a:schemeClr val="accent4"/>
                </a:solidFill>
              </a:rPr>
              <a:t>Condition: fixed or value based contract, with the €3,935 ceiling observed specifically in the 80 to 100% AI band.</a:t>
            </a:r>
          </a:p>
        </p:txBody>
      </p:sp>
      <p:sp>
        <p:nvSpPr>
          <p:cNvPr id="18" name="Text 16"/>
          <p:cNvSpPr/>
          <p:nvPr/>
        </p:nvSpPr>
        <p:spPr>
          <a:xfrm>
            <a:off x="4937760" y="3858768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1100" b="1" dirty="0">
                <a:latin typeface="Inter"/>
              </a:rPr>
              <a:t>Seniors become the highest-value asset</a:t>
            </a:r>
          </a:p>
        </p:txBody>
      </p:sp>
    </p:spTree>
    <p:extLst>
      <p:ext uri="{BB962C8B-B14F-4D97-AF65-F5344CB8AC3E}">
        <p14:creationId xmlns:p14="http://schemas.microsoft.com/office/powerpoint/2010/main" val="37823011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91729"/>
            <a:ext cx="1533832" cy="329479"/>
          </a:xfrm>
          <a:prstGeom prst="rect">
            <a:avLst/>
          </a:prstGeom>
          <a:solidFill>
            <a:srgbClr val="F0C040"/>
          </a:solidFill>
          <a:ln w="12700">
            <a:solidFill>
              <a:srgbClr val="F0C040"/>
            </a:solidFill>
            <a:prstDash val="solid"/>
          </a:ln>
        </p:spPr>
        <p:txBody>
          <a:bodyPr/>
          <a:lstStyle/>
          <a:p>
            <a:endParaRPr lang="en-IT" dirty="0"/>
          </a:p>
        </p:txBody>
      </p:sp>
      <p:sp>
        <p:nvSpPr>
          <p:cNvPr id="3" name="Text 1"/>
          <p:cNvSpPr/>
          <p:nvPr/>
        </p:nvSpPr>
        <p:spPr>
          <a:xfrm>
            <a:off x="527992" y="24216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100" b="1" spc="400" dirty="0">
                <a:solidFill>
                  <a:srgbClr val="FF3D6E"/>
                </a:solidFill>
                <a:latin typeface="Inter"/>
              </a:rPr>
              <a:t>THE REWORK PARADOX</a:t>
            </a:r>
          </a:p>
        </p:txBody>
      </p:sp>
      <p:sp>
        <p:nvSpPr>
          <p:cNvPr id="4" name="Text 2"/>
          <p:cNvSpPr/>
          <p:nvPr/>
        </p:nvSpPr>
        <p:spPr>
          <a:xfrm>
            <a:off x="457200" y="521208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it-IT" sz="2400" b="1" spc="-30" dirty="0">
                <a:solidFill>
                  <a:srgbClr val="0A0A0A"/>
                </a:solidFill>
                <a:latin typeface="Inter"/>
              </a:rPr>
              <a:t>The business gets financially safer by getting operationally messier</a:t>
            </a:r>
          </a:p>
        </p:txBody>
      </p:sp>
      <p:sp>
        <p:nvSpPr>
          <p:cNvPr id="6" name="Shape 3"/>
          <p:cNvSpPr/>
          <p:nvPr/>
        </p:nvSpPr>
        <p:spPr>
          <a:xfrm>
            <a:off x="5868785" y="1147156"/>
            <a:ext cx="3108960" cy="1051560"/>
          </a:xfrm>
          <a:solidFill>
            <a:srgbClr val="FFFFFF"/>
          </a:solidFill>
          <a:ln w="9525">
            <a:solidFill>
              <a:srgbClr val="E5E5EC"/>
            </a:solidFill>
          </a:ln>
        </p:spPr>
        <p:txBody>
          <a:bodyPr/>
          <a:lstStyle/>
          <a:p>
            <a:endParaRPr lang="en-IT"/>
          </a:p>
        </p:txBody>
      </p:sp>
      <p:sp>
        <p:nvSpPr>
          <p:cNvPr id="7" name="Shape 4"/>
          <p:cNvSpPr/>
          <p:nvPr/>
        </p:nvSpPr>
        <p:spPr>
          <a:xfrm>
            <a:off x="5868785" y="1147156"/>
            <a:ext cx="64008" cy="1051560"/>
          </a:xfrm>
          <a:solidFill>
            <a:srgbClr val="FF3D6E"/>
          </a:solidFill>
          <a:ln>
            <a:noFill/>
          </a:ln>
        </p:spPr>
        <p:txBody>
          <a:bodyPr/>
          <a:lstStyle/>
          <a:p>
            <a:endParaRPr lang="en-IT"/>
          </a:p>
        </p:txBody>
      </p:sp>
      <p:sp>
        <p:nvSpPr>
          <p:cNvPr id="8" name="Text 5"/>
          <p:cNvSpPr/>
          <p:nvPr/>
        </p:nvSpPr>
        <p:spPr>
          <a:xfrm>
            <a:off x="6033377" y="1238596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300" b="1" dirty="0">
                <a:solidFill>
                  <a:srgbClr val="0A0A0A"/>
                </a:solidFill>
                <a:latin typeface="Inter"/>
              </a:rPr>
              <a:t>The profitability paradox</a:t>
            </a:r>
          </a:p>
        </p:txBody>
      </p:sp>
      <p:sp>
        <p:nvSpPr>
          <p:cNvPr id="9" name="Text 6"/>
          <p:cNvSpPr/>
          <p:nvPr/>
        </p:nvSpPr>
        <p:spPr>
          <a:xfrm>
            <a:off x="6033377" y="1494628"/>
            <a:ext cx="28529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000" dirty="0">
                <a:solidFill>
                  <a:srgbClr val="5A5A6E"/>
                </a:solidFill>
                <a:latin typeface="Inter"/>
              </a:rPr>
              <a:t>Loss rate falls 31% → 19% while rework rises to 32%. Speed creates an efficiency cushion that absorbs correction cost.</a:t>
            </a:r>
          </a:p>
        </p:txBody>
      </p:sp>
      <p:sp>
        <p:nvSpPr>
          <p:cNvPr id="10" name="Shape 7"/>
          <p:cNvSpPr/>
          <p:nvPr/>
        </p:nvSpPr>
        <p:spPr>
          <a:xfrm>
            <a:off x="5868785" y="2290156"/>
            <a:ext cx="3108960" cy="1051560"/>
          </a:xfrm>
          <a:solidFill>
            <a:srgbClr val="FFFFFF"/>
          </a:solidFill>
          <a:ln w="9525">
            <a:solidFill>
              <a:srgbClr val="E5E5EC"/>
            </a:solidFill>
          </a:ln>
        </p:spPr>
        <p:txBody>
          <a:bodyPr/>
          <a:lstStyle/>
          <a:p>
            <a:endParaRPr lang="en-IT"/>
          </a:p>
        </p:txBody>
      </p:sp>
      <p:sp>
        <p:nvSpPr>
          <p:cNvPr id="11" name="Shape 8"/>
          <p:cNvSpPr/>
          <p:nvPr/>
        </p:nvSpPr>
        <p:spPr>
          <a:xfrm>
            <a:off x="5868785" y="2290156"/>
            <a:ext cx="64008" cy="1051560"/>
          </a:xfrm>
          <a:solidFill>
            <a:srgbClr val="FF3D6E"/>
          </a:solidFill>
          <a:ln>
            <a:noFill/>
          </a:ln>
        </p:spPr>
        <p:txBody>
          <a:bodyPr/>
          <a:lstStyle/>
          <a:p>
            <a:endParaRPr lang="en-IT"/>
          </a:p>
        </p:txBody>
      </p:sp>
      <p:sp>
        <p:nvSpPr>
          <p:cNvPr id="12" name="Text 9"/>
          <p:cNvSpPr/>
          <p:nvPr/>
        </p:nvSpPr>
        <p:spPr>
          <a:xfrm>
            <a:off x="6033377" y="2381596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300" b="1" dirty="0">
                <a:solidFill>
                  <a:srgbClr val="0A0A0A"/>
                </a:solidFill>
                <a:latin typeface="Inter"/>
              </a:rPr>
              <a:t>The critical pivot: 50–60%</a:t>
            </a:r>
          </a:p>
        </p:txBody>
      </p:sp>
      <p:sp>
        <p:nvSpPr>
          <p:cNvPr id="13" name="Text 10"/>
          <p:cNvSpPr/>
          <p:nvPr/>
        </p:nvSpPr>
        <p:spPr>
          <a:xfrm>
            <a:off x="6033377" y="2637628"/>
            <a:ext cx="28529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000" dirty="0">
                <a:solidFill>
                  <a:srgbClr val="5A5A6E"/>
                </a:solidFill>
                <a:latin typeface="Inter"/>
              </a:rPr>
              <a:t>Between 50–60% AI usage the business crosses from high-loss to high-rework, low-risk. This is operational break-even.</a:t>
            </a:r>
          </a:p>
        </p:txBody>
      </p:sp>
      <p:sp>
        <p:nvSpPr>
          <p:cNvPr id="14" name="Shape 11"/>
          <p:cNvSpPr/>
          <p:nvPr/>
        </p:nvSpPr>
        <p:spPr>
          <a:xfrm>
            <a:off x="5868785" y="3433156"/>
            <a:ext cx="3108960" cy="1051560"/>
          </a:xfrm>
          <a:solidFill>
            <a:srgbClr val="FFFFFF"/>
          </a:solidFill>
          <a:ln w="9525">
            <a:solidFill>
              <a:srgbClr val="E5E5EC"/>
            </a:solidFill>
          </a:ln>
        </p:spPr>
        <p:txBody>
          <a:bodyPr/>
          <a:lstStyle/>
          <a:p>
            <a:endParaRPr lang="en-IT"/>
          </a:p>
        </p:txBody>
      </p:sp>
      <p:sp>
        <p:nvSpPr>
          <p:cNvPr id="15" name="Shape 12"/>
          <p:cNvSpPr/>
          <p:nvPr/>
        </p:nvSpPr>
        <p:spPr>
          <a:xfrm>
            <a:off x="5868785" y="3433156"/>
            <a:ext cx="64008" cy="1051560"/>
          </a:xfrm>
          <a:solidFill>
            <a:srgbClr val="FF3D6E"/>
          </a:solidFill>
          <a:ln>
            <a:noFill/>
          </a:ln>
        </p:spPr>
        <p:txBody>
          <a:bodyPr/>
          <a:lstStyle/>
          <a:p>
            <a:endParaRPr lang="en-IT"/>
          </a:p>
        </p:txBody>
      </p:sp>
      <p:sp>
        <p:nvSpPr>
          <p:cNvPr id="16" name="Text 13"/>
          <p:cNvSpPr/>
          <p:nvPr/>
        </p:nvSpPr>
        <p:spPr>
          <a:xfrm>
            <a:off x="6033377" y="3524596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300" b="1" dirty="0">
                <a:solidFill>
                  <a:srgbClr val="0A0A0A"/>
                </a:solidFill>
                <a:latin typeface="Inter"/>
              </a:rPr>
              <a:t>Rework is not failure</a:t>
            </a:r>
          </a:p>
        </p:txBody>
      </p:sp>
      <p:sp>
        <p:nvSpPr>
          <p:cNvPr id="17" name="Text 14"/>
          <p:cNvSpPr/>
          <p:nvPr/>
        </p:nvSpPr>
        <p:spPr>
          <a:xfrm>
            <a:off x="6033377" y="3780628"/>
            <a:ext cx="28529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000" dirty="0">
                <a:solidFill>
                  <a:srgbClr val="5A5A6E"/>
                </a:solidFill>
                <a:latin typeface="Inter"/>
              </a:rPr>
              <a:t>OLS: rework quadratic p=0.605 — no tipping point. Fast generation + heavy iteration is the profitable model.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47B6FCF0-82ED-FF80-10ED-1AB993DC3E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44" y="1238596"/>
            <a:ext cx="5729401" cy="2992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42045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AF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1100" b="1" spc="400" dirty="0">
                <a:solidFill>
                  <a:srgbClr val="FF3D6E"/>
                </a:solidFill>
                <a:latin typeface="Inter"/>
              </a:rPr>
              <a:t>THE THRESHOLD</a:t>
            </a:r>
          </a:p>
        </p:txBody>
      </p:sp>
      <p:sp>
        <p:nvSpPr>
          <p:cNvPr id="3" name="Text 1"/>
          <p:cNvSpPr/>
          <p:nvPr/>
        </p:nvSpPr>
        <p:spPr>
          <a:xfrm>
            <a:off x="457200" y="749808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it-IT" sz="9600" b="1" spc="-100" dirty="0">
                <a:solidFill>
                  <a:srgbClr val="FF3D6E"/>
                </a:solidFill>
                <a:latin typeface="Inter"/>
              </a:rPr>
              <a:t>30.6%</a:t>
            </a:r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it-IT" sz="1400" dirty="0">
                <a:solidFill>
                  <a:srgbClr val="0A0A0A"/>
                </a:solidFill>
                <a:latin typeface="Inter"/>
              </a:rPr>
              <a:t>The SHAP sign-change threshold. </a:t>
            </a:r>
            <a:r>
              <a:rPr lang="it-IT" sz="1400" b="1" dirty="0">
                <a:solidFill>
                  <a:srgbClr val="C92847"/>
                </a:solidFill>
                <a:latin typeface="Inter"/>
              </a:rPr>
              <a:t>Below it, AI costs money. </a:t>
            </a:r>
            <a:r>
              <a:rPr lang="it-IT" sz="1400" b="1" dirty="0">
                <a:solidFill>
                  <a:srgbClr val="1F8F4A"/>
                </a:solidFill>
                <a:latin typeface="Inter"/>
              </a:rPr>
              <a:t>Above it, AI makes money.</a:t>
            </a:r>
          </a:p>
        </p:txBody>
      </p:sp>
      <p:sp>
        <p:nvSpPr>
          <p:cNvPr id="5" name="Shape 3"/>
          <p:cNvSpPr/>
          <p:nvPr/>
        </p:nvSpPr>
        <p:spPr>
          <a:xfrm>
            <a:off x="365760" y="2834640"/>
            <a:ext cx="2651760" cy="1920240"/>
          </a:xfrm>
          <a:solidFill>
            <a:srgbClr val="FFFFFF"/>
          </a:solidFill>
          <a:ln w="9525">
            <a:solidFill>
              <a:srgbClr val="E5E5EC"/>
            </a:solidFill>
          </a:ln>
        </p:spPr>
        <p:txBody>
          <a:bodyPr/>
          <a:lstStyle/>
          <a:p>
            <a:endParaRPr lang="en-IT"/>
          </a:p>
        </p:txBody>
      </p:sp>
      <p:sp>
        <p:nvSpPr>
          <p:cNvPr id="6" name="Text 4"/>
          <p:cNvSpPr/>
          <p:nvPr/>
        </p:nvSpPr>
        <p:spPr>
          <a:xfrm>
            <a:off x="457200" y="292608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000" b="1" spc="200" dirty="0">
                <a:solidFill>
                  <a:srgbClr val="C92847"/>
                </a:solidFill>
                <a:latin typeface="Inter"/>
              </a:rPr>
              <a:t>BELOW 30.6%</a:t>
            </a:r>
          </a:p>
        </p:txBody>
      </p:sp>
      <p:sp>
        <p:nvSpPr>
          <p:cNvPr id="7" name="Text 5"/>
          <p:cNvSpPr/>
          <p:nvPr/>
        </p:nvSpPr>
        <p:spPr>
          <a:xfrm>
            <a:off x="457200" y="3182112"/>
            <a:ext cx="2468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it-IT" sz="3800" b="1" spc="-30" dirty="0">
                <a:solidFill>
                  <a:srgbClr val="C92847"/>
                </a:solidFill>
                <a:latin typeface="Inter"/>
              </a:rPr>
              <a:t>−€52.5</a:t>
            </a:r>
          </a:p>
        </p:txBody>
      </p:sp>
      <p:sp>
        <p:nvSpPr>
          <p:cNvPr id="8" name="Text 6"/>
          <p:cNvSpPr/>
          <p:nvPr/>
        </p:nvSpPr>
        <p:spPr>
          <a:xfrm>
            <a:off x="457200" y="3913632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it-IT" sz="1000" dirty="0">
                <a:solidFill>
                  <a:srgbClr val="5A5A6E"/>
                </a:solidFill>
                <a:latin typeface="Inter"/>
              </a:rPr>
              <a:t>per-task avg. SHAP contribution</a:t>
            </a:r>
          </a:p>
        </p:txBody>
      </p:sp>
      <p:sp>
        <p:nvSpPr>
          <p:cNvPr id="9" name="Text 7"/>
          <p:cNvSpPr/>
          <p:nvPr/>
        </p:nvSpPr>
        <p:spPr>
          <a:xfrm>
            <a:off x="457200" y="437083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it-IT" sz="1000" i="1" dirty="0">
                <a:solidFill>
                  <a:srgbClr val="5A5A6E"/>
                </a:solidFill>
                <a:latin typeface="Inter"/>
              </a:rPr>
              <a:t>234 of 553 test-set tasks</a:t>
            </a:r>
          </a:p>
        </p:txBody>
      </p:sp>
      <p:sp>
        <p:nvSpPr>
          <p:cNvPr id="10" name="Shape 8"/>
          <p:cNvSpPr/>
          <p:nvPr/>
        </p:nvSpPr>
        <p:spPr>
          <a:xfrm>
            <a:off x="3200400" y="2834640"/>
            <a:ext cx="2651760" cy="1920240"/>
          </a:xfrm>
          <a:solidFill>
            <a:srgbClr val="0A0A0A"/>
          </a:solidFill>
          <a:ln>
            <a:noFill/>
          </a:ln>
        </p:spPr>
        <p:txBody>
          <a:bodyPr/>
          <a:lstStyle/>
          <a:p>
            <a:endParaRPr lang="en-IT"/>
          </a:p>
        </p:txBody>
      </p:sp>
      <p:sp>
        <p:nvSpPr>
          <p:cNvPr id="11" name="Text 9"/>
          <p:cNvSpPr/>
          <p:nvPr/>
        </p:nvSpPr>
        <p:spPr>
          <a:xfrm>
            <a:off x="3291840" y="292608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000" b="1" spc="200" dirty="0">
                <a:solidFill>
                  <a:srgbClr val="FF3D6E"/>
                </a:solidFill>
                <a:latin typeface="Inter"/>
              </a:rPr>
              <a:t>THE SIGN CHANGE</a:t>
            </a:r>
          </a:p>
        </p:txBody>
      </p:sp>
      <p:sp>
        <p:nvSpPr>
          <p:cNvPr id="12" name="Text 10"/>
          <p:cNvSpPr/>
          <p:nvPr/>
        </p:nvSpPr>
        <p:spPr>
          <a:xfrm>
            <a:off x="3291840" y="3182112"/>
            <a:ext cx="2468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it-IT" sz="3800" b="1" spc="-30" dirty="0">
                <a:solidFill>
                  <a:srgbClr val="FF3D6E"/>
                </a:solidFill>
                <a:latin typeface="Inter"/>
              </a:rPr>
              <a:t>≈ €103</a:t>
            </a:r>
          </a:p>
        </p:txBody>
      </p:sp>
      <p:sp>
        <p:nvSpPr>
          <p:cNvPr id="13" name="Text 11"/>
          <p:cNvSpPr/>
          <p:nvPr/>
        </p:nvSpPr>
        <p:spPr>
          <a:xfrm>
            <a:off x="3291840" y="3913632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it-IT" sz="1000" dirty="0">
                <a:solidFill>
                  <a:srgbClr val="5A5A6E"/>
                </a:solidFill>
                <a:latin typeface="Inter"/>
              </a:rPr>
              <a:t>gap between above vs below</a:t>
            </a:r>
          </a:p>
        </p:txBody>
      </p:sp>
      <p:sp>
        <p:nvSpPr>
          <p:cNvPr id="14" name="Text 12"/>
          <p:cNvSpPr/>
          <p:nvPr/>
        </p:nvSpPr>
        <p:spPr>
          <a:xfrm>
            <a:off x="3291840" y="437083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it-IT" sz="1000" i="1" dirty="0">
                <a:solidFill>
                  <a:srgbClr val="5A5A6E"/>
                </a:solidFill>
                <a:latin typeface="Inter"/>
              </a:rPr>
              <a:t>entirely from AI contribution shift</a:t>
            </a:r>
          </a:p>
        </p:txBody>
      </p:sp>
      <p:sp>
        <p:nvSpPr>
          <p:cNvPr id="15" name="Shape 13"/>
          <p:cNvSpPr/>
          <p:nvPr/>
        </p:nvSpPr>
        <p:spPr>
          <a:xfrm>
            <a:off x="6035040" y="2834640"/>
            <a:ext cx="2651760" cy="1920240"/>
          </a:xfrm>
          <a:solidFill>
            <a:srgbClr val="FFFFFF"/>
          </a:solidFill>
          <a:ln w="9525">
            <a:solidFill>
              <a:srgbClr val="E5E5EC"/>
            </a:solidFill>
          </a:ln>
        </p:spPr>
        <p:txBody>
          <a:bodyPr/>
          <a:lstStyle/>
          <a:p>
            <a:endParaRPr lang="en-IT"/>
          </a:p>
        </p:txBody>
      </p:sp>
      <p:sp>
        <p:nvSpPr>
          <p:cNvPr id="16" name="Text 14"/>
          <p:cNvSpPr/>
          <p:nvPr/>
        </p:nvSpPr>
        <p:spPr>
          <a:xfrm>
            <a:off x="6126480" y="292608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000" b="1" spc="200" dirty="0">
                <a:solidFill>
                  <a:srgbClr val="1F8F4A"/>
                </a:solidFill>
                <a:latin typeface="Inter"/>
              </a:rPr>
              <a:t>ABOVE 30.6%</a:t>
            </a:r>
          </a:p>
        </p:txBody>
      </p:sp>
      <p:sp>
        <p:nvSpPr>
          <p:cNvPr id="17" name="Text 15"/>
          <p:cNvSpPr/>
          <p:nvPr/>
        </p:nvSpPr>
        <p:spPr>
          <a:xfrm>
            <a:off x="6126480" y="3182112"/>
            <a:ext cx="2468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it-IT" sz="3800" b="1" spc="-30" dirty="0">
                <a:solidFill>
                  <a:srgbClr val="1F8F4A"/>
                </a:solidFill>
                <a:latin typeface="Inter"/>
              </a:rPr>
              <a:t>+€51.1</a:t>
            </a:r>
          </a:p>
        </p:txBody>
      </p:sp>
      <p:sp>
        <p:nvSpPr>
          <p:cNvPr id="18" name="Text 16"/>
          <p:cNvSpPr/>
          <p:nvPr/>
        </p:nvSpPr>
        <p:spPr>
          <a:xfrm>
            <a:off x="6126480" y="3913632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it-IT" sz="1000" dirty="0">
                <a:solidFill>
                  <a:srgbClr val="5A5A6E"/>
                </a:solidFill>
                <a:latin typeface="Inter"/>
              </a:rPr>
              <a:t>per-task avg. SHAP contribution</a:t>
            </a:r>
          </a:p>
        </p:txBody>
      </p:sp>
      <p:sp>
        <p:nvSpPr>
          <p:cNvPr id="19" name="Text 17"/>
          <p:cNvSpPr/>
          <p:nvPr/>
        </p:nvSpPr>
        <p:spPr>
          <a:xfrm>
            <a:off x="6126480" y="437083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it-IT" sz="1000" i="1" dirty="0">
                <a:solidFill>
                  <a:srgbClr val="5A5A6E"/>
                </a:solidFill>
                <a:latin typeface="Inter"/>
              </a:rPr>
              <a:t>319 of 553 test-set tasks</a:t>
            </a:r>
          </a:p>
        </p:txBody>
      </p:sp>
    </p:spTree>
    <p:extLst>
      <p:ext uri="{BB962C8B-B14F-4D97-AF65-F5344CB8AC3E}">
        <p14:creationId xmlns:p14="http://schemas.microsoft.com/office/powerpoint/2010/main" val="12617666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1463040" cy="228600"/>
          </a:xfrm>
          <a:prstGeom prst="rect">
            <a:avLst/>
          </a:prstGeom>
          <a:solidFill>
            <a:srgbClr val="F0C040"/>
          </a:solidFill>
          <a:ln w="12700">
            <a:solidFill>
              <a:srgbClr val="F0C04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100" b="1" spc="400" dirty="0">
                <a:solidFill>
                  <a:srgbClr val="FF3D6E"/>
                </a:solidFill>
                <a:latin typeface="Inter"/>
              </a:rPr>
              <a:t> RISK SCORE</a:t>
            </a:r>
          </a:p>
        </p:txBody>
      </p:sp>
      <p:sp>
        <p:nvSpPr>
          <p:cNvPr id="4" name="Text 2"/>
          <p:cNvSpPr/>
          <p:nvPr/>
        </p:nvSpPr>
        <p:spPr>
          <a:xfrm>
            <a:off x="457200" y="621792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it-IT" sz="2600" b="1" spc="-30" dirty="0">
                <a:solidFill>
                  <a:srgbClr val="0A0A0A"/>
                </a:solidFill>
                <a:latin typeface="Inter"/>
              </a:rPr>
              <a:t>The pre-task risk score: six variables, one lookup</a:t>
            </a:r>
          </a:p>
        </p:txBody>
      </p:sp>
      <p:sp>
        <p:nvSpPr>
          <p:cNvPr id="5" name="Text 3"/>
          <p:cNvSpPr/>
          <p:nvPr/>
        </p:nvSpPr>
        <p:spPr>
          <a:xfrm>
            <a:off x="457200" y="11704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it-IT" sz="1000" dirty="0">
                <a:solidFill>
                  <a:srgbClr val="5A5A6E"/>
                </a:solidFill>
                <a:latin typeface="Inter"/>
              </a:rPr>
              <a:t>Random Forest · ROC-AUC 0.754 · Recall 55% · Flags 43 genuine losses per 100 risk-flagged tasks (base rate: 24%)</a:t>
            </a:r>
          </a:p>
        </p:txBody>
      </p:sp>
      <p:sp>
        <p:nvSpPr>
          <p:cNvPr id="6" name="Shape 4"/>
          <p:cNvSpPr/>
          <p:nvPr/>
        </p:nvSpPr>
        <p:spPr>
          <a:xfrm>
            <a:off x="365760" y="1572768"/>
            <a:ext cx="4114800" cy="329184"/>
          </a:xfrm>
          <a:solidFill>
            <a:srgbClr val="C92847"/>
          </a:solidFill>
          <a:ln>
            <a:noFill/>
          </a:ln>
        </p:spPr>
        <p:txBody>
          <a:bodyPr/>
          <a:lstStyle/>
          <a:p>
            <a:endParaRPr lang="en-IT"/>
          </a:p>
        </p:txBody>
      </p:sp>
      <p:sp>
        <p:nvSpPr>
          <p:cNvPr id="7" name="Text 5"/>
          <p:cNvSpPr/>
          <p:nvPr/>
        </p:nvSpPr>
        <p:spPr>
          <a:xfrm>
            <a:off x="365760" y="157276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1000" b="1" spc="200" dirty="0">
                <a:latin typeface="Inter"/>
              </a:rPr>
              <a:t>RISK FACTORS — loss rate rises</a:t>
            </a:r>
          </a:p>
        </p:txBody>
      </p:sp>
      <p:graphicFrame>
        <p:nvGraphicFramePr>
          <p:cNvPr id="12" name="Table 0"/>
          <p:cNvGraphicFramePr>
            <a:graphicFrameLocks noGrp="1"/>
          </p:cNvGraphicFramePr>
          <p:nvPr/>
        </p:nvGraphicFramePr>
        <p:xfrm>
          <a:off x="365760" y="1901952"/>
          <a:ext cx="4114800" cy="1481328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0A0A0A"/>
                          </a:solidFill>
                          <a:latin typeface="Inter"/>
                        </a:rPr>
                        <a:t>Variable</a:t>
                      </a:r>
                      <a:endParaRPr lang="en-US" sz="900" dirty="0"/>
                    </a:p>
                  </a:txBody>
                  <a:tcPr anchor="ctr">
                    <a:lnL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0A0A0A"/>
                          </a:solidFill>
                          <a:latin typeface="Inter"/>
                        </a:rPr>
                        <a:t>Safe</a:t>
                      </a:r>
                      <a:endParaRPr lang="en-US" sz="900" dirty="0"/>
                    </a:p>
                  </a:txBody>
                  <a:tcPr anchor="ctr">
                    <a:lnL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0A0A0A"/>
                          </a:solidFill>
                          <a:latin typeface="Inter"/>
                        </a:rPr>
                        <a:t>Risky</a:t>
                      </a:r>
                      <a:endParaRPr lang="en-US" sz="900" dirty="0"/>
                    </a:p>
                  </a:txBody>
                  <a:tcPr anchor="ctr">
                    <a:lnL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0A0A0A"/>
                          </a:solidFill>
                          <a:latin typeface="Inter"/>
                        </a:rPr>
                        <a:t>Gap</a:t>
                      </a:r>
                      <a:endParaRPr lang="en-US" sz="900" dirty="0"/>
                    </a:p>
                  </a:txBody>
                  <a:tcPr anchor="ctr">
                    <a:lnL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0A0A0A"/>
                          </a:solidFill>
                          <a:latin typeface="Inter"/>
                        </a:rPr>
                        <a:t>Share</a:t>
                      </a:r>
                      <a:endParaRPr lang="en-US" sz="900" dirty="0"/>
                    </a:p>
                  </a:txBody>
                  <a:tcPr anchor="ctr">
                    <a:lnL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0A0A0A"/>
                          </a:solidFill>
                          <a:latin typeface="Inter"/>
                        </a:rPr>
                        <a:t>Hourly pricing</a:t>
                      </a:r>
                      <a:endParaRPr lang="en-US" sz="900" dirty="0"/>
                    </a:p>
                  </a:txBody>
                  <a:tcPr anchor="ctr">
                    <a:lnL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0A0A0A"/>
                          </a:solidFill>
                          <a:latin typeface="Inter"/>
                        </a:rPr>
                        <a:t>16%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0A0A0A"/>
                          </a:solidFill>
                          <a:latin typeface="Inter"/>
                        </a:rPr>
                        <a:t>34%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0A0A0A"/>
                          </a:solidFill>
                          <a:latin typeface="Inter"/>
                        </a:rPr>
                        <a:t>+18pp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0A0A0A"/>
                          </a:solidFill>
                          <a:latin typeface="Inter"/>
                        </a:rPr>
                        <a:t>46% of tasks</a:t>
                      </a:r>
                      <a:endParaRPr lang="en-US" sz="900" dirty="0"/>
                    </a:p>
                  </a:txBody>
                  <a:tcPr anchor="ctr">
                    <a:lnL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0A0A0A"/>
                          </a:solidFill>
                          <a:latin typeface="Inter"/>
                        </a:rPr>
                        <a:t>Senior contributor</a:t>
                      </a:r>
                      <a:endParaRPr lang="en-US" sz="900" dirty="0"/>
                    </a:p>
                  </a:txBody>
                  <a:tcPr anchor="ctr">
                    <a:lnL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0A0A0A"/>
                          </a:solidFill>
                          <a:latin typeface="Inter"/>
                        </a:rPr>
                        <a:t>21%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0A0A0A"/>
                          </a:solidFill>
                          <a:latin typeface="Inter"/>
                        </a:rPr>
                        <a:t>33%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0A0A0A"/>
                          </a:solidFill>
                          <a:latin typeface="Inter"/>
                        </a:rPr>
                        <a:t>+12pp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0A0A0A"/>
                          </a:solidFill>
                          <a:latin typeface="Inter"/>
                        </a:rPr>
                        <a:t>22% of tasks</a:t>
                      </a:r>
                      <a:endParaRPr lang="en-US" sz="900" dirty="0"/>
                    </a:p>
                  </a:txBody>
                  <a:tcPr anchor="ctr">
                    <a:lnL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0A0A0A"/>
                          </a:solidFill>
                          <a:latin typeface="Inter"/>
                        </a:rPr>
                        <a:t>Hours spent (top 25%)</a:t>
                      </a:r>
                      <a:endParaRPr lang="en-US" sz="900" dirty="0"/>
                    </a:p>
                  </a:txBody>
                  <a:tcPr anchor="ctr">
                    <a:lnL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0A0A0A"/>
                          </a:solidFill>
                          <a:latin typeface="Inter"/>
                        </a:rPr>
                        <a:t>21%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0A0A0A"/>
                          </a:solidFill>
                          <a:latin typeface="Inter"/>
                        </a:rPr>
                        <a:t>31%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0A0A0A"/>
                          </a:solidFill>
                          <a:latin typeface="Inter"/>
                        </a:rPr>
                        <a:t>+9pp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0A0A0A"/>
                          </a:solidFill>
                          <a:latin typeface="Inter"/>
                        </a:rPr>
                        <a:t>25% of tasks</a:t>
                      </a:r>
                      <a:endParaRPr lang="en-US" sz="900" dirty="0"/>
                    </a:p>
                  </a:txBody>
                  <a:tcPr anchor="ctr">
                    <a:lnL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663440" y="1572768"/>
            <a:ext cx="4114800" cy="329184"/>
          </a:xfrm>
          <a:solidFill>
            <a:srgbClr val="1F8F4A"/>
          </a:solidFill>
          <a:ln>
            <a:noFill/>
          </a:ln>
        </p:spPr>
        <p:txBody>
          <a:bodyPr/>
          <a:lstStyle/>
          <a:p>
            <a:endParaRPr lang="en-IT"/>
          </a:p>
        </p:txBody>
      </p:sp>
      <p:sp>
        <p:nvSpPr>
          <p:cNvPr id="10" name="Text 7"/>
          <p:cNvSpPr/>
          <p:nvPr/>
        </p:nvSpPr>
        <p:spPr>
          <a:xfrm>
            <a:off x="4663440" y="157276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1000" b="1" spc="200" dirty="0">
                <a:solidFill>
                  <a:srgbClr val="FFFFFF"/>
                </a:solidFill>
                <a:latin typeface="Inter"/>
              </a:rPr>
              <a:t>PROTECTIVE FACTORS — loss rate falls</a:t>
            </a:r>
          </a:p>
        </p:txBody>
      </p:sp>
      <p:graphicFrame>
        <p:nvGraphicFramePr>
          <p:cNvPr id="23" name="Table 1"/>
          <p:cNvGraphicFramePr>
            <a:graphicFrameLocks noGrp="1"/>
          </p:cNvGraphicFramePr>
          <p:nvPr/>
        </p:nvGraphicFramePr>
        <p:xfrm>
          <a:off x="4663440" y="1901952"/>
          <a:ext cx="4114800" cy="1481328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0A0A0A"/>
                          </a:solidFill>
                          <a:latin typeface="Inter"/>
                        </a:rPr>
                        <a:t>Variable</a:t>
                      </a:r>
                      <a:endParaRPr lang="en-US" sz="900" dirty="0"/>
                    </a:p>
                  </a:txBody>
                  <a:tcPr anchor="ctr">
                    <a:lnL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0A0A0A"/>
                          </a:solidFill>
                          <a:latin typeface="Inter"/>
                        </a:rPr>
                        <a:t>Without</a:t>
                      </a:r>
                      <a:endParaRPr lang="en-US" sz="900" dirty="0"/>
                    </a:p>
                  </a:txBody>
                  <a:tcPr anchor="ctr">
                    <a:lnL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0A0A0A"/>
                          </a:solidFill>
                          <a:latin typeface="Inter"/>
                        </a:rPr>
                        <a:t>With</a:t>
                      </a:r>
                      <a:endParaRPr lang="en-US" sz="900" dirty="0"/>
                    </a:p>
                  </a:txBody>
                  <a:tcPr anchor="ctr">
                    <a:lnL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0A0A0A"/>
                          </a:solidFill>
                          <a:latin typeface="Inter"/>
                        </a:rPr>
                        <a:t>Gap</a:t>
                      </a:r>
                      <a:endParaRPr lang="en-US" sz="900" dirty="0"/>
                    </a:p>
                  </a:txBody>
                  <a:tcPr anchor="ctr">
                    <a:lnL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0A0A0A"/>
                          </a:solidFill>
                          <a:latin typeface="Inter"/>
                        </a:rPr>
                        <a:t>Share</a:t>
                      </a:r>
                      <a:endParaRPr lang="en-US" sz="900" dirty="0"/>
                    </a:p>
                  </a:txBody>
                  <a:tcPr anchor="ctr">
                    <a:lnL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0A0A0A"/>
                          </a:solidFill>
                          <a:latin typeface="Inter"/>
                        </a:rPr>
                        <a:t>High-tier client</a:t>
                      </a:r>
                      <a:endParaRPr lang="en-US" sz="900" dirty="0"/>
                    </a:p>
                  </a:txBody>
                  <a:tcPr anchor="ctr">
                    <a:lnL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0A0A0A"/>
                          </a:solidFill>
                          <a:latin typeface="Inter"/>
                        </a:rPr>
                        <a:t>27%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0A0A0A"/>
                          </a:solidFill>
                          <a:latin typeface="Inter"/>
                        </a:rPr>
                        <a:t>16%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0A0A0A"/>
                          </a:solidFill>
                          <a:latin typeface="Inter"/>
                        </a:rPr>
                        <a:t>-10pp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0A0A0A"/>
                          </a:solidFill>
                          <a:latin typeface="Inter"/>
                        </a:rPr>
                        <a:t>26% of tasks</a:t>
                      </a:r>
                      <a:endParaRPr lang="en-US" sz="900" dirty="0"/>
                    </a:p>
                  </a:txBody>
                  <a:tcPr anchor="ctr">
                    <a:lnL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0A0A0A"/>
                          </a:solidFill>
                          <a:latin typeface="Inter"/>
                        </a:rPr>
                        <a:t>High task complexity (top 25%)</a:t>
                      </a:r>
                      <a:endParaRPr lang="en-US" sz="900" dirty="0"/>
                    </a:p>
                  </a:txBody>
                  <a:tcPr anchor="ctr">
                    <a:lnL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0A0A0A"/>
                          </a:solidFill>
                          <a:latin typeface="Inter"/>
                        </a:rPr>
                        <a:t>26%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0A0A0A"/>
                          </a:solidFill>
                          <a:latin typeface="Inter"/>
                        </a:rPr>
                        <a:t>18%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0A0A0A"/>
                          </a:solidFill>
                          <a:latin typeface="Inter"/>
                        </a:rPr>
                        <a:t>-8pp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0A0A0A"/>
                          </a:solidFill>
                          <a:latin typeface="Inter"/>
                        </a:rPr>
                        <a:t>30% of tasks</a:t>
                      </a:r>
                      <a:endParaRPr lang="en-US" sz="900" dirty="0"/>
                    </a:p>
                  </a:txBody>
                  <a:tcPr anchor="ctr">
                    <a:lnL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0A0A0A"/>
                          </a:solidFill>
                          <a:latin typeface="Inter"/>
                        </a:rPr>
                        <a:t>AI usage &gt;= 30%</a:t>
                      </a:r>
                      <a:endParaRPr lang="en-US" sz="900" dirty="0"/>
                    </a:p>
                  </a:txBody>
                  <a:tcPr anchor="ctr">
                    <a:lnL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0A0A0A"/>
                          </a:solidFill>
                          <a:latin typeface="Inter"/>
                        </a:rPr>
                        <a:t>28%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0A0A0A"/>
                          </a:solidFill>
                          <a:latin typeface="Inter"/>
                        </a:rPr>
                        <a:t>21%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0A0A0A"/>
                          </a:solidFill>
                          <a:latin typeface="Inter"/>
                        </a:rPr>
                        <a:t>-8pp</a:t>
                      </a:r>
                      <a:endParaRPr lang="en-US" sz="1000" dirty="0"/>
                    </a:p>
                  </a:txBody>
                  <a:tcPr anchor="ctr">
                    <a:lnL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0A0A0A"/>
                          </a:solidFill>
                          <a:latin typeface="Inter"/>
                        </a:rPr>
                        <a:t>58% of tasks</a:t>
                      </a:r>
                      <a:endParaRPr lang="en-US" sz="900" dirty="0"/>
                    </a:p>
                  </a:txBody>
                  <a:tcPr anchor="ctr">
                    <a:lnL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8"/>
          <p:cNvSpPr/>
          <p:nvPr/>
        </p:nvSpPr>
        <p:spPr>
          <a:xfrm>
            <a:off x="365760" y="3429000"/>
            <a:ext cx="8412480" cy="1397000"/>
          </a:xfrm>
          <a:solidFill>
            <a:srgbClr val="0A0A0A"/>
          </a:solidFill>
          <a:ln>
            <a:noFill/>
          </a:ln>
        </p:spPr>
        <p:txBody>
          <a:bodyPr/>
          <a:lstStyle/>
          <a:p>
            <a:endParaRPr lang="en-IT"/>
          </a:p>
        </p:txBody>
      </p:sp>
      <p:sp>
        <p:nvSpPr>
          <p:cNvPr id="13" name="Text 9"/>
          <p:cNvSpPr/>
          <p:nvPr/>
        </p:nvSpPr>
        <p:spPr>
          <a:xfrm>
            <a:off x="548640" y="3517900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000" b="1" spc="300" dirty="0">
                <a:solidFill>
                  <a:srgbClr val="FF3D6E"/>
                </a:solidFill>
                <a:latin typeface="Inter"/>
              </a:rPr>
              <a:t>HOW TO USE THIS</a:t>
            </a:r>
          </a:p>
        </p:txBody>
      </p:sp>
      <p:sp>
        <p:nvSpPr>
          <p:cNvPr id="14" name="Text 10"/>
          <p:cNvSpPr/>
          <p:nvPr/>
        </p:nvSpPr>
        <p:spPr>
          <a:xfrm>
            <a:off x="548640" y="3784600"/>
            <a:ext cx="804672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100" dirty="0">
                <a:solidFill>
                  <a:srgbClr val="FFFFFF"/>
                </a:solidFill>
                <a:latin typeface="Inter"/>
              </a:rPr>
              <a:t>Any task combining </a:t>
            </a:r>
            <a:r>
              <a:rPr lang="it-IT" sz="1100" b="1" dirty="0">
                <a:solidFill>
                  <a:srgbClr val="FFFFFF"/>
                </a:solidFill>
                <a:latin typeface="Inter"/>
              </a:rPr>
              <a:t>2+ risk factors</a:t>
            </a:r>
            <a:r>
              <a:rPr lang="it-IT" sz="1100" dirty="0">
                <a:solidFill>
                  <a:srgbClr val="FFFFFF"/>
                </a:solidFill>
                <a:latin typeface="Inter"/>
              </a:rPr>
              <a:t> triggers a pre-kickoff review of contract structure, staffing, and scope.</a:t>
            </a:r>
          </a:p>
          <a:p>
            <a:pPr marL="0" indent="0">
              <a:buNone/>
            </a:pPr>
            <a:r>
              <a:rPr lang="it-IT" sz="1100" dirty="0">
                <a:solidFill>
                  <a:srgbClr val="5A5A6E"/>
                </a:solidFill>
                <a:latin typeface="Inter"/>
              </a:rPr>
              <a:t>Best case: high client tier + high complexity + fixed/value-based contract + AI ≥ 30% → </a:t>
            </a:r>
            <a:r>
              <a:rPr lang="it-IT" sz="1100" b="1" dirty="0">
                <a:solidFill>
                  <a:srgbClr val="5A5A6E"/>
                </a:solidFill>
                <a:latin typeface="Inter"/>
              </a:rPr>
              <a:t>loss rate below 18%</a:t>
            </a:r>
            <a:r>
              <a:rPr lang="it-IT" sz="1100" dirty="0">
                <a:solidFill>
                  <a:srgbClr val="5A5A6E"/>
                </a:solidFill>
                <a:latin typeface="Inter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419939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" y="621792"/>
            <a:ext cx="8046720" cy="49244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it-IT" sz="2600" b="1" spc="-30" dirty="0">
                <a:solidFill>
                  <a:srgbClr val="0A0A0A"/>
                </a:solidFill>
                <a:latin typeface="Inter"/>
              </a:rPr>
              <a:t>What the dataset still cannot explain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69848"/>
            <a:ext cx="8046720" cy="2616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it-IT" sz="1100" dirty="0">
                <a:solidFill>
                  <a:srgbClr val="5A5A6E"/>
                </a:solidFill>
                <a:latin typeface="Inter"/>
              </a:rPr>
              <a:t>The model explains margin mechanics well — but is missing the signals required to explain client value and revision causality.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572768"/>
            <a:ext cx="2606040" cy="1965960"/>
          </a:xfrm>
          <a:solidFill>
            <a:srgbClr val="FFFFFF"/>
          </a:solidFill>
          <a:ln w="9525">
            <a:solidFill>
              <a:srgbClr val="E5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65760" y="1572768"/>
            <a:ext cx="73152" cy="1965960"/>
          </a:xfrm>
          <a:solidFill>
            <a:srgbClr val="FF3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12064" y="1645920"/>
            <a:ext cx="694944" cy="3693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it-IT" sz="1800" b="1" dirty="0">
                <a:solidFill>
                  <a:srgbClr val="FF3D6E"/>
                </a:solidFill>
                <a:latin typeface="Inte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1920240"/>
            <a:ext cx="2148840" cy="523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it-IT" sz="1400" b="1" dirty="0">
                <a:solidFill>
                  <a:srgbClr val="0A0A0A"/>
                </a:solidFill>
                <a:latin typeface="Inter"/>
              </a:rPr>
              <a:t>Client retention &amp; satisfaction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2395728"/>
            <a:ext cx="2212848" cy="55399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it-IT" sz="1000" dirty="0">
                <a:solidFill>
                  <a:srgbClr val="5A5A6E"/>
                </a:solidFill>
                <a:latin typeface="Inter"/>
              </a:rPr>
              <a:t>We measure task profit but not whether AI-heavy delivery hurts long-term trust, renewals, or NPS.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2064" y="3145536"/>
            <a:ext cx="1417320" cy="237744"/>
          </a:xfr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16" y="3163824"/>
            <a:ext cx="1234440" cy="3847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buNone/>
            </a:pPr>
            <a:r>
              <a:rPr lang="it-IT" sz="950" b="1" spc="200" dirty="0">
                <a:solidFill>
                  <a:srgbClr val="FFFFFF"/>
                </a:solidFill>
                <a:latin typeface="Inter"/>
              </a:rPr>
              <a:t>HIGHEST PRIORITY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72968" y="1572768"/>
            <a:ext cx="2606040" cy="1965960"/>
          </a:xfrm>
          <a:solidFill>
            <a:srgbClr val="FFFFFF"/>
          </a:solidFill>
          <a:ln w="9525">
            <a:solidFill>
              <a:srgbClr val="E5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172968" y="1572768"/>
            <a:ext cx="73152" cy="1965960"/>
          </a:xfrm>
          <a:solidFill>
            <a:srgbClr val="FF3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319272" y="1645920"/>
            <a:ext cx="640982" cy="3693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it-IT" sz="1800" b="1" dirty="0">
                <a:solidFill>
                  <a:srgbClr val="FF3D6E"/>
                </a:solidFill>
                <a:latin typeface="Inter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19272" y="1920240"/>
            <a:ext cx="214884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it-IT" sz="1400" b="1" dirty="0">
                <a:solidFill>
                  <a:srgbClr val="0A0A0A"/>
                </a:solidFill>
                <a:latin typeface="Inter"/>
              </a:rPr>
              <a:t>Tool &amp; prompt telemetry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9272" y="2395728"/>
            <a:ext cx="2212848" cy="55399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it-IT" sz="1000" dirty="0">
                <a:solidFill>
                  <a:srgbClr val="5A5A6E"/>
                </a:solidFill>
                <a:latin typeface="Inter"/>
              </a:rPr>
              <a:t>The same ai_usage_pct can mean one precise draft or thirty failed iterations — blocking tool ROI decisions.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19271" y="3145536"/>
            <a:ext cx="1973945" cy="237744"/>
          </a:xfr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355270" y="3149126"/>
            <a:ext cx="1701170" cy="3847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buNone/>
            </a:pPr>
            <a:r>
              <a:rPr lang="it-IT" sz="950" b="1" spc="200" dirty="0">
                <a:solidFill>
                  <a:srgbClr val="FFFFFF"/>
                </a:solidFill>
                <a:latin typeface="Inter"/>
              </a:rPr>
              <a:t>PROCUREMENT + TRAINING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80176" y="1572768"/>
            <a:ext cx="2606040" cy="1965960"/>
          </a:xfrm>
          <a:solidFill>
            <a:srgbClr val="FFFFFF"/>
          </a:solidFill>
          <a:ln w="9525">
            <a:solidFill>
              <a:srgbClr val="E5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5980176" y="1572768"/>
            <a:ext cx="73152" cy="1965960"/>
          </a:xfrm>
          <a:solidFill>
            <a:srgbClr val="FF3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126479" y="1645920"/>
            <a:ext cx="628489" cy="3693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it-IT" sz="1800" b="1" dirty="0">
                <a:solidFill>
                  <a:srgbClr val="FF3D6E"/>
                </a:solidFill>
                <a:latin typeface="Inter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1920240"/>
            <a:ext cx="214884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it-IT" sz="1400" b="1" dirty="0">
                <a:solidFill>
                  <a:srgbClr val="0A0A0A"/>
                </a:solidFill>
                <a:latin typeface="Inter"/>
              </a:rPr>
              <a:t>Revision reason codes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2395728"/>
            <a:ext cx="2212848" cy="55399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it-IT" sz="1000" dirty="0">
                <a:solidFill>
                  <a:srgbClr val="5A5A6E"/>
                </a:solidFill>
                <a:latin typeface="Inter"/>
              </a:rPr>
              <a:t>Rework hours tell us cost, not cause. Distinguish AI mistakes, scope creep, and client preference changes.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26480" y="3145536"/>
            <a:ext cx="2322576" cy="237744"/>
          </a:xfr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199631" y="3163824"/>
            <a:ext cx="1907619" cy="3847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buNone/>
            </a:pPr>
            <a:r>
              <a:rPr lang="it-IT" sz="950" b="1" spc="200" dirty="0">
                <a:solidFill>
                  <a:srgbClr val="FFFFFF"/>
                </a:solidFill>
                <a:latin typeface="Inter"/>
              </a:rPr>
              <a:t>OPERATIONAL ROOT CAUSE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5760" y="3794760"/>
            <a:ext cx="8183879" cy="1161288"/>
          </a:xfrm>
          <a:solidFill>
            <a:srgbClr val="FFFFFF"/>
          </a:solidFill>
          <a:ln w="9525">
            <a:solidFill>
              <a:srgbClr val="E5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30352" y="3867912"/>
            <a:ext cx="3963924" cy="2616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it-IT" sz="1100" b="1" spc="200" dirty="0">
                <a:solidFill>
                  <a:srgbClr val="0A0A0A"/>
                </a:solidFill>
                <a:latin typeface="Inter"/>
              </a:rPr>
              <a:t>WHAT WE'D ASK ALKEMY — NEXT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30352" y="4123944"/>
            <a:ext cx="1874519" cy="393192"/>
          </a:xfrm>
          <a:solidFill>
            <a:srgbClr val="F5F5F8"/>
          </a:solidFill>
          <a:ln w="6350">
            <a:solidFill>
              <a:srgbClr val="E5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03504" y="4178808"/>
            <a:ext cx="1728215" cy="3847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buNone/>
            </a:pPr>
            <a:r>
              <a:rPr lang="it-IT" sz="950" b="1" dirty="0">
                <a:solidFill>
                  <a:srgbClr val="0A0A0A"/>
                </a:solidFill>
                <a:latin typeface="Inter"/>
              </a:rPr>
              <a:t>Which revisions were AI-caused vs client-driven?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560320" y="4123944"/>
            <a:ext cx="1874519" cy="393192"/>
          </a:xfrm>
          <a:solidFill>
            <a:srgbClr val="F5F5F8"/>
          </a:solidFill>
          <a:ln w="6350">
            <a:solidFill>
              <a:srgbClr val="E5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2633472" y="4178808"/>
            <a:ext cx="1728215" cy="3847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buNone/>
            </a:pPr>
            <a:r>
              <a:rPr lang="it-IT" sz="950" b="1" dirty="0">
                <a:solidFill>
                  <a:srgbClr val="0A0A0A"/>
                </a:solidFill>
                <a:latin typeface="Inter"/>
              </a:rPr>
              <a:t>Which tools, prompts &amp; iterations were used per task?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90288" y="4123944"/>
            <a:ext cx="1874519" cy="393192"/>
          </a:xfrm>
          <a:solidFill>
            <a:srgbClr val="F5F5F8"/>
          </a:solidFill>
          <a:ln w="6350">
            <a:solidFill>
              <a:srgbClr val="E5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663440" y="4178808"/>
            <a:ext cx="1728215" cy="3847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buNone/>
            </a:pPr>
            <a:r>
              <a:rPr lang="it-IT" sz="950" b="1" dirty="0">
                <a:solidFill>
                  <a:srgbClr val="0A0A0A"/>
                </a:solidFill>
                <a:latin typeface="Inter"/>
              </a:rPr>
              <a:t>Retention, upsell &amp; NPS after delivery?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20256" y="4123944"/>
            <a:ext cx="1828800" cy="393192"/>
          </a:xfrm>
          <a:solidFill>
            <a:srgbClr val="F5F5F8"/>
          </a:solidFill>
          <a:ln w="6350">
            <a:solidFill>
              <a:srgbClr val="E5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693408" y="4178808"/>
            <a:ext cx="1682496" cy="3847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buNone/>
            </a:pPr>
            <a:r>
              <a:rPr lang="it-IT" sz="950" b="1" dirty="0">
                <a:solidFill>
                  <a:srgbClr val="0A0A0A"/>
                </a:solidFill>
                <a:latin typeface="Inter"/>
              </a:rPr>
              <a:t>Which tasks were under-scoped or repriced?</a:t>
            </a:r>
          </a:p>
        </p:txBody>
      </p:sp>
      <p:sp>
        <p:nvSpPr>
          <p:cNvPr id="37" name="Shape 0">
            <a:extLst>
              <a:ext uri="{FF2B5EF4-FFF2-40B4-BE49-F238E27FC236}">
                <a16:creationId xmlns:a16="http://schemas.microsoft.com/office/drawing/2014/main" id="{254E04F8-D59A-9CAF-811D-49B80D2DBE3C}"/>
              </a:ext>
            </a:extLst>
          </p:cNvPr>
          <p:cNvSpPr/>
          <p:nvPr/>
        </p:nvSpPr>
        <p:spPr>
          <a:xfrm>
            <a:off x="457200" y="292608"/>
            <a:ext cx="1463040" cy="228600"/>
          </a:xfrm>
          <a:prstGeom prst="rect">
            <a:avLst/>
          </a:prstGeom>
          <a:solidFill>
            <a:srgbClr val="F0C040"/>
          </a:solidFill>
          <a:ln w="12700">
            <a:solidFill>
              <a:srgbClr val="F0C04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8" name="Text 1">
            <a:extLst>
              <a:ext uri="{FF2B5EF4-FFF2-40B4-BE49-F238E27FC236}">
                <a16:creationId xmlns:a16="http://schemas.microsoft.com/office/drawing/2014/main" id="{84F4E816-8BFD-98B2-030A-B28E907D9F4B}"/>
              </a:ext>
            </a:extLst>
          </p:cNvPr>
          <p:cNvSpPr/>
          <p:nvPr/>
        </p:nvSpPr>
        <p:spPr>
          <a:xfrm>
            <a:off x="457200" y="29260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1100" b="1" spc="400" dirty="0">
                <a:solidFill>
                  <a:srgbClr val="FF3D6E"/>
                </a:solidFill>
                <a:latin typeface="Inter"/>
              </a:rPr>
              <a:t>BLIND SPOTS</a:t>
            </a:r>
          </a:p>
        </p:txBody>
      </p:sp>
    </p:spTree>
    <p:extLst>
      <p:ext uri="{BB962C8B-B14F-4D97-AF65-F5344CB8AC3E}">
        <p14:creationId xmlns:p14="http://schemas.microsoft.com/office/powerpoint/2010/main" val="36406192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AF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1463040" cy="228600"/>
          </a:xfrm>
          <a:prstGeom prst="rect">
            <a:avLst/>
          </a:prstGeom>
          <a:solidFill>
            <a:srgbClr val="F0C040"/>
          </a:solidFill>
          <a:ln w="12700">
            <a:solidFill>
              <a:srgbClr val="F0C04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1100" b="1" spc="400" dirty="0">
                <a:solidFill>
                  <a:srgbClr val="FF3D6E"/>
                </a:solidFill>
                <a:latin typeface="Inter"/>
              </a:rPr>
              <a:t>DECISIONS</a:t>
            </a:r>
          </a:p>
        </p:txBody>
      </p:sp>
      <p:sp>
        <p:nvSpPr>
          <p:cNvPr id="4" name="Text 2"/>
          <p:cNvSpPr/>
          <p:nvPr/>
        </p:nvSpPr>
        <p:spPr>
          <a:xfrm>
            <a:off x="457200" y="621792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it-IT" sz="2800" b="1" spc="-30" dirty="0">
                <a:solidFill>
                  <a:srgbClr val="0A0A0A"/>
                </a:solidFill>
                <a:latin typeface="Inter"/>
              </a:rPr>
              <a:t>Three decisions</a:t>
            </a:r>
          </a:p>
        </p:txBody>
      </p:sp>
      <p:sp>
        <p:nvSpPr>
          <p:cNvPr id="5" name="Shape 3"/>
          <p:cNvSpPr/>
          <p:nvPr/>
        </p:nvSpPr>
        <p:spPr>
          <a:xfrm>
            <a:off x="365760" y="1490472"/>
            <a:ext cx="475488" cy="475488"/>
          </a:xfrm>
          <a:solidFill>
            <a:srgbClr val="FF3D6E"/>
          </a:solidFill>
          <a:ln>
            <a:noFill/>
          </a:ln>
        </p:spPr>
        <p:txBody>
          <a:bodyPr/>
          <a:lstStyle/>
          <a:p>
            <a:endParaRPr lang="en-IT"/>
          </a:p>
        </p:txBody>
      </p:sp>
      <p:sp>
        <p:nvSpPr>
          <p:cNvPr id="6" name="Text 4"/>
          <p:cNvSpPr/>
          <p:nvPr/>
        </p:nvSpPr>
        <p:spPr>
          <a:xfrm>
            <a:off x="365760" y="14904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1800" b="1" dirty="0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7" name="Text 5"/>
          <p:cNvSpPr/>
          <p:nvPr/>
        </p:nvSpPr>
        <p:spPr>
          <a:xfrm>
            <a:off x="987552" y="1435608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300" b="1" dirty="0">
                <a:solidFill>
                  <a:srgbClr val="0A0A0A"/>
                </a:solidFill>
                <a:latin typeface="Inter"/>
              </a:rPr>
              <a:t>Restructure the pricing book before scaling AI further</a:t>
            </a:r>
          </a:p>
        </p:txBody>
      </p:sp>
      <p:sp>
        <p:nvSpPr>
          <p:cNvPr id="8" name="Text 6"/>
          <p:cNvSpPr/>
          <p:nvPr/>
        </p:nvSpPr>
        <p:spPr>
          <a:xfrm>
            <a:off x="987552" y="1764792"/>
            <a:ext cx="60706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it-IT" sz="1200" dirty="0">
                <a:solidFill>
                  <a:srgbClr val="2A2A35"/>
                </a:solidFill>
                <a:latin typeface="Inter"/>
              </a:rPr>
              <a:t>Treat AI adoption as binary per workflow. &lt;30% costs more than it produces; 30–60% positive but not efficient; &gt;60% profit + time dividends consolidate. The 10–50% band is worse than either extreme.</a:t>
            </a:r>
          </a:p>
        </p:txBody>
      </p:sp>
      <p:sp>
        <p:nvSpPr>
          <p:cNvPr id="9" name="Shape 7"/>
          <p:cNvSpPr/>
          <p:nvPr/>
        </p:nvSpPr>
        <p:spPr>
          <a:xfrm>
            <a:off x="7114032" y="1490472"/>
            <a:ext cx="1664208" cy="475488"/>
          </a:xfrm>
          <a:solidFill>
            <a:srgbClr val="F5F5F8"/>
          </a:solidFill>
          <a:ln w="6350">
            <a:solidFill>
              <a:srgbClr val="E5E5EC"/>
            </a:solidFill>
          </a:ln>
        </p:spPr>
        <p:txBody>
          <a:bodyPr/>
          <a:lstStyle/>
          <a:p>
            <a:endParaRPr lang="en-IT"/>
          </a:p>
        </p:txBody>
      </p:sp>
      <p:sp>
        <p:nvSpPr>
          <p:cNvPr id="10" name="Text 8"/>
          <p:cNvSpPr/>
          <p:nvPr/>
        </p:nvSpPr>
        <p:spPr>
          <a:xfrm>
            <a:off x="7114032" y="1490472"/>
            <a:ext cx="16642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1100" b="1" dirty="0">
                <a:solidFill>
                  <a:srgbClr val="0A0A0A"/>
                </a:solidFill>
                <a:latin typeface="Inter"/>
              </a:rPr>
              <a:t>€540/task structural recovery</a:t>
            </a:r>
          </a:p>
        </p:txBody>
      </p:sp>
      <p:sp>
        <p:nvSpPr>
          <p:cNvPr id="11" name="Shape 9"/>
          <p:cNvSpPr/>
          <p:nvPr/>
        </p:nvSpPr>
        <p:spPr>
          <a:xfrm>
            <a:off x="365760" y="2724912"/>
            <a:ext cx="475488" cy="475488"/>
          </a:xfrm>
          <a:solidFill>
            <a:srgbClr val="FF3D6E"/>
          </a:solidFill>
          <a:ln>
            <a:noFill/>
          </a:ln>
        </p:spPr>
        <p:txBody>
          <a:bodyPr/>
          <a:lstStyle/>
          <a:p>
            <a:endParaRPr lang="en-IT"/>
          </a:p>
        </p:txBody>
      </p:sp>
      <p:sp>
        <p:nvSpPr>
          <p:cNvPr id="12" name="Text 10"/>
          <p:cNvSpPr/>
          <p:nvPr/>
        </p:nvSpPr>
        <p:spPr>
          <a:xfrm>
            <a:off x="365760" y="27249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1800" b="1" dirty="0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13" name="Text 11"/>
          <p:cNvSpPr/>
          <p:nvPr/>
        </p:nvSpPr>
        <p:spPr>
          <a:xfrm>
            <a:off x="987552" y="2670048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300" b="1" dirty="0">
                <a:solidFill>
                  <a:srgbClr val="0A0A0A"/>
                </a:solidFill>
                <a:latin typeface="Inter"/>
              </a:rPr>
              <a:t>Set AI floors: 30% minimum floor, 60% efficiency threshold</a:t>
            </a:r>
          </a:p>
        </p:txBody>
      </p:sp>
      <p:sp>
        <p:nvSpPr>
          <p:cNvPr id="14" name="Text 12"/>
          <p:cNvSpPr/>
          <p:nvPr/>
        </p:nvSpPr>
        <p:spPr>
          <a:xfrm>
            <a:off x="987552" y="2999232"/>
            <a:ext cx="60706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it-IT" sz="1200" dirty="0">
                <a:solidFill>
                  <a:srgbClr val="2A2A35"/>
                </a:solidFill>
                <a:latin typeface="Inter"/>
              </a:rPr>
              <a:t>Migrate AI-eligible work off hourly contracts. Priority: senior engagements (hourly senior = −€78/task vs value-based = +€511). The data justifies the pitch.</a:t>
            </a:r>
          </a:p>
        </p:txBody>
      </p:sp>
      <p:sp>
        <p:nvSpPr>
          <p:cNvPr id="15" name="Shape 13"/>
          <p:cNvSpPr/>
          <p:nvPr/>
        </p:nvSpPr>
        <p:spPr>
          <a:xfrm>
            <a:off x="7114032" y="2724912"/>
            <a:ext cx="1664208" cy="475488"/>
          </a:xfrm>
          <a:solidFill>
            <a:srgbClr val="F5F5F8"/>
          </a:solidFill>
          <a:ln w="6350">
            <a:solidFill>
              <a:srgbClr val="E5E5EC"/>
            </a:solidFill>
          </a:ln>
        </p:spPr>
        <p:txBody>
          <a:bodyPr/>
          <a:lstStyle/>
          <a:p>
            <a:endParaRPr lang="en-IT"/>
          </a:p>
        </p:txBody>
      </p:sp>
      <p:sp>
        <p:nvSpPr>
          <p:cNvPr id="16" name="Text 14"/>
          <p:cNvSpPr/>
          <p:nvPr/>
        </p:nvSpPr>
        <p:spPr>
          <a:xfrm>
            <a:off x="7114032" y="2724912"/>
            <a:ext cx="16642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1100" b="1" dirty="0">
                <a:solidFill>
                  <a:srgbClr val="0A0A0A"/>
                </a:solidFill>
                <a:latin typeface="Inter"/>
              </a:rPr>
              <a:t>€242/task lift on migrated volume</a:t>
            </a:r>
          </a:p>
        </p:txBody>
      </p:sp>
      <p:sp>
        <p:nvSpPr>
          <p:cNvPr id="17" name="Shape 15"/>
          <p:cNvSpPr/>
          <p:nvPr/>
        </p:nvSpPr>
        <p:spPr>
          <a:xfrm>
            <a:off x="365760" y="3959352"/>
            <a:ext cx="475488" cy="475488"/>
          </a:xfrm>
          <a:solidFill>
            <a:srgbClr val="FF3D6E"/>
          </a:solidFill>
          <a:ln>
            <a:noFill/>
          </a:ln>
        </p:spPr>
        <p:txBody>
          <a:bodyPr/>
          <a:lstStyle/>
          <a:p>
            <a:endParaRPr lang="en-IT"/>
          </a:p>
        </p:txBody>
      </p:sp>
      <p:sp>
        <p:nvSpPr>
          <p:cNvPr id="18" name="Text 16"/>
          <p:cNvSpPr/>
          <p:nvPr/>
        </p:nvSpPr>
        <p:spPr>
          <a:xfrm>
            <a:off x="365760" y="395935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1800" b="1" dirty="0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19" name="Text 17"/>
          <p:cNvSpPr/>
          <p:nvPr/>
        </p:nvSpPr>
        <p:spPr>
          <a:xfrm>
            <a:off x="987552" y="3904488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300" b="1" dirty="0">
                <a:solidFill>
                  <a:srgbClr val="0A0A0A"/>
                </a:solidFill>
                <a:latin typeface="Inter"/>
              </a:rPr>
              <a:t>Reposition seniors as AI force multipliers — remove from low-AI execution</a:t>
            </a:r>
          </a:p>
        </p:txBody>
      </p:sp>
      <p:sp>
        <p:nvSpPr>
          <p:cNvPr id="20" name="Text 18"/>
          <p:cNvSpPr/>
          <p:nvPr/>
        </p:nvSpPr>
        <p:spPr>
          <a:xfrm>
            <a:off x="987552" y="4233672"/>
            <a:ext cx="60706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it-IT" sz="1200" dirty="0">
                <a:solidFill>
                  <a:srgbClr val="2A2A35"/>
                </a:solidFill>
                <a:latin typeface="Inter"/>
              </a:rPr>
              <a:t>Senior-led tasks must pass two conditions: AI usage ≥60% AND fixed/value-based contract. Redirect seniors to 80–100% AI workflows where the €3,935 ceiling is observed.</a:t>
            </a:r>
          </a:p>
        </p:txBody>
      </p:sp>
      <p:sp>
        <p:nvSpPr>
          <p:cNvPr id="21" name="Shape 19"/>
          <p:cNvSpPr/>
          <p:nvPr/>
        </p:nvSpPr>
        <p:spPr>
          <a:xfrm>
            <a:off x="7112000" y="3962400"/>
            <a:ext cx="1663700" cy="469900"/>
          </a:xfrm>
          <a:solidFill>
            <a:srgbClr val="F5F5F8"/>
          </a:solidFill>
          <a:ln w="6350">
            <a:solidFill>
              <a:srgbClr val="E5E5EC"/>
            </a:solidFill>
          </a:ln>
        </p:spPr>
        <p:txBody>
          <a:bodyPr/>
          <a:lstStyle/>
          <a:p>
            <a:endParaRPr lang="en-IT"/>
          </a:p>
        </p:txBody>
      </p:sp>
      <p:sp>
        <p:nvSpPr>
          <p:cNvPr id="22" name="Text 20"/>
          <p:cNvSpPr/>
          <p:nvPr/>
        </p:nvSpPr>
        <p:spPr>
          <a:xfrm>
            <a:off x="7114032" y="3959352"/>
            <a:ext cx="16642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1100" b="1" dirty="0">
                <a:solidFill>
                  <a:srgbClr val="0A0A0A"/>
                </a:solidFill>
                <a:latin typeface="Inter"/>
              </a:rPr>
              <a:t>Senior margin reversal</a:t>
            </a:r>
          </a:p>
        </p:txBody>
      </p:sp>
    </p:spTree>
    <p:extLst>
      <p:ext uri="{BB962C8B-B14F-4D97-AF65-F5344CB8AC3E}">
        <p14:creationId xmlns:p14="http://schemas.microsoft.com/office/powerpoint/2010/main" val="32315487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A0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7800" cy="5143500"/>
          </a:xfrm>
          <a:prstGeom prst="rect">
            <a:avLst/>
          </a:prstGeom>
          <a:solidFill>
            <a:srgbClr val="FF3D6E"/>
          </a:solidFill>
          <a:ln w="12700">
            <a:noFill/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" name="Text 1"/>
          <p:cNvSpPr/>
          <p:nvPr/>
        </p:nvSpPr>
        <p:spPr>
          <a:xfrm>
            <a:off x="762000" y="1016000"/>
            <a:ext cx="762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100" b="1" spc="400" dirty="0">
                <a:solidFill>
                  <a:srgbClr val="FF3D6E"/>
                </a:solidFill>
                <a:latin typeface="Inter"/>
              </a:rPr>
              <a:t>THE BOTTOM LINE</a:t>
            </a:r>
          </a:p>
        </p:txBody>
      </p:sp>
      <p:sp>
        <p:nvSpPr>
          <p:cNvPr id="4" name="Text 2"/>
          <p:cNvSpPr/>
          <p:nvPr/>
        </p:nvSpPr>
        <p:spPr>
          <a:xfrm>
            <a:off x="762000" y="1524000"/>
            <a:ext cx="8382000" cy="20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5000"/>
              </a:lnSpc>
              <a:buNone/>
            </a:pPr>
            <a:r>
              <a:rPr lang="it-IT" sz="5400" b="1" spc="-50" dirty="0">
                <a:solidFill>
                  <a:srgbClr val="FFFFFF"/>
                </a:solidFill>
                <a:latin typeface="Inter"/>
              </a:rPr>
              <a:t>The technology is doing its job.</a:t>
            </a:r>
          </a:p>
        </p:txBody>
      </p:sp>
      <p:sp>
        <p:nvSpPr>
          <p:cNvPr id="5" name="Shape 3"/>
          <p:cNvSpPr/>
          <p:nvPr/>
        </p:nvSpPr>
        <p:spPr>
          <a:xfrm>
            <a:off x="762000" y="3683000"/>
            <a:ext cx="2540000" cy="0"/>
          </a:xfrm>
          <a:prstGeom prst="line">
            <a:avLst/>
          </a:prstGeom>
          <a:noFill/>
          <a:ln w="19050">
            <a:solidFill>
              <a:srgbClr val="2A2A44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" name="Text 4"/>
          <p:cNvSpPr/>
          <p:nvPr/>
        </p:nvSpPr>
        <p:spPr>
          <a:xfrm>
            <a:off x="762000" y="3873500"/>
            <a:ext cx="838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it-IT" sz="3200" b="1" dirty="0">
                <a:solidFill>
                  <a:srgbClr val="FF3D6E"/>
                </a:solidFill>
                <a:latin typeface="Inter"/>
              </a:rPr>
              <a:t>The business model is the bottleneck.</a:t>
            </a:r>
          </a:p>
        </p:txBody>
      </p:sp>
    </p:spTree>
    <p:extLst>
      <p:ext uri="{BB962C8B-B14F-4D97-AF65-F5344CB8AC3E}">
        <p14:creationId xmlns:p14="http://schemas.microsoft.com/office/powerpoint/2010/main" val="21804973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77460415672]">
  <a:themeElements>
    <a:clrScheme name="Office">
      <a:dk1>
        <a:srgbClr val="0A0A0A"/>
      </a:dk1>
      <a:lt1>
        <a:srgbClr val="FAFAFA"/>
      </a:lt1>
      <a:dk2>
        <a:srgbClr val="5A5A6E"/>
      </a:dk2>
      <a:lt2>
        <a:srgbClr val="E5E5EC"/>
      </a:lt2>
      <a:accent1>
        <a:srgbClr val="FF3D6E"/>
      </a:accent1>
      <a:accent2>
        <a:srgbClr val="0A0A0A"/>
      </a:accent2>
      <a:accent3>
        <a:srgbClr val="FFE600"/>
      </a:accent3>
      <a:accent4>
        <a:srgbClr val="5A5A6E"/>
      </a:accent4>
      <a:accent5>
        <a:srgbClr val="FFFFFF"/>
      </a:accent5>
      <a:accent6>
        <a:srgbClr val="FF3D6E"/>
      </a:accent6>
      <a:hlink>
        <a:srgbClr val="0563C1"/>
      </a:hlink>
      <a:folHlink>
        <a:srgbClr val="954F72"/>
      </a:folHlink>
    </a:clrScheme>
    <a:fontScheme name="Office">
      <a:majorFont>
        <a:latin typeface="Inter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17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42C1F9DE-F8FA-4E9C-8DC7-B6702889FB99}">
  <we:reference id="wa200010001" version="1.0.0.1" store="it-IT" storeType="OMEX"/>
  <we:alternateReferences>
    <we:reference id="wa200010001" version="1.0.0.1" store="wa200010001" storeType="OMEX"/>
  </we:alternateReferences>
  <we:properties>
    <we:property name="claude.fileId" value="&quot;88c9a2a5-9181-4e2e-8bb8-f00eabaee7a3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89</TotalTime>
  <Words>1534</Words>
  <Application>Microsoft Office PowerPoint</Application>
  <PresentationFormat>On-screen Show (16:9)</PresentationFormat>
  <Paragraphs>254</Paragraphs>
  <Slides>15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Inter</vt:lpstr>
      <vt:lpstr>Office Theme [1777460415672]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Gabriele Loreti</cp:lastModifiedBy>
  <cp:revision>8</cp:revision>
  <dcterms:created xsi:type="dcterms:W3CDTF">2026-04-28T12:35:50Z</dcterms:created>
  <dcterms:modified xsi:type="dcterms:W3CDTF">2026-04-29T13:49:44Z</dcterms:modified>
</cp:coreProperties>
</file>
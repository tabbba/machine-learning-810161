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HK Grotesk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48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jpeg" Type="http://schemas.openxmlformats.org/officeDocument/2006/relationships/image"/><Relationship Id="rId5" Target="../media/image2.jpe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1.jpeg" Type="http://schemas.openxmlformats.org/officeDocument/2006/relationships/image"/><Relationship Id="rId14" Target="../media/image2.jpe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2311" y="3209554"/>
            <a:ext cx="14983387" cy="290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9"/>
              </a:lnSpc>
            </a:pPr>
            <a:r>
              <a:rPr lang="en-US" sz="1182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Does AI Help or</a:t>
            </a:r>
          </a:p>
          <a:p>
            <a:pPr algn="ctr">
              <a:lnSpc>
                <a:spcPts val="11829"/>
              </a:lnSpc>
            </a:pPr>
            <a:r>
              <a:rPr lang="en-US" sz="1182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Hurt the Business?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2311" y="6055595"/>
            <a:ext cx="14983387" cy="5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2764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Alexandra Tabarani · Gabriele Loreti · Edoardo Cocciò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2311" y="1310059"/>
            <a:ext cx="14983387" cy="52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b="true" sz="2764" spc="221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PRODUCTIVITY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6192" y="8421481"/>
            <a:ext cx="12175607" cy="45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Presented to Alkemy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6459200" cy="585216"/>
            <a:chOff x="0" y="0"/>
            <a:chExt cx="21945600" cy="780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635" r="0" b="-4976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68096"/>
            <a:ext cx="16459200" cy="585216"/>
            <a:chOff x="0" y="0"/>
            <a:chExt cx="2194560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b="true" sz="2799" spc="223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QUESTION WE ANSWERED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4875" y="1636395"/>
            <a:ext cx="16478250" cy="1664970"/>
          </a:xfrm>
          <a:custGeom>
            <a:avLst/>
            <a:gdLst/>
            <a:ahLst/>
            <a:cxnLst/>
            <a:rect r="r" b="b" t="t" l="l"/>
            <a:pathLst>
              <a:path h="1664970" w="16478250">
                <a:moveTo>
                  <a:pt x="0" y="0"/>
                </a:moveTo>
                <a:lnTo>
                  <a:pt x="16478250" y="0"/>
                </a:lnTo>
                <a:lnTo>
                  <a:pt x="16478250" y="1664970"/>
                </a:lnTo>
                <a:lnTo>
                  <a:pt x="0" y="16649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400" y="1645920"/>
            <a:ext cx="16459200" cy="1645920"/>
            <a:chOff x="0" y="0"/>
            <a:chExt cx="219456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4" r="0" b="-14471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645920"/>
            <a:ext cx="16459200" cy="1645920"/>
            <a:chOff x="0" y="0"/>
            <a:chExt cx="2194560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Does AI help?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657600"/>
            <a:ext cx="16459200" cy="2834640"/>
            <a:chOff x="0" y="0"/>
            <a:chExt cx="21945600" cy="37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3657600"/>
            <a:ext cx="15727680" cy="2834640"/>
            <a:chOff x="0" y="0"/>
            <a:chExt cx="20970240" cy="3779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023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35" r="0" b="-5803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3657600"/>
            <a:ext cx="15727680" cy="2834640"/>
            <a:chOff x="0" y="0"/>
            <a:chExt cx="20970240" cy="3779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7023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10" r="0" b="-581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970240" cy="3779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 what conditions does AI capture margin and under what conditions does it destroy it?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04875" y="6848475"/>
            <a:ext cx="5505450" cy="1939290"/>
          </a:xfrm>
          <a:custGeom>
            <a:avLst/>
            <a:gdLst/>
            <a:ahLst/>
            <a:cxnLst/>
            <a:rect r="r" b="b" t="t" l="l"/>
            <a:pathLst>
              <a:path h="1939290" w="5505450">
                <a:moveTo>
                  <a:pt x="0" y="0"/>
                </a:moveTo>
                <a:lnTo>
                  <a:pt x="5505450" y="0"/>
                </a:lnTo>
                <a:lnTo>
                  <a:pt x="5505450" y="1939290"/>
                </a:lnTo>
                <a:lnTo>
                  <a:pt x="0" y="1939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88720" y="6858000"/>
            <a:ext cx="4937760" cy="1920240"/>
            <a:chOff x="0" y="0"/>
            <a:chExt cx="6583680" cy="2560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6850856"/>
            <a:ext cx="4937760" cy="1927384"/>
            <a:chOff x="0" y="0"/>
            <a:chExt cx="6583680" cy="25698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2569845"/>
            </a:xfrm>
            <a:custGeom>
              <a:avLst/>
              <a:gdLst/>
              <a:ahLst/>
              <a:cxnLst/>
              <a:rect r="r" b="b" t="t" l="l"/>
              <a:pathLst>
                <a:path h="25698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9845"/>
                  </a:lnTo>
                  <a:lnTo>
                    <a:pt x="0" y="25698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" t="0" r="-8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58368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 what AI usage level does the profit effect cross zero?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665595" y="6848475"/>
            <a:ext cx="5505450" cy="1939290"/>
          </a:xfrm>
          <a:custGeom>
            <a:avLst/>
            <a:gdLst/>
            <a:ahLst/>
            <a:cxnLst/>
            <a:rect r="r" b="b" t="t" l="l"/>
            <a:pathLst>
              <a:path h="1939290" w="5505450">
                <a:moveTo>
                  <a:pt x="0" y="0"/>
                </a:moveTo>
                <a:lnTo>
                  <a:pt x="5505450" y="0"/>
                </a:lnTo>
                <a:lnTo>
                  <a:pt x="5505450" y="1939290"/>
                </a:lnTo>
                <a:lnTo>
                  <a:pt x="0" y="1939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49440" y="6858000"/>
            <a:ext cx="4937760" cy="1920240"/>
            <a:chOff x="0" y="0"/>
            <a:chExt cx="6583680" cy="2560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49440" y="6850856"/>
            <a:ext cx="4937760" cy="1927384"/>
            <a:chOff x="0" y="0"/>
            <a:chExt cx="6583680" cy="25698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2569845"/>
            </a:xfrm>
            <a:custGeom>
              <a:avLst/>
              <a:gdLst/>
              <a:ahLst/>
              <a:cxnLst/>
              <a:rect r="r" b="b" t="t" l="l"/>
              <a:pathLst>
                <a:path h="25698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9845"/>
                  </a:lnTo>
                  <a:lnTo>
                    <a:pt x="0" y="25698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" t="0" r="-8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58368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What is the mechanism: hours or quality?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426315" y="6848475"/>
            <a:ext cx="5505450" cy="1939290"/>
          </a:xfrm>
          <a:custGeom>
            <a:avLst/>
            <a:gdLst/>
            <a:ahLst/>
            <a:cxnLst/>
            <a:rect r="r" b="b" t="t" l="l"/>
            <a:pathLst>
              <a:path h="1939290" w="5505450">
                <a:moveTo>
                  <a:pt x="0" y="0"/>
                </a:moveTo>
                <a:lnTo>
                  <a:pt x="5505450" y="0"/>
                </a:lnTo>
                <a:lnTo>
                  <a:pt x="5505450" y="1939290"/>
                </a:lnTo>
                <a:lnTo>
                  <a:pt x="0" y="1939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710160" y="6858000"/>
            <a:ext cx="4937760" cy="1920240"/>
            <a:chOff x="0" y="0"/>
            <a:chExt cx="6583680" cy="256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710160" y="6850856"/>
            <a:ext cx="4937760" cy="1927384"/>
            <a:chOff x="0" y="0"/>
            <a:chExt cx="6583680" cy="25698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2569845"/>
            </a:xfrm>
            <a:custGeom>
              <a:avLst/>
              <a:gdLst/>
              <a:ahLst/>
              <a:cxnLst/>
              <a:rect r="r" b="b" t="t" l="l"/>
              <a:pathLst>
                <a:path h="25698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9845"/>
                  </a:lnTo>
                  <a:lnTo>
                    <a:pt x="0" y="25698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" t="0" r="-8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58368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Which contract structures capture the productivity dividend?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THE DATA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978466"/>
            <a:chOff x="0" y="0"/>
            <a:chExt cx="21945600" cy="26379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637917"/>
            </a:xfrm>
            <a:custGeom>
              <a:avLst/>
              <a:gdLst/>
              <a:ahLst/>
              <a:cxnLst/>
              <a:rect r="r" b="b" t="t" l="l"/>
              <a:pathLst>
                <a:path h="26379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37917"/>
                  </a:lnTo>
                  <a:lnTo>
                    <a:pt x="0" y="26379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988" r="0" b="-1119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6440"/>
            <a:ext cx="16459200" cy="1985610"/>
            <a:chOff x="0" y="0"/>
            <a:chExt cx="21945600" cy="2647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647486"/>
            </a:xfrm>
            <a:custGeom>
              <a:avLst/>
              <a:gdLst/>
              <a:ahLst/>
              <a:cxnLst/>
              <a:rect r="r" b="b" t="t" l="l"/>
              <a:pathLst>
                <a:path h="26474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47486"/>
                  </a:lnTo>
                  <a:lnTo>
                    <a:pt x="0" y="26474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15" r="0" b="-1115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265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b="true" sz="5599" spc="447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3,248 RAW TASKS. 3,016 ANALYZED AFTER CLEANING.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8096" y="3222050"/>
            <a:ext cx="16459200" cy="548640"/>
            <a:chOff x="0" y="0"/>
            <a:chExt cx="219456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144" r="0" b="-5341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68096" y="3214907"/>
            <a:ext cx="16459200" cy="555784"/>
            <a:chOff x="0" y="0"/>
            <a:chExt cx="21945600" cy="7410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741045"/>
            </a:xfrm>
            <a:custGeom>
              <a:avLst/>
              <a:gdLst/>
              <a:ahLst/>
              <a:cxnLst/>
              <a:rect r="r" b="b" t="t" l="l"/>
              <a:pathLst>
                <a:path h="74104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27037" r="0" b="-5270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Every row is a delivered task with revenue, cost, hours, AI usage, and outcome recorded.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8571" y="4011720"/>
            <a:ext cx="3931920" cy="2216648"/>
            <a:chOff x="0" y="0"/>
            <a:chExt cx="5242560" cy="29555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2560" cy="2955544"/>
            </a:xfrm>
            <a:custGeom>
              <a:avLst/>
              <a:gdLst/>
              <a:ahLst/>
              <a:cxnLst/>
              <a:rect r="r" b="b" t="t" l="l"/>
              <a:pathLst>
                <a:path h="295554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55544"/>
                  </a:lnTo>
                  <a:lnTo>
                    <a:pt x="0" y="2955544"/>
                  </a:ln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8571" y="4139736"/>
            <a:ext cx="3931920" cy="1459259"/>
            <a:chOff x="0" y="0"/>
            <a:chExt cx="5242560" cy="1945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2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45640"/>
                  </a:lnTo>
                  <a:lnTo>
                    <a:pt x="0" y="1945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5" r="0" b="-246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8571" y="4132593"/>
            <a:ext cx="3931920" cy="1466402"/>
            <a:chOff x="0" y="0"/>
            <a:chExt cx="5242560" cy="1955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42560" cy="1955205"/>
            </a:xfrm>
            <a:custGeom>
              <a:avLst/>
              <a:gdLst/>
              <a:ahLst/>
              <a:cxnLst/>
              <a:rect r="r" b="b" t="t" l="l"/>
              <a:pathLst>
                <a:path h="195520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5205"/>
                  </a:lnTo>
                  <a:lnTo>
                    <a:pt x="0" y="1955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45" r="0" b="-22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242560" cy="1964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3,016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8571" y="5501430"/>
            <a:ext cx="39319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33D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Tasks Analyzed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991862" y="4002195"/>
            <a:ext cx="3950970" cy="2226173"/>
          </a:xfrm>
          <a:custGeom>
            <a:avLst/>
            <a:gdLst/>
            <a:ahLst/>
            <a:cxnLst/>
            <a:rect r="r" b="b" t="t" l="l"/>
            <a:pathLst>
              <a:path h="2226173" w="3950970">
                <a:moveTo>
                  <a:pt x="0" y="0"/>
                </a:moveTo>
                <a:lnTo>
                  <a:pt x="3950970" y="0"/>
                </a:lnTo>
                <a:lnTo>
                  <a:pt x="3950970" y="2226174"/>
                </a:lnTo>
                <a:lnTo>
                  <a:pt x="0" y="2226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001387" y="4139736"/>
            <a:ext cx="3931920" cy="1459259"/>
            <a:chOff x="0" y="0"/>
            <a:chExt cx="5242560" cy="19456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42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45640"/>
                  </a:lnTo>
                  <a:lnTo>
                    <a:pt x="0" y="1945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5" r="0" b="-246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01387" y="4132593"/>
            <a:ext cx="3931920" cy="1466402"/>
            <a:chOff x="0" y="0"/>
            <a:chExt cx="5242560" cy="19552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42560" cy="1955205"/>
            </a:xfrm>
            <a:custGeom>
              <a:avLst/>
              <a:gdLst/>
              <a:ahLst/>
              <a:cxnLst/>
              <a:rect r="r" b="b" t="t" l="l"/>
              <a:pathLst>
                <a:path h="195520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5205"/>
                  </a:lnTo>
                  <a:lnTo>
                    <a:pt x="0" y="1955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45" r="0" b="-22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242560" cy="1964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 Teams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001387" y="5547150"/>
            <a:ext cx="39319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33D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 · Design · SEO · Media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234678" y="4002195"/>
            <a:ext cx="3950970" cy="2226173"/>
          </a:xfrm>
          <a:custGeom>
            <a:avLst/>
            <a:gdLst/>
            <a:ahLst/>
            <a:cxnLst/>
            <a:rect r="r" b="b" t="t" l="l"/>
            <a:pathLst>
              <a:path h="2226173" w="3950970">
                <a:moveTo>
                  <a:pt x="0" y="0"/>
                </a:moveTo>
                <a:lnTo>
                  <a:pt x="3950970" y="0"/>
                </a:lnTo>
                <a:lnTo>
                  <a:pt x="3950970" y="2226174"/>
                </a:lnTo>
                <a:lnTo>
                  <a:pt x="0" y="2226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244203" y="4139736"/>
            <a:ext cx="3931920" cy="1459259"/>
            <a:chOff x="0" y="0"/>
            <a:chExt cx="5242560" cy="1945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42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45640"/>
                  </a:lnTo>
                  <a:lnTo>
                    <a:pt x="0" y="1945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5" r="0" b="-246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44203" y="4132593"/>
            <a:ext cx="3931920" cy="1466402"/>
            <a:chOff x="0" y="0"/>
            <a:chExt cx="5242560" cy="1955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42560" cy="1955205"/>
            </a:xfrm>
            <a:custGeom>
              <a:avLst/>
              <a:gdLst/>
              <a:ahLst/>
              <a:cxnLst/>
              <a:rect r="r" b="b" t="t" l="l"/>
              <a:pathLst>
                <a:path h="195520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5205"/>
                  </a:lnTo>
                  <a:lnTo>
                    <a:pt x="0" y="1955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45" r="0" b="-22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242560" cy="1964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 Levels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244203" y="5547150"/>
            <a:ext cx="39319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33D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Junior · Mid · Senior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477494" y="4002195"/>
            <a:ext cx="3950970" cy="2226173"/>
          </a:xfrm>
          <a:custGeom>
            <a:avLst/>
            <a:gdLst/>
            <a:ahLst/>
            <a:cxnLst/>
            <a:rect r="r" b="b" t="t" l="l"/>
            <a:pathLst>
              <a:path h="2226173" w="3950970">
                <a:moveTo>
                  <a:pt x="0" y="0"/>
                </a:moveTo>
                <a:lnTo>
                  <a:pt x="3950970" y="0"/>
                </a:lnTo>
                <a:lnTo>
                  <a:pt x="3950970" y="2226174"/>
                </a:lnTo>
                <a:lnTo>
                  <a:pt x="0" y="2226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487019" y="4139736"/>
            <a:ext cx="3931920" cy="1371600"/>
            <a:chOff x="0" y="0"/>
            <a:chExt cx="524256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42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18" r="0" b="-581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487019" y="4132593"/>
            <a:ext cx="3931920" cy="1378744"/>
            <a:chOff x="0" y="0"/>
            <a:chExt cx="5242560" cy="18383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42560" cy="1838325"/>
            </a:xfrm>
            <a:custGeom>
              <a:avLst/>
              <a:gdLst/>
              <a:ahLst/>
              <a:cxnLst/>
              <a:rect r="r" b="b" t="t" l="l"/>
              <a:pathLst>
                <a:path h="183832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838325"/>
                  </a:lnTo>
                  <a:lnTo>
                    <a:pt x="0" y="18383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7" r="0" b="-556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2425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600"/>
                </a:lnSpc>
              </a:pPr>
              <a:r>
                <a:rPr lang="en-US" b="true" sz="5500" spc="440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 TO 100%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487019" y="5547150"/>
            <a:ext cx="39319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33D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Usage Range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0976" y="6637344"/>
            <a:ext cx="16459200" cy="475488"/>
            <a:chOff x="0" y="0"/>
            <a:chExt cx="2194560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4012" r="0" b="-62401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" y="6630200"/>
            <a:ext cx="16459200" cy="482632"/>
            <a:chOff x="0" y="0"/>
            <a:chExt cx="21945600" cy="64350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0" cy="643509"/>
            </a:xfrm>
            <a:custGeom>
              <a:avLst/>
              <a:gdLst/>
              <a:ahLst/>
              <a:cxnLst/>
              <a:rect r="r" b="b" t="t" l="l"/>
              <a:pathLst>
                <a:path h="64350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4498" r="0" b="-61449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194560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VARIABLES TRACKED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758571" y="72678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768096" y="7277424"/>
            <a:ext cx="4023360" cy="731520"/>
            <a:chOff x="0" y="0"/>
            <a:chExt cx="536448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68096" y="7270280"/>
            <a:ext cx="4023360" cy="738664"/>
            <a:chOff x="0" y="0"/>
            <a:chExt cx="5364480" cy="98488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ai_usage_pct (0 to 100%)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5001387" y="72678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010912" y="7277424"/>
            <a:ext cx="4023360" cy="731520"/>
            <a:chOff x="0" y="0"/>
            <a:chExt cx="536448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010912" y="7270280"/>
            <a:ext cx="4023360" cy="738664"/>
            <a:chOff x="0" y="0"/>
            <a:chExt cx="5364480" cy="9848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profit = revenue − cost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244203" y="72678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253728" y="7277424"/>
            <a:ext cx="4023360" cy="731520"/>
            <a:chOff x="0" y="0"/>
            <a:chExt cx="536448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253728" y="7270280"/>
            <a:ext cx="4023360" cy="738664"/>
            <a:chOff x="0" y="0"/>
            <a:chExt cx="5364480" cy="9848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hours_spent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3487019" y="72678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3496544" y="7277424"/>
            <a:ext cx="4023360" cy="731520"/>
            <a:chOff x="0" y="0"/>
            <a:chExt cx="536448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496544" y="7270280"/>
            <a:ext cx="4023360" cy="738664"/>
            <a:chOff x="0" y="0"/>
            <a:chExt cx="5364480" cy="98488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rework_hours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758571" y="81822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768096" y="8191824"/>
            <a:ext cx="4023360" cy="731520"/>
            <a:chOff x="0" y="0"/>
            <a:chExt cx="5364480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68096" y="8184680"/>
            <a:ext cx="4023360" cy="738664"/>
            <a:chOff x="0" y="0"/>
            <a:chExt cx="5364480" cy="98488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pricing_model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5001387" y="81822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5010912" y="8191824"/>
            <a:ext cx="4023360" cy="731520"/>
            <a:chOff x="0" y="0"/>
            <a:chExt cx="536448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010912" y="8184680"/>
            <a:ext cx="4023360" cy="738664"/>
            <a:chOff x="0" y="0"/>
            <a:chExt cx="5364480" cy="9848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seniority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9244203" y="81822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9253728" y="8191824"/>
            <a:ext cx="4023360" cy="731520"/>
            <a:chOff x="0" y="0"/>
            <a:chExt cx="536448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253728" y="8184680"/>
            <a:ext cx="4023360" cy="738664"/>
            <a:chOff x="0" y="0"/>
            <a:chExt cx="5364480" cy="98488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sla_breach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13487019" y="8182299"/>
            <a:ext cx="4042410" cy="750570"/>
          </a:xfrm>
          <a:custGeom>
            <a:avLst/>
            <a:gdLst/>
            <a:ahLst/>
            <a:cxnLst/>
            <a:rect r="r" b="b" t="t" l="l"/>
            <a:pathLst>
              <a:path h="750570" w="4042410">
                <a:moveTo>
                  <a:pt x="0" y="0"/>
                </a:moveTo>
                <a:lnTo>
                  <a:pt x="4042410" y="0"/>
                </a:lnTo>
                <a:lnTo>
                  <a:pt x="4042410" y="750570"/>
                </a:lnTo>
                <a:lnTo>
                  <a:pt x="0" y="750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3496544" y="8191824"/>
            <a:ext cx="4023360" cy="731520"/>
            <a:chOff x="0" y="0"/>
            <a:chExt cx="5364480" cy="975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496544" y="8184680"/>
            <a:ext cx="4023360" cy="738664"/>
            <a:chOff x="0" y="0"/>
            <a:chExt cx="5364480" cy="98488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0" cy="984885"/>
            </a:xfrm>
            <a:custGeom>
              <a:avLst/>
              <a:gdLst/>
              <a:ahLst/>
              <a:cxnLst/>
              <a:rect r="r" b="b" t="t" l="l"/>
              <a:pathLst>
                <a:path h="984885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84885"/>
                  </a:lnTo>
                  <a:lnTo>
                    <a:pt x="0" y="9848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131" r="0" b="-5613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53644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outcome_score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FINDING #1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4603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7459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works: but only above a threshold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6053" y="8123577"/>
            <a:ext cx="5844635" cy="1994154"/>
          </a:xfrm>
          <a:custGeom>
            <a:avLst/>
            <a:gdLst/>
            <a:ahLst/>
            <a:cxnLst/>
            <a:rect r="r" b="b" t="t" l="l"/>
            <a:pathLst>
              <a:path h="1994154" w="5844635">
                <a:moveTo>
                  <a:pt x="0" y="0"/>
                </a:moveTo>
                <a:lnTo>
                  <a:pt x="5844635" y="0"/>
                </a:lnTo>
                <a:lnTo>
                  <a:pt x="5844635" y="1994154"/>
                </a:lnTo>
                <a:lnTo>
                  <a:pt x="0" y="19941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05578" y="8133102"/>
            <a:ext cx="108776" cy="1975104"/>
            <a:chOff x="0" y="0"/>
            <a:chExt cx="145034" cy="26334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034" cy="2633472"/>
            </a:xfrm>
            <a:custGeom>
              <a:avLst/>
              <a:gdLst/>
              <a:ahLst/>
              <a:cxnLst/>
              <a:rect r="r" b="b" t="t" l="l"/>
              <a:pathLst>
                <a:path h="2633472" w="145034">
                  <a:moveTo>
                    <a:pt x="0" y="0"/>
                  </a:moveTo>
                  <a:lnTo>
                    <a:pt x="145034" y="0"/>
                  </a:lnTo>
                  <a:lnTo>
                    <a:pt x="145034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4762" y="8315982"/>
            <a:ext cx="5390598" cy="521932"/>
            <a:chOff x="0" y="0"/>
            <a:chExt cx="7187463" cy="6959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87438" cy="695960"/>
            </a:xfrm>
            <a:custGeom>
              <a:avLst/>
              <a:gdLst/>
              <a:ahLst/>
              <a:cxnLst/>
              <a:rect r="r" b="b" t="t" l="l"/>
              <a:pathLst>
                <a:path h="695960" w="7187438">
                  <a:moveTo>
                    <a:pt x="0" y="0"/>
                  </a:moveTo>
                  <a:lnTo>
                    <a:pt x="7187438" y="0"/>
                  </a:lnTo>
                  <a:lnTo>
                    <a:pt x="7187438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1093" r="0" b="-15108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4762" y="8308838"/>
            <a:ext cx="5390598" cy="529076"/>
            <a:chOff x="0" y="0"/>
            <a:chExt cx="7187463" cy="7054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87464" cy="705429"/>
            </a:xfrm>
            <a:custGeom>
              <a:avLst/>
              <a:gdLst/>
              <a:ahLst/>
              <a:cxnLst/>
              <a:rect r="r" b="b" t="t" l="l"/>
              <a:pathLst>
                <a:path h="705429" w="7187464">
                  <a:moveTo>
                    <a:pt x="0" y="0"/>
                  </a:moveTo>
                  <a:lnTo>
                    <a:pt x="7187464" y="0"/>
                  </a:lnTo>
                  <a:lnTo>
                    <a:pt x="7187464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528" r="0" b="-1485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187463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PROFIT NEARLY DOUBLES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4762" y="8828046"/>
            <a:ext cx="5390598" cy="1133856"/>
            <a:chOff x="0" y="0"/>
            <a:chExt cx="7187463" cy="15118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87438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87438">
                  <a:moveTo>
                    <a:pt x="0" y="0"/>
                  </a:moveTo>
                  <a:lnTo>
                    <a:pt x="7187438" y="0"/>
                  </a:lnTo>
                  <a:lnTo>
                    <a:pt x="718743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571" r="0" b="-4257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4762" y="8820902"/>
            <a:ext cx="5390598" cy="1141000"/>
            <a:chOff x="0" y="0"/>
            <a:chExt cx="7187463" cy="1521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87464" cy="1521333"/>
            </a:xfrm>
            <a:custGeom>
              <a:avLst/>
              <a:gdLst/>
              <a:ahLst/>
              <a:cxnLst/>
              <a:rect r="r" b="b" t="t" l="l"/>
              <a:pathLst>
                <a:path h="1521333" w="7187464">
                  <a:moveTo>
                    <a:pt x="0" y="0"/>
                  </a:moveTo>
                  <a:lnTo>
                    <a:pt x="7187464" y="0"/>
                  </a:lnTo>
                  <a:lnTo>
                    <a:pt x="7187464" y="1521333"/>
                  </a:lnTo>
                  <a:lnTo>
                    <a:pt x="0" y="15213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056" r="0" b="-420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187463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€232 in low band rises to €474 in high band. Medium AI barely moves the needle, the jump happens above 50%.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42066" y="8123577"/>
            <a:ext cx="5351716" cy="1994154"/>
          </a:xfrm>
          <a:custGeom>
            <a:avLst/>
            <a:gdLst/>
            <a:ahLst/>
            <a:cxnLst/>
            <a:rect r="r" b="b" t="t" l="l"/>
            <a:pathLst>
              <a:path h="1994154" w="5351716">
                <a:moveTo>
                  <a:pt x="0" y="0"/>
                </a:moveTo>
                <a:lnTo>
                  <a:pt x="5351716" y="0"/>
                </a:lnTo>
                <a:lnTo>
                  <a:pt x="5351716" y="1994154"/>
                </a:lnTo>
                <a:lnTo>
                  <a:pt x="0" y="19941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251591" y="8133102"/>
            <a:ext cx="99536" cy="1975104"/>
            <a:chOff x="0" y="0"/>
            <a:chExt cx="132715" cy="2633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715" cy="2633472"/>
            </a:xfrm>
            <a:custGeom>
              <a:avLst/>
              <a:gdLst/>
              <a:ahLst/>
              <a:cxnLst/>
              <a:rect r="r" b="b" t="t" l="l"/>
              <a:pathLst>
                <a:path h="2633472" w="132715">
                  <a:moveTo>
                    <a:pt x="0" y="0"/>
                  </a:moveTo>
                  <a:lnTo>
                    <a:pt x="132715" y="0"/>
                  </a:lnTo>
                  <a:lnTo>
                    <a:pt x="132715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580775" y="8315982"/>
            <a:ext cx="4934531" cy="521932"/>
            <a:chOff x="0" y="0"/>
            <a:chExt cx="6579375" cy="6959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79362" cy="695960"/>
            </a:xfrm>
            <a:custGeom>
              <a:avLst/>
              <a:gdLst/>
              <a:ahLst/>
              <a:cxnLst/>
              <a:rect r="r" b="b" t="t" l="l"/>
              <a:pathLst>
                <a:path h="695960" w="6579362">
                  <a:moveTo>
                    <a:pt x="0" y="0"/>
                  </a:moveTo>
                  <a:lnTo>
                    <a:pt x="6579362" y="0"/>
                  </a:lnTo>
                  <a:lnTo>
                    <a:pt x="6579362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080" r="0" b="-13407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80775" y="8308838"/>
            <a:ext cx="4934531" cy="529076"/>
            <a:chOff x="0" y="0"/>
            <a:chExt cx="6579375" cy="7054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9374" cy="705429"/>
            </a:xfrm>
            <a:custGeom>
              <a:avLst/>
              <a:gdLst/>
              <a:ahLst/>
              <a:cxnLst/>
              <a:rect r="r" b="b" t="t" l="l"/>
              <a:pathLst>
                <a:path h="705429" w="6579374">
                  <a:moveTo>
                    <a:pt x="0" y="0"/>
                  </a:moveTo>
                  <a:lnTo>
                    <a:pt x="6579374" y="0"/>
                  </a:lnTo>
                  <a:lnTo>
                    <a:pt x="6579374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1732" r="0" b="-13173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579375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50% PHASE CHANGE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80775" y="8828046"/>
            <a:ext cx="4934531" cy="1133856"/>
            <a:chOff x="0" y="0"/>
            <a:chExt cx="6579375" cy="15118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79362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79362">
                  <a:moveTo>
                    <a:pt x="0" y="0"/>
                  </a:moveTo>
                  <a:lnTo>
                    <a:pt x="6579362" y="0"/>
                  </a:lnTo>
                  <a:lnTo>
                    <a:pt x="657936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739" r="0" b="-3473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80775" y="8820902"/>
            <a:ext cx="4934531" cy="1141000"/>
            <a:chOff x="0" y="0"/>
            <a:chExt cx="6579375" cy="15213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79374" cy="1521333"/>
            </a:xfrm>
            <a:custGeom>
              <a:avLst/>
              <a:gdLst/>
              <a:ahLst/>
              <a:cxnLst/>
              <a:rect r="r" b="b" t="t" l="l"/>
              <a:pathLst>
                <a:path h="1521333" w="6579374">
                  <a:moveTo>
                    <a:pt x="0" y="0"/>
                  </a:moveTo>
                  <a:lnTo>
                    <a:pt x="6579374" y="0"/>
                  </a:lnTo>
                  <a:lnTo>
                    <a:pt x="6579374" y="1521333"/>
                  </a:lnTo>
                  <a:lnTo>
                    <a:pt x="0" y="15213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267" r="0" b="-342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579375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Below 50%, gains are modest and barely separable from noise. Above 50%, profit improvement accelerates sharply.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825145" y="8123577"/>
            <a:ext cx="5740813" cy="1994154"/>
          </a:xfrm>
          <a:custGeom>
            <a:avLst/>
            <a:gdLst/>
            <a:ahLst/>
            <a:cxnLst/>
            <a:rect r="r" b="b" t="t" l="l"/>
            <a:pathLst>
              <a:path h="1994154" w="5740813">
                <a:moveTo>
                  <a:pt x="0" y="0"/>
                </a:moveTo>
                <a:lnTo>
                  <a:pt x="5740812" y="0"/>
                </a:lnTo>
                <a:lnTo>
                  <a:pt x="5740812" y="1994154"/>
                </a:lnTo>
                <a:lnTo>
                  <a:pt x="0" y="19941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1834670" y="8133102"/>
            <a:ext cx="106775" cy="1975104"/>
            <a:chOff x="0" y="0"/>
            <a:chExt cx="142367" cy="26334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367" cy="2633472"/>
            </a:xfrm>
            <a:custGeom>
              <a:avLst/>
              <a:gdLst/>
              <a:ahLst/>
              <a:cxnLst/>
              <a:rect r="r" b="b" t="t" l="l"/>
              <a:pathLst>
                <a:path h="2633472" w="142367">
                  <a:moveTo>
                    <a:pt x="0" y="0"/>
                  </a:moveTo>
                  <a:lnTo>
                    <a:pt x="142367" y="0"/>
                  </a:lnTo>
                  <a:lnTo>
                    <a:pt x="142367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63854" y="8315982"/>
            <a:ext cx="5294586" cy="521932"/>
            <a:chOff x="0" y="0"/>
            <a:chExt cx="7059447" cy="69590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59422" cy="695960"/>
            </a:xfrm>
            <a:custGeom>
              <a:avLst/>
              <a:gdLst/>
              <a:ahLst/>
              <a:cxnLst/>
              <a:rect r="r" b="b" t="t" l="l"/>
              <a:pathLst>
                <a:path h="695960" w="7059422">
                  <a:moveTo>
                    <a:pt x="0" y="0"/>
                  </a:moveTo>
                  <a:lnTo>
                    <a:pt x="7059422" y="0"/>
                  </a:lnTo>
                  <a:lnTo>
                    <a:pt x="7059422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512" r="0" b="-14750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63854" y="8308838"/>
            <a:ext cx="5294586" cy="529076"/>
            <a:chOff x="0" y="0"/>
            <a:chExt cx="7059447" cy="7054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59448" cy="705429"/>
            </a:xfrm>
            <a:custGeom>
              <a:avLst/>
              <a:gdLst/>
              <a:ahLst/>
              <a:cxnLst/>
              <a:rect r="r" b="b" t="t" l="l"/>
              <a:pathLst>
                <a:path h="705429" w="7059448">
                  <a:moveTo>
                    <a:pt x="0" y="0"/>
                  </a:moveTo>
                  <a:lnTo>
                    <a:pt x="7059448" y="0"/>
                  </a:lnTo>
                  <a:lnTo>
                    <a:pt x="7059448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992" r="0" b="-1449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059447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LOSS RATE COLLAPSES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63854" y="8828046"/>
            <a:ext cx="5294586" cy="1133856"/>
            <a:chOff x="0" y="0"/>
            <a:chExt cx="7059447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59422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59422">
                  <a:moveTo>
                    <a:pt x="0" y="0"/>
                  </a:moveTo>
                  <a:lnTo>
                    <a:pt x="7059422" y="0"/>
                  </a:lnTo>
                  <a:lnTo>
                    <a:pt x="705942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23" r="0" b="-4092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163854" y="8820902"/>
            <a:ext cx="5294586" cy="1141000"/>
            <a:chOff x="0" y="0"/>
            <a:chExt cx="7059447" cy="15213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59448" cy="1521333"/>
            </a:xfrm>
            <a:custGeom>
              <a:avLst/>
              <a:gdLst/>
              <a:ahLst/>
              <a:cxnLst/>
              <a:rect r="r" b="b" t="t" l="l"/>
              <a:pathLst>
                <a:path h="1521333" w="7059448">
                  <a:moveTo>
                    <a:pt x="0" y="0"/>
                  </a:moveTo>
                  <a:lnTo>
                    <a:pt x="7059448" y="0"/>
                  </a:lnTo>
                  <a:lnTo>
                    <a:pt x="7059448" y="1521333"/>
                  </a:lnTo>
                  <a:lnTo>
                    <a:pt x="0" y="15213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416" r="0" b="-4041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7059447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SLA breaches fall 44% → 32%. Loss rate drops 31% → 19%. AI de-risks delivery, not just speeds it up.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0" y="2588619"/>
            <a:ext cx="18288000" cy="5109782"/>
            <a:chOff x="0" y="0"/>
            <a:chExt cx="24384000" cy="68130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0" cy="6813042"/>
            </a:xfrm>
            <a:custGeom>
              <a:avLst/>
              <a:gdLst/>
              <a:ahLst/>
              <a:cxnLst/>
              <a:rect r="r" b="b" t="t" l="l"/>
              <a:pathLst>
                <a:path h="681304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13042"/>
                  </a:lnTo>
                  <a:lnTo>
                    <a:pt x="0" y="681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FINDING #2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6440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mechanism is hours, not quality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04875" y="2459355"/>
            <a:ext cx="16478250" cy="1518666"/>
          </a:xfrm>
          <a:custGeom>
            <a:avLst/>
            <a:gdLst/>
            <a:ahLst/>
            <a:cxnLst/>
            <a:rect r="r" b="b" t="t" l="l"/>
            <a:pathLst>
              <a:path h="1518666" w="16478250">
                <a:moveTo>
                  <a:pt x="0" y="0"/>
                </a:moveTo>
                <a:lnTo>
                  <a:pt x="16478250" y="0"/>
                </a:lnTo>
                <a:lnTo>
                  <a:pt x="16478250" y="1518666"/>
                </a:lnTo>
                <a:lnTo>
                  <a:pt x="0" y="1518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0160" y="2468880"/>
            <a:ext cx="15727680" cy="1499616"/>
            <a:chOff x="0" y="0"/>
            <a:chExt cx="20970240" cy="1999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213" r="0" b="-15421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2461736"/>
            <a:ext cx="15727680" cy="1506760"/>
            <a:chOff x="0" y="0"/>
            <a:chExt cx="20970240" cy="20090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70239" cy="2009013"/>
            </a:xfrm>
            <a:custGeom>
              <a:avLst/>
              <a:gdLst/>
              <a:ahLst/>
              <a:cxnLst/>
              <a:rect r="r" b="b" t="t" l="l"/>
              <a:pathLst>
                <a:path h="2009013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009013"/>
                  </a:lnTo>
                  <a:lnTo>
                    <a:pt x="0" y="200901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3386" r="0" b="-1533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970240" cy="201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Once hours_spent enters the OLS model, errors, revisions, rework and outcome_score all become statistically insignificant (p &gt; 0.4).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4206240"/>
            <a:ext cx="8229600" cy="5212080"/>
            <a:chOff x="0" y="0"/>
            <a:chExt cx="10972800" cy="6949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4425696"/>
            <a:ext cx="7680960" cy="512064"/>
            <a:chOff x="0" y="0"/>
            <a:chExt cx="1024128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4418552"/>
            <a:ext cx="7680960" cy="519208"/>
            <a:chOff x="0" y="0"/>
            <a:chExt cx="10241280" cy="6922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692277"/>
            </a:xfrm>
            <a:custGeom>
              <a:avLst/>
              <a:gdLst/>
              <a:ahLst/>
              <a:cxnLst/>
              <a:rect r="r" b="b" t="t" l="l"/>
              <a:pathLst>
                <a:path h="6922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8254" r="0" b="-2382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HOW AI ACTS ON PROFIT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5084064"/>
            <a:ext cx="7680960" cy="608819"/>
            <a:chOff x="0" y="0"/>
            <a:chExt cx="10241280" cy="8117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811784"/>
            </a:xfrm>
            <a:custGeom>
              <a:avLst/>
              <a:gdLst/>
              <a:ahLst/>
              <a:cxnLst/>
              <a:rect r="r" b="b" t="t" l="l"/>
              <a:pathLst>
                <a:path h="8117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1784"/>
                  </a:lnTo>
                  <a:lnTo>
                    <a:pt x="0" y="811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649" r="0" b="-19564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5076920"/>
            <a:ext cx="7680960" cy="615963"/>
            <a:chOff x="0" y="0"/>
            <a:chExt cx="10241280" cy="8212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821284"/>
            </a:xfrm>
            <a:custGeom>
              <a:avLst/>
              <a:gdLst/>
              <a:ahLst/>
              <a:cxnLst/>
              <a:rect r="r" b="b" t="t" l="l"/>
              <a:pathLst>
                <a:path h="8212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1284"/>
                  </a:lnTo>
                  <a:lnTo>
                    <a:pt x="0" y="821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2975" r="0" b="-1929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241280" cy="830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40">
                  <a:solidFill>
                    <a:srgbClr val="5CB6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COMPRESSES HOURS.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5669280"/>
            <a:ext cx="7680960" cy="512064"/>
            <a:chOff x="0" y="0"/>
            <a:chExt cx="1024128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" y="5662136"/>
            <a:ext cx="7680960" cy="519208"/>
            <a:chOff x="0" y="0"/>
            <a:chExt cx="10241280" cy="6922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692277"/>
            </a:xfrm>
            <a:custGeom>
              <a:avLst/>
              <a:gdLst/>
              <a:ahLst/>
              <a:cxnLst/>
              <a:rect r="r" b="b" t="t" l="l"/>
              <a:pathLst>
                <a:path h="6922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8254" r="0" b="-2382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241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contract decides where those hours go: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" y="6309360"/>
            <a:ext cx="7680960" cy="768096"/>
            <a:chOff x="0" y="0"/>
            <a:chExt cx="10241280" cy="1024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6309360"/>
            <a:ext cx="7315200" cy="768096"/>
            <a:chOff x="0" y="0"/>
            <a:chExt cx="975360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442" r="0" b="-13544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6309360"/>
            <a:ext cx="7315200" cy="768096"/>
            <a:chOff x="0" y="0"/>
            <a:chExt cx="975360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571" r="0" b="-13557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7536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↑ Agency margin (fixed / value-based)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" y="7223760"/>
            <a:ext cx="7680960" cy="768096"/>
            <a:chOff x="0" y="0"/>
            <a:chExt cx="1024128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" y="7223760"/>
            <a:ext cx="7315200" cy="768096"/>
            <a:chOff x="0" y="0"/>
            <a:chExt cx="975360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442" r="0" b="-13544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7223760"/>
            <a:ext cx="7315200" cy="768096"/>
            <a:chOff x="0" y="0"/>
            <a:chExt cx="975360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571" r="0" b="-1355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7536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↓ Client discount (hourly)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" y="8193024"/>
            <a:ext cx="7680960" cy="691629"/>
            <a:chOff x="0" y="0"/>
            <a:chExt cx="10241280" cy="9221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922147"/>
            </a:xfrm>
            <a:custGeom>
              <a:avLst/>
              <a:gdLst/>
              <a:ahLst/>
              <a:cxnLst/>
              <a:rect r="r" b="b" t="t" l="l"/>
              <a:pathLst>
                <a:path h="92214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2147"/>
                  </a:lnTo>
                  <a:lnTo>
                    <a:pt x="0" y="9221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6247" r="0" b="-16624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840" y="8185880"/>
            <a:ext cx="7680960" cy="698773"/>
            <a:chOff x="0" y="0"/>
            <a:chExt cx="10241280" cy="9316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931697"/>
            </a:xfrm>
            <a:custGeom>
              <a:avLst/>
              <a:gdLst/>
              <a:ahLst/>
              <a:cxnLst/>
              <a:rect r="r" b="b" t="t" l="l"/>
              <a:pathLst>
                <a:path h="93169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31697"/>
                  </a:lnTo>
                  <a:lnTo>
                    <a:pt x="0" y="93169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180" r="0" b="-16418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241280" cy="941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Net efficiency: −2.0 hrs saved + 0.9 hrs rework = 1.1 hrs net gain per task.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94797" y="4216403"/>
            <a:ext cx="8280368" cy="5207032"/>
            <a:chOff x="0" y="0"/>
            <a:chExt cx="11040491" cy="694270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040491" cy="6942709"/>
            </a:xfrm>
            <a:custGeom>
              <a:avLst/>
              <a:gdLst/>
              <a:ahLst/>
              <a:cxnLst/>
              <a:rect r="r" b="b" t="t" l="l"/>
              <a:pathLst>
                <a:path h="6942709" w="11040491">
                  <a:moveTo>
                    <a:pt x="0" y="0"/>
                  </a:moveTo>
                  <a:lnTo>
                    <a:pt x="11040491" y="0"/>
                  </a:lnTo>
                  <a:lnTo>
                    <a:pt x="11040491" y="6942709"/>
                  </a:lnTo>
                  <a:lnTo>
                    <a:pt x="0" y="6942709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474203" y="4419600"/>
            <a:ext cx="7670797" cy="508006"/>
            <a:chOff x="0" y="0"/>
            <a:chExt cx="10227729" cy="67734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27691" cy="677291"/>
            </a:xfrm>
            <a:custGeom>
              <a:avLst/>
              <a:gdLst/>
              <a:ahLst/>
              <a:cxnLst/>
              <a:rect r="r" b="b" t="t" l="l"/>
              <a:pathLst>
                <a:path h="677291" w="10227691">
                  <a:moveTo>
                    <a:pt x="0" y="0"/>
                  </a:moveTo>
                  <a:lnTo>
                    <a:pt x="10227691" y="0"/>
                  </a:lnTo>
                  <a:lnTo>
                    <a:pt x="10227691" y="677291"/>
                  </a:lnTo>
                  <a:lnTo>
                    <a:pt x="0" y="6772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035" r="0" b="-24404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74203" y="4412456"/>
            <a:ext cx="7670797" cy="515141"/>
            <a:chOff x="0" y="0"/>
            <a:chExt cx="10227729" cy="68685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27729" cy="686858"/>
            </a:xfrm>
            <a:custGeom>
              <a:avLst/>
              <a:gdLst/>
              <a:ahLst/>
              <a:cxnLst/>
              <a:rect r="r" b="b" t="t" l="l"/>
              <a:pathLst>
                <a:path h="686858" w="10227729">
                  <a:moveTo>
                    <a:pt x="0" y="0"/>
                  </a:moveTo>
                  <a:lnTo>
                    <a:pt x="10227729" y="0"/>
                  </a:lnTo>
                  <a:lnTo>
                    <a:pt x="10227729" y="686858"/>
                  </a:lnTo>
                  <a:lnTo>
                    <a:pt x="0" y="686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0144" r="0" b="-2401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227729" cy="69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CONTRACT TYPE DECIDES OUTCOME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74203" y="5029200"/>
            <a:ext cx="7670797" cy="508006"/>
            <a:chOff x="0" y="0"/>
            <a:chExt cx="10227729" cy="67734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27691" cy="677291"/>
            </a:xfrm>
            <a:custGeom>
              <a:avLst/>
              <a:gdLst/>
              <a:ahLst/>
              <a:cxnLst/>
              <a:rect r="r" b="b" t="t" l="l"/>
              <a:pathLst>
                <a:path h="677291" w="10227691">
                  <a:moveTo>
                    <a:pt x="0" y="0"/>
                  </a:moveTo>
                  <a:lnTo>
                    <a:pt x="10227691" y="0"/>
                  </a:lnTo>
                  <a:lnTo>
                    <a:pt x="10227691" y="677291"/>
                  </a:lnTo>
                  <a:lnTo>
                    <a:pt x="0" y="6772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035" r="0" b="-24404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74203" y="5022056"/>
            <a:ext cx="7670797" cy="515141"/>
            <a:chOff x="0" y="0"/>
            <a:chExt cx="10227729" cy="68685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27729" cy="686858"/>
            </a:xfrm>
            <a:custGeom>
              <a:avLst/>
              <a:gdLst/>
              <a:ahLst/>
              <a:cxnLst/>
              <a:rect r="r" b="b" t="t" l="l"/>
              <a:pathLst>
                <a:path h="686858" w="10227729">
                  <a:moveTo>
                    <a:pt x="0" y="0"/>
                  </a:moveTo>
                  <a:lnTo>
                    <a:pt x="10227729" y="0"/>
                  </a:lnTo>
                  <a:lnTo>
                    <a:pt x="10227729" y="686858"/>
                  </a:lnTo>
                  <a:lnTo>
                    <a:pt x="0" y="686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0144" r="0" b="-2401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227729" cy="69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Same 1.1 hrs saved, different P&amp;L impact.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458449" y="5673852"/>
            <a:ext cx="7702296" cy="1606296"/>
          </a:xfrm>
          <a:custGeom>
            <a:avLst/>
            <a:gdLst/>
            <a:ahLst/>
            <a:cxnLst/>
            <a:rect r="r" b="b" t="t" l="l"/>
            <a:pathLst>
              <a:path h="1606296" w="7702296">
                <a:moveTo>
                  <a:pt x="0" y="0"/>
                </a:moveTo>
                <a:lnTo>
                  <a:pt x="7702296" y="0"/>
                </a:lnTo>
                <a:lnTo>
                  <a:pt x="7702296" y="1606296"/>
                </a:lnTo>
                <a:lnTo>
                  <a:pt x="0" y="16062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9768840" y="5836920"/>
            <a:ext cx="70815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↑ Fixed / Value-based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Hours saved = margin captured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Agency profit ↑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9458449" y="7451846"/>
            <a:ext cx="7702296" cy="1606296"/>
          </a:xfrm>
          <a:custGeom>
            <a:avLst/>
            <a:gdLst/>
            <a:ahLst/>
            <a:cxnLst/>
            <a:rect r="r" b="b" t="t" l="l"/>
            <a:pathLst>
              <a:path h="1606296" w="7702296">
                <a:moveTo>
                  <a:pt x="0" y="0"/>
                </a:moveTo>
                <a:lnTo>
                  <a:pt x="7702296" y="0"/>
                </a:lnTo>
                <a:lnTo>
                  <a:pt x="7702296" y="1606296"/>
                </a:lnTo>
                <a:lnTo>
                  <a:pt x="0" y="16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9768840" y="7614923"/>
            <a:ext cx="70815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↓ Hourly billing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Hours saved = revenue lost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Client discount ↓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57227" y="4970974"/>
            <a:ext cx="11965876" cy="5267134"/>
            <a:chOff x="0" y="0"/>
            <a:chExt cx="15954502" cy="70228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54502" cy="7022846"/>
            </a:xfrm>
            <a:custGeom>
              <a:avLst/>
              <a:gdLst/>
              <a:ahLst/>
              <a:cxnLst/>
              <a:rect r="r" b="b" t="t" l="l"/>
              <a:pathLst>
                <a:path h="7022846" w="15954502">
                  <a:moveTo>
                    <a:pt x="0" y="0"/>
                  </a:moveTo>
                  <a:lnTo>
                    <a:pt x="15954502" y="0"/>
                  </a:lnTo>
                  <a:lnTo>
                    <a:pt x="15954502" y="7022846"/>
                  </a:lnTo>
                  <a:lnTo>
                    <a:pt x="0" y="7022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46" t="0" r="-254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6439" y="2426475"/>
            <a:ext cx="5920930" cy="2122170"/>
          </a:xfrm>
          <a:custGeom>
            <a:avLst/>
            <a:gdLst/>
            <a:ahLst/>
            <a:cxnLst/>
            <a:rect r="r" b="b" t="t" l="l"/>
            <a:pathLst>
              <a:path h="2122170" w="5920930">
                <a:moveTo>
                  <a:pt x="0" y="0"/>
                </a:moveTo>
                <a:lnTo>
                  <a:pt x="5920931" y="0"/>
                </a:lnTo>
                <a:lnTo>
                  <a:pt x="5920931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5964" y="2436000"/>
            <a:ext cx="121539" cy="2103120"/>
            <a:chOff x="0" y="0"/>
            <a:chExt cx="162052" cy="2804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052" cy="2804160"/>
            </a:xfrm>
            <a:custGeom>
              <a:avLst/>
              <a:gdLst/>
              <a:ahLst/>
              <a:cxnLst/>
              <a:rect r="r" b="b" t="t" l="l"/>
              <a:pathLst>
                <a:path h="2804160" w="162052">
                  <a:moveTo>
                    <a:pt x="0" y="0"/>
                  </a:moveTo>
                  <a:lnTo>
                    <a:pt x="162052" y="0"/>
                  </a:lnTo>
                  <a:lnTo>
                    <a:pt x="162052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5148" y="2618880"/>
            <a:ext cx="5415877" cy="521932"/>
            <a:chOff x="0" y="0"/>
            <a:chExt cx="7221169" cy="695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21220" cy="695960"/>
            </a:xfrm>
            <a:custGeom>
              <a:avLst/>
              <a:gdLst/>
              <a:ahLst/>
              <a:cxnLst/>
              <a:rect r="r" b="b" t="t" l="l"/>
              <a:pathLst>
                <a:path h="695960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036" r="0" b="-15202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5148" y="2611736"/>
            <a:ext cx="5415877" cy="529076"/>
            <a:chOff x="0" y="0"/>
            <a:chExt cx="7221169" cy="705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1169" cy="705429"/>
            </a:xfrm>
            <a:custGeom>
              <a:avLst/>
              <a:gdLst/>
              <a:ahLst/>
              <a:cxnLst/>
              <a:rect r="r" b="b" t="t" l="l"/>
              <a:pathLst>
                <a:path h="705429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459" r="0" b="-1494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7221169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NET GAIN PIVOT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5148" y="3130944"/>
            <a:ext cx="5415877" cy="1261872"/>
            <a:chOff x="0" y="0"/>
            <a:chExt cx="7221169" cy="1682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12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570" r="0" b="-3357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5148" y="3123800"/>
            <a:ext cx="5415877" cy="1269016"/>
            <a:chOff x="0" y="0"/>
            <a:chExt cx="7221169" cy="16920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21169" cy="1692021"/>
            </a:xfrm>
            <a:custGeom>
              <a:avLst/>
              <a:gdLst/>
              <a:ahLst/>
              <a:cxnLst/>
              <a:rect r="r" b="b" t="t" l="l"/>
              <a:pathLst>
                <a:path h="1692021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57" r="0" b="-331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221169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is a net time loss until crossing the 50–60% usage threshold. Below it, rework cancels out gains; above it, speed wins.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6439" y="4712475"/>
            <a:ext cx="5920930" cy="2122170"/>
          </a:xfrm>
          <a:custGeom>
            <a:avLst/>
            <a:gdLst/>
            <a:ahLst/>
            <a:cxnLst/>
            <a:rect r="r" b="b" t="t" l="l"/>
            <a:pathLst>
              <a:path h="2122170" w="5920930">
                <a:moveTo>
                  <a:pt x="0" y="0"/>
                </a:moveTo>
                <a:lnTo>
                  <a:pt x="5920931" y="0"/>
                </a:lnTo>
                <a:lnTo>
                  <a:pt x="5920931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45964" y="4722000"/>
            <a:ext cx="121539" cy="2103120"/>
            <a:chOff x="0" y="0"/>
            <a:chExt cx="162052" cy="2804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052" cy="2804160"/>
            </a:xfrm>
            <a:custGeom>
              <a:avLst/>
              <a:gdLst/>
              <a:ahLst/>
              <a:cxnLst/>
              <a:rect r="r" b="b" t="t" l="l"/>
              <a:pathLst>
                <a:path h="2804160" w="162052">
                  <a:moveTo>
                    <a:pt x="0" y="0"/>
                  </a:moveTo>
                  <a:lnTo>
                    <a:pt x="162052" y="0"/>
                  </a:lnTo>
                  <a:lnTo>
                    <a:pt x="162052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75148" y="4904880"/>
            <a:ext cx="5415877" cy="521932"/>
            <a:chOff x="0" y="0"/>
            <a:chExt cx="7221169" cy="6959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21220" cy="695960"/>
            </a:xfrm>
            <a:custGeom>
              <a:avLst/>
              <a:gdLst/>
              <a:ahLst/>
              <a:cxnLst/>
              <a:rect r="r" b="b" t="t" l="l"/>
              <a:pathLst>
                <a:path h="695960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036" r="0" b="-15202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5148" y="4897736"/>
            <a:ext cx="5415877" cy="529076"/>
            <a:chOff x="0" y="0"/>
            <a:chExt cx="7221169" cy="7054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1169" cy="705429"/>
            </a:xfrm>
            <a:custGeom>
              <a:avLst/>
              <a:gdLst/>
              <a:ahLst/>
              <a:cxnLst/>
              <a:rect r="r" b="b" t="t" l="l"/>
              <a:pathLst>
                <a:path h="705429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459" r="0" b="-1494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221169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PRODUCTION SWAP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75148" y="5416944"/>
            <a:ext cx="5415877" cy="1261872"/>
            <a:chOff x="0" y="0"/>
            <a:chExt cx="7221169" cy="16824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12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570" r="0" b="-3357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5148" y="5409800"/>
            <a:ext cx="5415877" cy="1269016"/>
            <a:chOff x="0" y="0"/>
            <a:chExt cx="7221169" cy="16920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1169" cy="1692021"/>
            </a:xfrm>
            <a:custGeom>
              <a:avLst/>
              <a:gdLst/>
              <a:ahLst/>
              <a:cxnLst/>
              <a:rect r="r" b="b" t="t" l="l"/>
              <a:pathLst>
                <a:path h="1692021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57" r="0" b="-3315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221169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 AI cuts hours spent but raises rework hours. The labor model shifts from creation to iteration.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36439" y="6998475"/>
            <a:ext cx="5920930" cy="2122170"/>
          </a:xfrm>
          <a:custGeom>
            <a:avLst/>
            <a:gdLst/>
            <a:ahLst/>
            <a:cxnLst/>
            <a:rect r="r" b="b" t="t" l="l"/>
            <a:pathLst>
              <a:path h="2122170" w="5920930">
                <a:moveTo>
                  <a:pt x="0" y="0"/>
                </a:moveTo>
                <a:lnTo>
                  <a:pt x="5920931" y="0"/>
                </a:lnTo>
                <a:lnTo>
                  <a:pt x="5920931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245964" y="7008000"/>
            <a:ext cx="121539" cy="2103120"/>
            <a:chOff x="0" y="0"/>
            <a:chExt cx="162052" cy="2804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2052" cy="2804160"/>
            </a:xfrm>
            <a:custGeom>
              <a:avLst/>
              <a:gdLst/>
              <a:ahLst/>
              <a:cxnLst/>
              <a:rect r="r" b="b" t="t" l="l"/>
              <a:pathLst>
                <a:path h="2804160" w="162052">
                  <a:moveTo>
                    <a:pt x="0" y="0"/>
                  </a:moveTo>
                  <a:lnTo>
                    <a:pt x="162052" y="0"/>
                  </a:lnTo>
                  <a:lnTo>
                    <a:pt x="162052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5148" y="7190880"/>
            <a:ext cx="5415877" cy="521932"/>
            <a:chOff x="0" y="0"/>
            <a:chExt cx="7221169" cy="6959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1220" cy="695960"/>
            </a:xfrm>
            <a:custGeom>
              <a:avLst/>
              <a:gdLst/>
              <a:ahLst/>
              <a:cxnLst/>
              <a:rect r="r" b="b" t="t" l="l"/>
              <a:pathLst>
                <a:path h="695960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036" r="0" b="-15202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75148" y="7183736"/>
            <a:ext cx="5415877" cy="529076"/>
            <a:chOff x="0" y="0"/>
            <a:chExt cx="7221169" cy="7054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21169" cy="705429"/>
            </a:xfrm>
            <a:custGeom>
              <a:avLst/>
              <a:gdLst/>
              <a:ahLst/>
              <a:cxnLst/>
              <a:rect r="r" b="b" t="t" l="l"/>
              <a:pathLst>
                <a:path h="705429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459" r="0" b="-1494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221169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QUALITY STABILITY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5148" y="7702944"/>
            <a:ext cx="5415877" cy="1261872"/>
            <a:chOff x="0" y="0"/>
            <a:chExt cx="7221169" cy="16824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212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7221220">
                  <a:moveTo>
                    <a:pt x="0" y="0"/>
                  </a:moveTo>
                  <a:lnTo>
                    <a:pt x="7221220" y="0"/>
                  </a:lnTo>
                  <a:lnTo>
                    <a:pt x="72212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570" r="0" b="-3357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75148" y="7695800"/>
            <a:ext cx="5415877" cy="1269016"/>
            <a:chOff x="0" y="0"/>
            <a:chExt cx="7221169" cy="16920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21169" cy="1692021"/>
            </a:xfrm>
            <a:custGeom>
              <a:avLst/>
              <a:gdLst/>
              <a:ahLst/>
              <a:cxnLst/>
              <a:rect r="r" b="b" t="t" l="l"/>
              <a:pathLst>
                <a:path h="1692021" w="7221169">
                  <a:moveTo>
                    <a:pt x="0" y="0"/>
                  </a:moveTo>
                  <a:lnTo>
                    <a:pt x="7221169" y="0"/>
                  </a:lnTo>
                  <a:lnTo>
                    <a:pt x="7221169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57" r="0" b="-331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7221169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Average outcome score stays stable, but the worst decile worsens at high AI usage.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37404" y="849544"/>
            <a:ext cx="571903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Efficiency Dividend</a:t>
            </a:r>
          </a:p>
          <a:p>
            <a:pPr algn="l">
              <a:lnSpc>
                <a:spcPts val="3120"/>
              </a:lnSpc>
            </a:pPr>
            <a:r>
              <a:rPr lang="en-US" b="true" sz="2600" spc="208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TRADING REWORK FOR SPEED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73663" y="193567"/>
            <a:ext cx="7732966" cy="4639723"/>
            <a:chOff x="0" y="0"/>
            <a:chExt cx="10310622" cy="61862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10622" cy="6186297"/>
            </a:xfrm>
            <a:custGeom>
              <a:avLst/>
              <a:gdLst/>
              <a:ahLst/>
              <a:cxnLst/>
              <a:rect r="r" b="b" t="t" l="l"/>
              <a:pathLst>
                <a:path h="6186297" w="10310622">
                  <a:moveTo>
                    <a:pt x="0" y="0"/>
                  </a:moveTo>
                  <a:lnTo>
                    <a:pt x="10310622" y="0"/>
                  </a:lnTo>
                  <a:lnTo>
                    <a:pt x="10310622" y="6186297"/>
                  </a:lnTo>
                  <a:lnTo>
                    <a:pt x="0" y="6186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FINDING #3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4603"/>
            <a:ext cx="16459200" cy="1270006"/>
            <a:chOff x="0" y="0"/>
            <a:chExt cx="21945600" cy="16933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693291"/>
            </a:xfrm>
            <a:custGeom>
              <a:avLst/>
              <a:gdLst/>
              <a:ahLst/>
              <a:cxnLst/>
              <a:rect r="r" b="b" t="t" l="l"/>
              <a:pathLst>
                <a:path h="169329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93291"/>
                  </a:lnTo>
                  <a:lnTo>
                    <a:pt x="0" y="16932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355" r="0" b="-2023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7459"/>
            <a:ext cx="16459200" cy="1277141"/>
            <a:chOff x="0" y="0"/>
            <a:chExt cx="21945600" cy="17028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702858"/>
            </a:xfrm>
            <a:custGeom>
              <a:avLst/>
              <a:gdLst/>
              <a:ahLst/>
              <a:cxnLst/>
              <a:rect r="r" b="b" t="t" l="l"/>
              <a:pathLst>
                <a:path h="170285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2858"/>
                  </a:lnTo>
                  <a:lnTo>
                    <a:pt x="0" y="1702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113" r="0" b="-2011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712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pricing model is the bottleneck, not the technology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2793997"/>
            <a:ext cx="5212080" cy="5212080"/>
            <a:chOff x="0" y="0"/>
            <a:chExt cx="6949440" cy="694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94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CAE8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2946397"/>
            <a:ext cx="5212080" cy="2590009"/>
            <a:chOff x="0" y="0"/>
            <a:chExt cx="6949440" cy="3453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49440" cy="3453384"/>
            </a:xfrm>
            <a:custGeom>
              <a:avLst/>
              <a:gdLst/>
              <a:ahLst/>
              <a:cxnLst/>
              <a:rect r="r" b="b" t="t" l="l"/>
              <a:pathLst>
                <a:path h="34533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453384"/>
                  </a:lnTo>
                  <a:lnTo>
                    <a:pt x="0" y="34533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801" t="0" r="-1380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946397"/>
            <a:ext cx="5212080" cy="2590009"/>
            <a:chOff x="0" y="0"/>
            <a:chExt cx="6949440" cy="34533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3453341"/>
            </a:xfrm>
            <a:custGeom>
              <a:avLst/>
              <a:gdLst/>
              <a:ahLst/>
              <a:cxnLst/>
              <a:rect r="r" b="b" t="t" l="l"/>
              <a:pathLst>
                <a:path h="3453341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453341"/>
                  </a:lnTo>
                  <a:lnTo>
                    <a:pt x="0" y="34533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757" t="0" r="-1375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949440" cy="345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0"/>
                </a:lnSpc>
              </a:pPr>
              <a:r>
                <a:rPr lang="en-US" sz="128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€870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31520" y="5460997"/>
            <a:ext cx="52120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Per-task gap between</a:t>
            </a:r>
          </a:p>
          <a:p>
            <a:pPr algn="ctr">
              <a:lnSpc>
                <a:spcPts val="2879"/>
              </a:lnSpc>
            </a:pPr>
            <a:r>
              <a:rPr lang="en-US" b="true" sz="2400" spc="192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HOURLY (€202) AND VALUE-BASED (€1,073)</a:t>
            </a:r>
          </a:p>
          <a:p>
            <a:pPr algn="ctr">
              <a:lnSpc>
                <a:spcPts val="2639"/>
              </a:lnSpc>
            </a:pPr>
            <a:r>
              <a:rPr lang="en-US" b="true" sz="2199" spc="17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 high AI usage.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21995" y="8626478"/>
            <a:ext cx="4042410" cy="1289018"/>
          </a:xfrm>
          <a:custGeom>
            <a:avLst/>
            <a:gdLst/>
            <a:ahLst/>
            <a:cxnLst/>
            <a:rect r="r" b="b" t="t" l="l"/>
            <a:pathLst>
              <a:path h="1289018" w="4042410">
                <a:moveTo>
                  <a:pt x="0" y="0"/>
                </a:moveTo>
                <a:lnTo>
                  <a:pt x="4042410" y="0"/>
                </a:lnTo>
                <a:lnTo>
                  <a:pt x="4042410" y="1289018"/>
                </a:lnTo>
                <a:lnTo>
                  <a:pt x="0" y="1289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14400" y="8718547"/>
            <a:ext cx="36576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OLS: Hourly vs Fixed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9251947"/>
            <a:ext cx="3657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-€254 / TASK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019675" y="8626478"/>
            <a:ext cx="4042410" cy="1289018"/>
          </a:xfrm>
          <a:custGeom>
            <a:avLst/>
            <a:gdLst/>
            <a:ahLst/>
            <a:cxnLst/>
            <a:rect r="r" b="b" t="t" l="l"/>
            <a:pathLst>
              <a:path h="1289018" w="4042410">
                <a:moveTo>
                  <a:pt x="0" y="0"/>
                </a:moveTo>
                <a:lnTo>
                  <a:pt x="4042410" y="0"/>
                </a:lnTo>
                <a:lnTo>
                  <a:pt x="4042410" y="1289018"/>
                </a:lnTo>
                <a:lnTo>
                  <a:pt x="0" y="1289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212080" y="8718547"/>
            <a:ext cx="36576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OLS: Value vs Fixed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12080" y="9251947"/>
            <a:ext cx="3657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+€286 / TASK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17355" y="8626478"/>
            <a:ext cx="4042410" cy="1289018"/>
          </a:xfrm>
          <a:custGeom>
            <a:avLst/>
            <a:gdLst/>
            <a:ahLst/>
            <a:cxnLst/>
            <a:rect r="r" b="b" t="t" l="l"/>
            <a:pathLst>
              <a:path h="1289018" w="4042410">
                <a:moveTo>
                  <a:pt x="0" y="0"/>
                </a:moveTo>
                <a:lnTo>
                  <a:pt x="4042410" y="0"/>
                </a:lnTo>
                <a:lnTo>
                  <a:pt x="4042410" y="1289018"/>
                </a:lnTo>
                <a:lnTo>
                  <a:pt x="0" y="1289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509760" y="8718547"/>
            <a:ext cx="36576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× Hourly interaction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09760" y="9251947"/>
            <a:ext cx="3657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-€701 (P&lt;0.001)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615035" y="8626478"/>
            <a:ext cx="4042410" cy="1289018"/>
          </a:xfrm>
          <a:custGeom>
            <a:avLst/>
            <a:gdLst/>
            <a:ahLst/>
            <a:cxnLst/>
            <a:rect r="r" b="b" t="t" l="l"/>
            <a:pathLst>
              <a:path h="1289018" w="4042410">
                <a:moveTo>
                  <a:pt x="0" y="0"/>
                </a:moveTo>
                <a:lnTo>
                  <a:pt x="4042410" y="0"/>
                </a:lnTo>
                <a:lnTo>
                  <a:pt x="4042410" y="1289018"/>
                </a:lnTo>
                <a:lnTo>
                  <a:pt x="0" y="1289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807440" y="8718547"/>
            <a:ext cx="36576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Hourly loss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07440" y="9251947"/>
            <a:ext cx="36576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34% VS 16%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320695" y="3174997"/>
            <a:ext cx="11425809" cy="4445032"/>
            <a:chOff x="0" y="0"/>
            <a:chExt cx="15234412" cy="59267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34413" cy="5926709"/>
            </a:xfrm>
            <a:custGeom>
              <a:avLst/>
              <a:gdLst/>
              <a:ahLst/>
              <a:cxnLst/>
              <a:rect r="r" b="b" t="t" l="l"/>
              <a:pathLst>
                <a:path h="5926709" w="15234413">
                  <a:moveTo>
                    <a:pt x="0" y="0"/>
                  </a:moveTo>
                  <a:lnTo>
                    <a:pt x="15234413" y="0"/>
                  </a:lnTo>
                  <a:lnTo>
                    <a:pt x="15234413" y="5926709"/>
                  </a:lnTo>
                  <a:lnTo>
                    <a:pt x="0" y="5926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584" r="0" b="-358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FINDING #4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6440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Not all work responds equally to AI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560202" y="2574350"/>
          <a:ext cx="13167596" cy="5867400"/>
        </p:xfrm>
        <a:graphic>
          <a:graphicData uri="http://schemas.openxmlformats.org/drawingml/2006/table">
            <a:tbl>
              <a:tblPr/>
              <a:tblGrid>
                <a:gridCol w="3207810"/>
                <a:gridCol w="3415851"/>
                <a:gridCol w="3415851"/>
                <a:gridCol w="3128083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 spc="17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TASK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 spc="17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PROFIT, LOW 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 spc="17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PROFIT, HIGH 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 spc="17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MULTIPLIER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Release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€138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€816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5.9×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€271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€579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2.0×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Report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€353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€572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1.6×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Design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€316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€462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1.5×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Article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€342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€290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0.8×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€169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€359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2.1×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731520" y="9326880"/>
            <a:ext cx="16824960" cy="512064"/>
            <a:chOff x="0" y="0"/>
            <a:chExt cx="22433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9776" r="0" b="-58977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9319736"/>
            <a:ext cx="16824960" cy="519208"/>
            <a:chOff x="0" y="0"/>
            <a:chExt cx="22433280" cy="692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692277"/>
            </a:xfrm>
            <a:custGeom>
              <a:avLst/>
              <a:gdLst/>
              <a:ahLst/>
              <a:cxnLst/>
              <a:rect r="r" b="b" t="t" l="l"/>
              <a:pathLst>
                <a:path h="692277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1413" r="0" b="-5814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2433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Push AI hard on Release, Dev, Report. For Article and Ad, performance peaks in the medium band, cap at 25–50%.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FINDING #5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6440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Seniority is your biggest risk variable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21995" y="2367915"/>
            <a:ext cx="8157210" cy="7242810"/>
          </a:xfrm>
          <a:custGeom>
            <a:avLst/>
            <a:gdLst/>
            <a:ahLst/>
            <a:cxnLst/>
            <a:rect r="r" b="b" t="t" l="l"/>
            <a:pathLst>
              <a:path h="7242810" w="8157210">
                <a:moveTo>
                  <a:pt x="0" y="0"/>
                </a:moveTo>
                <a:lnTo>
                  <a:pt x="8157210" y="0"/>
                </a:lnTo>
                <a:lnTo>
                  <a:pt x="8157210" y="7242810"/>
                </a:lnTo>
                <a:lnTo>
                  <a:pt x="0" y="7242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05840" y="2651760"/>
            <a:ext cx="7589520" cy="512064"/>
            <a:chOff x="0" y="0"/>
            <a:chExt cx="101193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193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595" r="0" b="-23859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44616"/>
            <a:ext cx="7589520" cy="519208"/>
            <a:chOff x="0" y="0"/>
            <a:chExt cx="10119360" cy="692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19360" cy="692277"/>
            </a:xfrm>
            <a:custGeom>
              <a:avLst/>
              <a:gdLst/>
              <a:ahLst/>
              <a:cxnLst/>
              <a:rect r="r" b="b" t="t" l="l"/>
              <a:pathLst>
                <a:path h="692277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22" r="0" b="-2348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1193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60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SENIORS AT LOW AI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" y="3291840"/>
            <a:ext cx="7589520" cy="2590009"/>
            <a:chOff x="0" y="0"/>
            <a:chExt cx="10119360" cy="34533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19360" cy="3453384"/>
            </a:xfrm>
            <a:custGeom>
              <a:avLst/>
              <a:gdLst/>
              <a:ahLst/>
              <a:cxnLst/>
              <a:rect r="r" b="b" t="t" l="l"/>
              <a:pathLst>
                <a:path h="345338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453384"/>
                  </a:lnTo>
                  <a:lnTo>
                    <a:pt x="0" y="34533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57" r="0" b="-705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3291840"/>
            <a:ext cx="7589520" cy="2590009"/>
            <a:chOff x="0" y="0"/>
            <a:chExt cx="10119360" cy="3453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19360" cy="3453341"/>
            </a:xfrm>
            <a:custGeom>
              <a:avLst/>
              <a:gdLst/>
              <a:ahLst/>
              <a:cxnLst/>
              <a:rect r="r" b="b" t="t" l="l"/>
              <a:pathLst>
                <a:path h="3453341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453341"/>
                  </a:lnTo>
                  <a:lnTo>
                    <a:pt x="0" y="34533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97" r="0" b="-70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119360" cy="345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0"/>
                </a:lnSpc>
              </a:pPr>
              <a:r>
                <a:rPr lang="en-US" sz="128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50%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" y="5449824"/>
            <a:ext cx="7589520" cy="640080"/>
            <a:chOff x="0" y="0"/>
            <a:chExt cx="1011936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0876" r="0" b="-18087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5840" y="5442680"/>
            <a:ext cx="7589520" cy="647224"/>
            <a:chOff x="0" y="0"/>
            <a:chExt cx="10119360" cy="8629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19360" cy="862965"/>
            </a:xfrm>
            <a:custGeom>
              <a:avLst/>
              <a:gdLst/>
              <a:ahLst/>
              <a:cxnLst/>
              <a:rect r="r" b="b" t="t" l="l"/>
              <a:pathLst>
                <a:path h="86296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62965"/>
                  </a:lnTo>
                  <a:lnTo>
                    <a:pt x="0" y="8629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8486" r="0" b="-1784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1193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LOSS RATEWORST IN THE WORKFORCE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6254496"/>
            <a:ext cx="7589520" cy="1280160"/>
            <a:chOff x="0" y="0"/>
            <a:chExt cx="1011936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19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438" r="0" b="-6543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5840" y="6247352"/>
            <a:ext cx="7589520" cy="1287304"/>
            <a:chOff x="0" y="0"/>
            <a:chExt cx="10119360" cy="17164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19360" cy="1716405"/>
            </a:xfrm>
            <a:custGeom>
              <a:avLst/>
              <a:gdLst/>
              <a:ahLst/>
              <a:cxnLst/>
              <a:rect r="r" b="b" t="t" l="l"/>
              <a:pathLst>
                <a:path h="171640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77" r="0" b="-6487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011936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 billing rates can't justify manual execution. Each seniority level costs −€173/task at baseline; every unassisted senior hour compresses margin.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" y="7717536"/>
            <a:ext cx="7589520" cy="1005840"/>
            <a:chOff x="0" y="0"/>
            <a:chExt cx="1011936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19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7717536"/>
            <a:ext cx="7223760" cy="1005840"/>
            <a:chOff x="0" y="0"/>
            <a:chExt cx="963168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31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840" r="0" b="-8984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7710392"/>
            <a:ext cx="7223760" cy="1012984"/>
            <a:chOff x="0" y="0"/>
            <a:chExt cx="9631680" cy="13506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31680" cy="1350645"/>
            </a:xfrm>
            <a:custGeom>
              <a:avLst/>
              <a:gdLst/>
              <a:ahLst/>
              <a:cxnLst/>
              <a:rect r="r" b="b" t="t" l="l"/>
              <a:pathLst>
                <a:path h="1350645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951" r="0" b="-889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63168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ISN'T OPTIONAL FOR SENIORS: IT'S THE ONLY VIABLE CONFIG.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408795" y="2367915"/>
            <a:ext cx="8157210" cy="7242810"/>
          </a:xfrm>
          <a:custGeom>
            <a:avLst/>
            <a:gdLst/>
            <a:ahLst/>
            <a:cxnLst/>
            <a:rect r="r" b="b" t="t" l="l"/>
            <a:pathLst>
              <a:path h="7242810" w="8157210">
                <a:moveTo>
                  <a:pt x="0" y="0"/>
                </a:moveTo>
                <a:lnTo>
                  <a:pt x="8157210" y="0"/>
                </a:lnTo>
                <a:lnTo>
                  <a:pt x="8157210" y="7242810"/>
                </a:lnTo>
                <a:lnTo>
                  <a:pt x="0" y="7242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692640" y="2651760"/>
            <a:ext cx="7589520" cy="512064"/>
            <a:chOff x="0" y="0"/>
            <a:chExt cx="1011936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193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595" r="0" b="-23859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92640" y="2644616"/>
            <a:ext cx="7589520" cy="519208"/>
            <a:chOff x="0" y="0"/>
            <a:chExt cx="10119360" cy="69227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19360" cy="692277"/>
            </a:xfrm>
            <a:custGeom>
              <a:avLst/>
              <a:gdLst/>
              <a:ahLst/>
              <a:cxnLst/>
              <a:rect r="r" b="b" t="t" l="l"/>
              <a:pathLst>
                <a:path h="692277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22" r="0" b="-2348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1193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60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SENIORS AT HIGH AI + RIGHT CONTRACT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3291840"/>
            <a:ext cx="7589520" cy="2184130"/>
            <a:chOff x="0" y="0"/>
            <a:chExt cx="10119360" cy="29121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19360" cy="2912110"/>
            </a:xfrm>
            <a:custGeom>
              <a:avLst/>
              <a:gdLst/>
              <a:ahLst/>
              <a:cxnLst/>
              <a:rect r="r" b="b" t="t" l="l"/>
              <a:pathLst>
                <a:path h="291211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912110"/>
                  </a:lnTo>
                  <a:lnTo>
                    <a:pt x="0" y="29121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60" r="0" b="-1766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692640" y="3291840"/>
            <a:ext cx="7589520" cy="2184130"/>
            <a:chOff x="0" y="0"/>
            <a:chExt cx="10119360" cy="291217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19360" cy="2912169"/>
            </a:xfrm>
            <a:custGeom>
              <a:avLst/>
              <a:gdLst/>
              <a:ahLst/>
              <a:cxnLst/>
              <a:rect r="r" b="b" t="t" l="l"/>
              <a:pathLst>
                <a:path h="2912169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912169"/>
                  </a:lnTo>
                  <a:lnTo>
                    <a:pt x="0" y="29121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707" r="0" b="-1770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119360" cy="291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€3,935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92640" y="5449824"/>
            <a:ext cx="7589520" cy="640080"/>
            <a:chOff x="0" y="0"/>
            <a:chExt cx="1011936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0876" r="0" b="-180876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2640" y="5442680"/>
            <a:ext cx="7589520" cy="647224"/>
            <a:chOff x="0" y="0"/>
            <a:chExt cx="10119360" cy="8629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19360" cy="862965"/>
            </a:xfrm>
            <a:custGeom>
              <a:avLst/>
              <a:gdLst/>
              <a:ahLst/>
              <a:cxnLst/>
              <a:rect r="r" b="b" t="t" l="l"/>
              <a:pathLst>
                <a:path h="86296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62965"/>
                  </a:lnTo>
                  <a:lnTo>
                    <a:pt x="0" y="8629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8486" r="0" b="-1784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1193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MEAN PROFIT PER TASK (~8× DATASET MEDIAN)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92640" y="6254496"/>
            <a:ext cx="7589520" cy="1280160"/>
            <a:chOff x="0" y="0"/>
            <a:chExt cx="10119360" cy="1706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19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438" r="0" b="-65438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92640" y="6247352"/>
            <a:ext cx="7589520" cy="1287304"/>
            <a:chOff x="0" y="0"/>
            <a:chExt cx="10119360" cy="17164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19360" cy="1716405"/>
            </a:xfrm>
            <a:custGeom>
              <a:avLst/>
              <a:gdLst/>
              <a:ahLst/>
              <a:cxnLst/>
              <a:rect r="r" b="b" t="t" l="l"/>
              <a:pathLst>
                <a:path h="171640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77" r="0" b="-648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11936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× seniority interaction: +€359/level (p=0.002). At senior: +€718 interaction gain vs −€346 cost drag — net reversal.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92640" y="7717536"/>
            <a:ext cx="7589520" cy="1005840"/>
            <a:chOff x="0" y="0"/>
            <a:chExt cx="1011936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19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33DFF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9743437" y="7751664"/>
            <a:ext cx="7487917" cy="92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Condition: fixed or value based contract, with the €3,935 ceiling observed specifically in the 80 to 100% AI band.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0058400" y="8608838"/>
            <a:ext cx="7223760" cy="1005840"/>
            <a:chOff x="0" y="0"/>
            <a:chExt cx="9631680" cy="1341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31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840" r="0" b="-8984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75520" y="8601694"/>
            <a:ext cx="7223760" cy="1012984"/>
            <a:chOff x="0" y="0"/>
            <a:chExt cx="9631680" cy="13506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631680" cy="1350645"/>
            </a:xfrm>
            <a:custGeom>
              <a:avLst/>
              <a:gdLst/>
              <a:ahLst/>
              <a:cxnLst/>
              <a:rect r="r" b="b" t="t" l="l"/>
              <a:pathLst>
                <a:path h="1350645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951" r="0" b="-8895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963168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SENIORS BECOME THE HIGHEST-VALUE ASSET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370761"/>
            <a:ext cx="3093053" cy="684371"/>
          </a:xfrm>
          <a:custGeom>
            <a:avLst/>
            <a:gdLst/>
            <a:ahLst/>
            <a:cxnLst/>
            <a:rect r="r" b="b" t="t" l="l"/>
            <a:pathLst>
              <a:path h="684371" w="3093053">
                <a:moveTo>
                  <a:pt x="0" y="0"/>
                </a:moveTo>
                <a:lnTo>
                  <a:pt x="3093053" y="0"/>
                </a:lnTo>
                <a:lnTo>
                  <a:pt x="3093053" y="684371"/>
                </a:lnTo>
                <a:lnTo>
                  <a:pt x="0" y="684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70761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63617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REWORK PARADOX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42416"/>
            <a:ext cx="16459200" cy="1555871"/>
            <a:chOff x="0" y="0"/>
            <a:chExt cx="21945600" cy="20744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4545"/>
            </a:xfrm>
            <a:custGeom>
              <a:avLst/>
              <a:gdLst/>
              <a:ahLst/>
              <a:cxnLst/>
              <a:rect r="r" b="b" t="t" l="l"/>
              <a:pathLst>
                <a:path h="207454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4545"/>
                  </a:lnTo>
                  <a:lnTo>
                    <a:pt x="0" y="20745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980" r="0" b="-1559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042416"/>
            <a:ext cx="16459200" cy="1555871"/>
            <a:chOff x="0" y="0"/>
            <a:chExt cx="21945600" cy="20744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074500"/>
            </a:xfrm>
            <a:custGeom>
              <a:avLst/>
              <a:gdLst/>
              <a:ahLst/>
              <a:cxnLst/>
              <a:rect r="r" b="b" t="t" l="l"/>
              <a:pathLst>
                <a:path h="20745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4500"/>
                  </a:lnTo>
                  <a:lnTo>
                    <a:pt x="0" y="2074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6127" r="0" b="-15612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0" cy="2074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business gets financially safer by getting operationally messier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728047" y="2284790"/>
            <a:ext cx="6236970" cy="2122170"/>
          </a:xfrm>
          <a:custGeom>
            <a:avLst/>
            <a:gdLst/>
            <a:ahLst/>
            <a:cxnLst/>
            <a:rect r="r" b="b" t="t" l="l"/>
            <a:pathLst>
              <a:path h="2122170" w="6236970">
                <a:moveTo>
                  <a:pt x="0" y="0"/>
                </a:moveTo>
                <a:lnTo>
                  <a:pt x="6236970" y="0"/>
                </a:lnTo>
                <a:lnTo>
                  <a:pt x="6236970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37572" y="2294315"/>
            <a:ext cx="128016" cy="2103120"/>
            <a:chOff x="0" y="0"/>
            <a:chExt cx="170688" cy="2804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066756" y="2477195"/>
            <a:ext cx="5705856" cy="521932"/>
            <a:chOff x="0" y="0"/>
            <a:chExt cx="7607808" cy="6959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07808" cy="695960"/>
            </a:xfrm>
            <a:custGeom>
              <a:avLst/>
              <a:gdLst/>
              <a:ahLst/>
              <a:cxnLst/>
              <a:rect r="r" b="b" t="t" l="l"/>
              <a:pathLst>
                <a:path h="695960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854" r="0" b="-16284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66756" y="2470052"/>
            <a:ext cx="5705856" cy="529076"/>
            <a:chOff x="0" y="0"/>
            <a:chExt cx="7607808" cy="7054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07808" cy="705429"/>
            </a:xfrm>
            <a:custGeom>
              <a:avLst/>
              <a:gdLst/>
              <a:ahLst/>
              <a:cxnLst/>
              <a:rect r="r" b="b" t="t" l="l"/>
              <a:pathLst>
                <a:path h="705429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0139" r="0" b="-16013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607808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PROFITABILITY PARADOX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66756" y="2989259"/>
            <a:ext cx="5705856" cy="1261872"/>
            <a:chOff x="0" y="0"/>
            <a:chExt cx="7607808" cy="16824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07808" cy="1682496"/>
            </a:xfrm>
            <a:custGeom>
              <a:avLst/>
              <a:gdLst/>
              <a:ahLst/>
              <a:cxnLst/>
              <a:rect r="r" b="b" t="t" l="l"/>
              <a:pathLst>
                <a:path h="168249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044" r="0" b="-3804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66756" y="2982116"/>
            <a:ext cx="5705856" cy="1269016"/>
            <a:chOff x="0" y="0"/>
            <a:chExt cx="7607808" cy="16920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07808" cy="1692021"/>
            </a:xfrm>
            <a:custGeom>
              <a:avLst/>
              <a:gdLst/>
              <a:ahLst/>
              <a:cxnLst/>
              <a:rect r="r" b="b" t="t" l="l"/>
              <a:pathLst>
                <a:path h="1692021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10" r="0" b="-376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607808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Loss rate falls 31% → 19% while rework rises to 32%. Speed creates an efficiency cushion that absorbs correction cost.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728047" y="4570790"/>
            <a:ext cx="6236970" cy="2122170"/>
          </a:xfrm>
          <a:custGeom>
            <a:avLst/>
            <a:gdLst/>
            <a:ahLst/>
            <a:cxnLst/>
            <a:rect r="r" b="b" t="t" l="l"/>
            <a:pathLst>
              <a:path h="2122170" w="6236970">
                <a:moveTo>
                  <a:pt x="0" y="0"/>
                </a:moveTo>
                <a:lnTo>
                  <a:pt x="6236970" y="0"/>
                </a:lnTo>
                <a:lnTo>
                  <a:pt x="6236970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737572" y="4580315"/>
            <a:ext cx="128016" cy="2103120"/>
            <a:chOff x="0" y="0"/>
            <a:chExt cx="170688" cy="2804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66756" y="4763195"/>
            <a:ext cx="5705856" cy="521932"/>
            <a:chOff x="0" y="0"/>
            <a:chExt cx="7607808" cy="6959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07808" cy="695960"/>
            </a:xfrm>
            <a:custGeom>
              <a:avLst/>
              <a:gdLst/>
              <a:ahLst/>
              <a:cxnLst/>
              <a:rect r="r" b="b" t="t" l="l"/>
              <a:pathLst>
                <a:path h="695960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854" r="0" b="-16284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66756" y="4756052"/>
            <a:ext cx="5705856" cy="529076"/>
            <a:chOff x="0" y="0"/>
            <a:chExt cx="7607808" cy="7054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07808" cy="705429"/>
            </a:xfrm>
            <a:custGeom>
              <a:avLst/>
              <a:gdLst/>
              <a:ahLst/>
              <a:cxnLst/>
              <a:rect r="r" b="b" t="t" l="l"/>
              <a:pathLst>
                <a:path h="705429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0139" r="0" b="-16013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607808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CRITICAL PIVOT: 50–60%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66756" y="5275259"/>
            <a:ext cx="5705856" cy="1261872"/>
            <a:chOff x="0" y="0"/>
            <a:chExt cx="7607808" cy="16824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07808" cy="1682496"/>
            </a:xfrm>
            <a:custGeom>
              <a:avLst/>
              <a:gdLst/>
              <a:ahLst/>
              <a:cxnLst/>
              <a:rect r="r" b="b" t="t" l="l"/>
              <a:pathLst>
                <a:path h="168249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044" r="0" b="-38044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066756" y="5268116"/>
            <a:ext cx="5705856" cy="1269016"/>
            <a:chOff x="0" y="0"/>
            <a:chExt cx="7607808" cy="16920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07808" cy="1692021"/>
            </a:xfrm>
            <a:custGeom>
              <a:avLst/>
              <a:gdLst/>
              <a:ahLst/>
              <a:cxnLst/>
              <a:rect r="r" b="b" t="t" l="l"/>
              <a:pathLst>
                <a:path h="1692021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10" r="0" b="-3761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607808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Between 50–60% AI usage the business crosses from high-loss to high-rework, low-risk. This is operational break-even.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728047" y="6856790"/>
            <a:ext cx="6236970" cy="2122170"/>
          </a:xfrm>
          <a:custGeom>
            <a:avLst/>
            <a:gdLst/>
            <a:ahLst/>
            <a:cxnLst/>
            <a:rect r="r" b="b" t="t" l="l"/>
            <a:pathLst>
              <a:path h="2122170" w="6236970">
                <a:moveTo>
                  <a:pt x="0" y="0"/>
                </a:moveTo>
                <a:lnTo>
                  <a:pt x="6236970" y="0"/>
                </a:lnTo>
                <a:lnTo>
                  <a:pt x="6236970" y="2122170"/>
                </a:lnTo>
                <a:lnTo>
                  <a:pt x="0" y="2122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1737572" y="6866315"/>
            <a:ext cx="128016" cy="2103120"/>
            <a:chOff x="0" y="0"/>
            <a:chExt cx="170688" cy="2804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66756" y="7049195"/>
            <a:ext cx="5705856" cy="521932"/>
            <a:chOff x="0" y="0"/>
            <a:chExt cx="7607808" cy="69590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07808" cy="695960"/>
            </a:xfrm>
            <a:custGeom>
              <a:avLst/>
              <a:gdLst/>
              <a:ahLst/>
              <a:cxnLst/>
              <a:rect r="r" b="b" t="t" l="l"/>
              <a:pathLst>
                <a:path h="695960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695960"/>
                  </a:lnTo>
                  <a:lnTo>
                    <a:pt x="0" y="695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854" r="0" b="-16284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66756" y="7042052"/>
            <a:ext cx="5705856" cy="529076"/>
            <a:chOff x="0" y="0"/>
            <a:chExt cx="7607808" cy="7054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07808" cy="705429"/>
            </a:xfrm>
            <a:custGeom>
              <a:avLst/>
              <a:gdLst/>
              <a:ahLst/>
              <a:cxnLst/>
              <a:rect r="r" b="b" t="t" l="l"/>
              <a:pathLst>
                <a:path h="705429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705429"/>
                  </a:lnTo>
                  <a:lnTo>
                    <a:pt x="0" y="7054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0139" r="0" b="-1601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607808" cy="714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208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REWORK IS NOT FAILURE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66756" y="7561259"/>
            <a:ext cx="5705856" cy="1261872"/>
            <a:chOff x="0" y="0"/>
            <a:chExt cx="7607808" cy="16824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07808" cy="1682496"/>
            </a:xfrm>
            <a:custGeom>
              <a:avLst/>
              <a:gdLst/>
              <a:ahLst/>
              <a:cxnLst/>
              <a:rect r="r" b="b" t="t" l="l"/>
              <a:pathLst>
                <a:path h="168249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044" r="0" b="-3804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66756" y="7554116"/>
            <a:ext cx="5705856" cy="1269016"/>
            <a:chOff x="0" y="0"/>
            <a:chExt cx="7607808" cy="169202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07808" cy="1692021"/>
            </a:xfrm>
            <a:custGeom>
              <a:avLst/>
              <a:gdLst/>
              <a:ahLst/>
              <a:cxnLst/>
              <a:rect r="r" b="b" t="t" l="l"/>
              <a:pathLst>
                <a:path h="1692021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692021"/>
                  </a:lnTo>
                  <a:lnTo>
                    <a:pt x="0" y="16920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10" r="0" b="-376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7607808" cy="1701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OLS: rework quadratic p=0.605. No tipping point. Fast generation + heavy iteration is the profitable model.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26762" y="2989259"/>
            <a:ext cx="11301260" cy="5184458"/>
            <a:chOff x="0" y="0"/>
            <a:chExt cx="15068347" cy="691261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068296" cy="6912610"/>
            </a:xfrm>
            <a:custGeom>
              <a:avLst/>
              <a:gdLst/>
              <a:ahLst/>
              <a:cxnLst/>
              <a:rect r="r" b="b" t="t" l="l"/>
              <a:pathLst>
                <a:path h="6912610" w="15068296">
                  <a:moveTo>
                    <a:pt x="0" y="0"/>
                  </a:moveTo>
                  <a:lnTo>
                    <a:pt x="15068296" y="0"/>
                  </a:lnTo>
                  <a:lnTo>
                    <a:pt x="15068296" y="6912610"/>
                  </a:lnTo>
                  <a:lnTo>
                    <a:pt x="0" y="6912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8" t="0" r="-49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68096"/>
            <a:ext cx="16459200" cy="585216"/>
            <a:chOff x="0" y="0"/>
            <a:chExt cx="21945600" cy="780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635" r="0" b="-4976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60952"/>
            <a:ext cx="16459200" cy="592360"/>
            <a:chOff x="0" y="0"/>
            <a:chExt cx="21945600" cy="7898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789813"/>
            </a:xfrm>
            <a:custGeom>
              <a:avLst/>
              <a:gdLst/>
              <a:ahLst/>
              <a:cxnLst/>
              <a:rect r="r" b="b" t="t" l="l"/>
              <a:pathLst>
                <a:path h="78981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1407" r="0" b="-4914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175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THRESHOLD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925" y="1248966"/>
            <a:ext cx="16459200" cy="3894534"/>
            <a:chOff x="0" y="0"/>
            <a:chExt cx="21945600" cy="5192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192649"/>
            </a:xfrm>
            <a:custGeom>
              <a:avLst/>
              <a:gdLst/>
              <a:ahLst/>
              <a:cxnLst/>
              <a:rect r="r" b="b" t="t" l="l"/>
              <a:pathLst>
                <a:path h="51926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92649"/>
                  </a:lnTo>
                  <a:lnTo>
                    <a:pt x="0" y="5192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91" r="0" b="-3229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3925" y="1241822"/>
            <a:ext cx="16459200" cy="3901678"/>
            <a:chOff x="0" y="0"/>
            <a:chExt cx="21945600" cy="52022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202237"/>
            </a:xfrm>
            <a:custGeom>
              <a:avLst/>
              <a:gdLst/>
              <a:ahLst/>
              <a:cxnLst/>
              <a:rect r="r" b="b" t="t" l="l"/>
              <a:pathLst>
                <a:path h="520223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202237"/>
                  </a:lnTo>
                  <a:lnTo>
                    <a:pt x="0" y="5202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7" r="0" b="-32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5211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39"/>
                </a:lnSpc>
              </a:pPr>
              <a:r>
                <a:rPr lang="en-US" sz="19200" b="true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30.6%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4663440"/>
            <a:ext cx="16459200" cy="731520"/>
            <a:chOff x="0" y="0"/>
            <a:chExt cx="219456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108" r="0" b="-388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4663440"/>
            <a:ext cx="16459200" cy="731520"/>
            <a:chOff x="0" y="0"/>
            <a:chExt cx="219456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456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5CB6F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SHAP sign-change threshold. Below it, AI costs money. Above it, AI makes money.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21995" y="5659755"/>
            <a:ext cx="5322570" cy="3859530"/>
          </a:xfrm>
          <a:custGeom>
            <a:avLst/>
            <a:gdLst/>
            <a:ahLst/>
            <a:cxnLst/>
            <a:rect r="r" b="b" t="t" l="l"/>
            <a:pathLst>
              <a:path h="3859530" w="5322570">
                <a:moveTo>
                  <a:pt x="0" y="0"/>
                </a:moveTo>
                <a:lnTo>
                  <a:pt x="5322570" y="0"/>
                </a:lnTo>
                <a:lnTo>
                  <a:pt x="5322570" y="3859530"/>
                </a:lnTo>
                <a:lnTo>
                  <a:pt x="0" y="3859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14400" y="5852160"/>
            <a:ext cx="4937760" cy="475488"/>
            <a:chOff x="0" y="0"/>
            <a:chExt cx="6583680" cy="63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203" r="0" b="-15220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5845016"/>
            <a:ext cx="4937760" cy="482632"/>
            <a:chOff x="0" y="0"/>
            <a:chExt cx="6583680" cy="6435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643509"/>
            </a:xfrm>
            <a:custGeom>
              <a:avLst/>
              <a:gdLst/>
              <a:ahLst/>
              <a:cxnLst/>
              <a:rect r="r" b="b" t="t" l="l"/>
              <a:pathLst>
                <a:path h="64350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349" r="0" b="-14934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5836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BELOW 30.6%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364224"/>
            <a:ext cx="4937760" cy="1536630"/>
            <a:chOff x="0" y="0"/>
            <a:chExt cx="6583680" cy="2048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2048891"/>
            </a:xfrm>
            <a:custGeom>
              <a:avLst/>
              <a:gdLst/>
              <a:ahLst/>
              <a:cxnLst/>
              <a:rect r="r" b="b" t="t" l="l"/>
              <a:pathLst>
                <a:path h="204889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48891"/>
                  </a:lnTo>
                  <a:lnTo>
                    <a:pt x="0" y="2048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68" r="0" b="-1256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6357080"/>
            <a:ext cx="4937760" cy="1543774"/>
            <a:chOff x="0" y="0"/>
            <a:chExt cx="6583680" cy="20583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2058360"/>
            </a:xfrm>
            <a:custGeom>
              <a:avLst/>
              <a:gdLst/>
              <a:ahLst/>
              <a:cxnLst/>
              <a:rect r="r" b="b" t="t" l="l"/>
              <a:pathLst>
                <a:path h="2058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58360"/>
                  </a:lnTo>
                  <a:lnTo>
                    <a:pt x="0" y="2058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2" r="0" b="-1232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583680" cy="20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−€52.5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7827264"/>
            <a:ext cx="4937760" cy="877824"/>
            <a:chOff x="0" y="0"/>
            <a:chExt cx="6583680" cy="11704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26" r="0" b="-5952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7820120"/>
            <a:ext cx="4937760" cy="884968"/>
            <a:chOff x="0" y="0"/>
            <a:chExt cx="6583680" cy="11799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1179957"/>
            </a:xfrm>
            <a:custGeom>
              <a:avLst/>
              <a:gdLst/>
              <a:ahLst/>
              <a:cxnLst/>
              <a:rect r="r" b="b" t="t" l="l"/>
              <a:pathLst>
                <a:path h="117995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9957"/>
                  </a:lnTo>
                  <a:lnTo>
                    <a:pt x="0" y="11799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18" r="0" b="-5871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583680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per-task avg. SHAP contribution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8741664"/>
            <a:ext cx="4937760" cy="548640"/>
            <a:chOff x="0" y="0"/>
            <a:chExt cx="65836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8734520"/>
            <a:ext cx="4937760" cy="555784"/>
            <a:chOff x="0" y="0"/>
            <a:chExt cx="6583680" cy="7410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741045"/>
            </a:xfrm>
            <a:custGeom>
              <a:avLst/>
              <a:gdLst/>
              <a:ahLst/>
              <a:cxnLst/>
              <a:rect r="r" b="b" t="t" l="l"/>
              <a:pathLst>
                <a:path h="7410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111" r="0" b="-1231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234 of 553 test-set tasks.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00800" y="5669280"/>
            <a:ext cx="5303520" cy="3840480"/>
            <a:chOff x="0" y="0"/>
            <a:chExt cx="7071360" cy="5120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583680" y="5852160"/>
            <a:ext cx="4937760" cy="475488"/>
            <a:chOff x="0" y="0"/>
            <a:chExt cx="6583680" cy="633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203" r="0" b="-15220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583680" y="5845016"/>
            <a:ext cx="4937760" cy="482632"/>
            <a:chOff x="0" y="0"/>
            <a:chExt cx="6583680" cy="64350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643509"/>
            </a:xfrm>
            <a:custGeom>
              <a:avLst/>
              <a:gdLst/>
              <a:ahLst/>
              <a:cxnLst/>
              <a:rect r="r" b="b" t="t" l="l"/>
              <a:pathLst>
                <a:path h="64350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349" r="0" b="-14934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5836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SIGN CHANGE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83680" y="6364224"/>
            <a:ext cx="4937760" cy="1536630"/>
            <a:chOff x="0" y="0"/>
            <a:chExt cx="6583680" cy="2048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2048891"/>
            </a:xfrm>
            <a:custGeom>
              <a:avLst/>
              <a:gdLst/>
              <a:ahLst/>
              <a:cxnLst/>
              <a:rect r="r" b="b" t="t" l="l"/>
              <a:pathLst>
                <a:path h="204889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48891"/>
                  </a:lnTo>
                  <a:lnTo>
                    <a:pt x="0" y="2048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68" r="0" b="-1256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83680" y="6357080"/>
            <a:ext cx="4937760" cy="1543774"/>
            <a:chOff x="0" y="0"/>
            <a:chExt cx="6583680" cy="20583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2058360"/>
            </a:xfrm>
            <a:custGeom>
              <a:avLst/>
              <a:gdLst/>
              <a:ahLst/>
              <a:cxnLst/>
              <a:rect r="r" b="b" t="t" l="l"/>
              <a:pathLst>
                <a:path h="2058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58360"/>
                  </a:lnTo>
                  <a:lnTo>
                    <a:pt x="0" y="2058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2" r="0" b="-1232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583680" cy="20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CAE8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≈ €103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83680" y="7827264"/>
            <a:ext cx="4937760" cy="877824"/>
            <a:chOff x="0" y="0"/>
            <a:chExt cx="658368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26" r="0" b="-5952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583680" y="7820120"/>
            <a:ext cx="4937760" cy="884968"/>
            <a:chOff x="0" y="0"/>
            <a:chExt cx="6583680" cy="11799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83680" cy="1179957"/>
            </a:xfrm>
            <a:custGeom>
              <a:avLst/>
              <a:gdLst/>
              <a:ahLst/>
              <a:cxnLst/>
              <a:rect r="r" b="b" t="t" l="l"/>
              <a:pathLst>
                <a:path h="117995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9957"/>
                  </a:lnTo>
                  <a:lnTo>
                    <a:pt x="0" y="11799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18" r="0" b="-587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583680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gap between above vs below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583680" y="8741664"/>
            <a:ext cx="4937760" cy="548640"/>
            <a:chOff x="0" y="0"/>
            <a:chExt cx="65836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583680" y="8734520"/>
            <a:ext cx="4937760" cy="555784"/>
            <a:chOff x="0" y="0"/>
            <a:chExt cx="6583680" cy="7410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0" cy="741045"/>
            </a:xfrm>
            <a:custGeom>
              <a:avLst/>
              <a:gdLst/>
              <a:ahLst/>
              <a:cxnLst/>
              <a:rect r="r" b="b" t="t" l="l"/>
              <a:pathLst>
                <a:path h="7410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111" r="0" b="-12311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entirely from AI contribution shift.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2060555" y="5659755"/>
            <a:ext cx="5322570" cy="3859530"/>
          </a:xfrm>
          <a:custGeom>
            <a:avLst/>
            <a:gdLst/>
            <a:ahLst/>
            <a:cxnLst/>
            <a:rect r="r" b="b" t="t" l="l"/>
            <a:pathLst>
              <a:path h="3859530" w="5322570">
                <a:moveTo>
                  <a:pt x="0" y="0"/>
                </a:moveTo>
                <a:lnTo>
                  <a:pt x="5322570" y="0"/>
                </a:lnTo>
                <a:lnTo>
                  <a:pt x="5322570" y="3859530"/>
                </a:lnTo>
                <a:lnTo>
                  <a:pt x="0" y="3859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2252960" y="5852160"/>
            <a:ext cx="4937760" cy="475488"/>
            <a:chOff x="0" y="0"/>
            <a:chExt cx="6583680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203" r="0" b="-152203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252960" y="5845016"/>
            <a:ext cx="4937760" cy="482632"/>
            <a:chOff x="0" y="0"/>
            <a:chExt cx="6583680" cy="6435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83680" cy="643509"/>
            </a:xfrm>
            <a:custGeom>
              <a:avLst/>
              <a:gdLst/>
              <a:ahLst/>
              <a:cxnLst/>
              <a:rect r="r" b="b" t="t" l="l"/>
              <a:pathLst>
                <a:path h="64350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349" r="0" b="-14934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65836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ABOVE 30.6%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252960" y="6364224"/>
            <a:ext cx="4937760" cy="1536630"/>
            <a:chOff x="0" y="0"/>
            <a:chExt cx="6583680" cy="2048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0" cy="2048891"/>
            </a:xfrm>
            <a:custGeom>
              <a:avLst/>
              <a:gdLst/>
              <a:ahLst/>
              <a:cxnLst/>
              <a:rect r="r" b="b" t="t" l="l"/>
              <a:pathLst>
                <a:path h="204889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48891"/>
                  </a:lnTo>
                  <a:lnTo>
                    <a:pt x="0" y="2048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68" r="0" b="-1256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52960" y="6357080"/>
            <a:ext cx="4937760" cy="1543774"/>
            <a:chOff x="0" y="0"/>
            <a:chExt cx="6583680" cy="205836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2058360"/>
            </a:xfrm>
            <a:custGeom>
              <a:avLst/>
              <a:gdLst/>
              <a:ahLst/>
              <a:cxnLst/>
              <a:rect r="r" b="b" t="t" l="l"/>
              <a:pathLst>
                <a:path h="2058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58360"/>
                  </a:lnTo>
                  <a:lnTo>
                    <a:pt x="0" y="2058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2" r="0" b="-1232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583680" cy="20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+€51.1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252960" y="7827264"/>
            <a:ext cx="4937760" cy="877824"/>
            <a:chOff x="0" y="0"/>
            <a:chExt cx="6583680" cy="11704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26" r="0" b="-59526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252960" y="7820120"/>
            <a:ext cx="4937760" cy="884968"/>
            <a:chOff x="0" y="0"/>
            <a:chExt cx="6583680" cy="117995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0" cy="1179957"/>
            </a:xfrm>
            <a:custGeom>
              <a:avLst/>
              <a:gdLst/>
              <a:ahLst/>
              <a:cxnLst/>
              <a:rect r="r" b="b" t="t" l="l"/>
              <a:pathLst>
                <a:path h="117995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9957"/>
                  </a:lnTo>
                  <a:lnTo>
                    <a:pt x="0" y="11799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18" r="0" b="-5871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583680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per-task avg. SHAP contribution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252960" y="8741664"/>
            <a:ext cx="4937760" cy="548640"/>
            <a:chOff x="0" y="0"/>
            <a:chExt cx="65836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252960" y="8734520"/>
            <a:ext cx="4937760" cy="555784"/>
            <a:chOff x="0" y="0"/>
            <a:chExt cx="6583680" cy="7410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0" cy="741045"/>
            </a:xfrm>
            <a:custGeom>
              <a:avLst/>
              <a:gdLst/>
              <a:ahLst/>
              <a:cxnLst/>
              <a:rect r="r" b="b" t="t" l="l"/>
              <a:pathLst>
                <a:path h="7410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111" r="0" b="-12311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319 of 553 test-set tasks.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SHAP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168003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160859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What drives profit: variable importance by SHAP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6597" y="2743200"/>
            <a:ext cx="7746968" cy="6908768"/>
            <a:chOff x="0" y="0"/>
            <a:chExt cx="10329291" cy="92116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29291" cy="9211691"/>
            </a:xfrm>
            <a:custGeom>
              <a:avLst/>
              <a:gdLst/>
              <a:ahLst/>
              <a:cxnLst/>
              <a:rect r="r" b="b" t="t" l="l"/>
              <a:pathLst>
                <a:path h="9211691" w="10329291">
                  <a:moveTo>
                    <a:pt x="0" y="0"/>
                  </a:moveTo>
                  <a:lnTo>
                    <a:pt x="10329291" y="0"/>
                  </a:lnTo>
                  <a:lnTo>
                    <a:pt x="10329291" y="9211691"/>
                  </a:lnTo>
                  <a:lnTo>
                    <a:pt x="0" y="9211691"/>
                  </a:ln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16003" y="2946397"/>
            <a:ext cx="7188203" cy="457200"/>
            <a:chOff x="0" y="0"/>
            <a:chExt cx="9584271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84309" cy="609600"/>
            </a:xfrm>
            <a:custGeom>
              <a:avLst/>
              <a:gdLst/>
              <a:ahLst/>
              <a:cxnLst/>
              <a:rect r="r" b="b" t="t" l="l"/>
              <a:pathLst>
                <a:path h="609600" w="9584309">
                  <a:moveTo>
                    <a:pt x="0" y="0"/>
                  </a:moveTo>
                  <a:lnTo>
                    <a:pt x="9584309" y="0"/>
                  </a:lnTo>
                  <a:lnTo>
                    <a:pt x="958430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135" r="0" b="-25613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16003" y="2939253"/>
            <a:ext cx="7188203" cy="464344"/>
            <a:chOff x="0" y="0"/>
            <a:chExt cx="9584271" cy="619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84271" cy="619125"/>
            </a:xfrm>
            <a:custGeom>
              <a:avLst/>
              <a:gdLst/>
              <a:ahLst/>
              <a:cxnLst/>
              <a:rect r="r" b="b" t="t" l="l"/>
              <a:pathLst>
                <a:path h="619125" w="9584271">
                  <a:moveTo>
                    <a:pt x="0" y="0"/>
                  </a:moveTo>
                  <a:lnTo>
                    <a:pt x="9584271" y="0"/>
                  </a:lnTo>
                  <a:lnTo>
                    <a:pt x="9584271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1635" r="0" b="-2516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584271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TAKEAWAYS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03297" y="3568703"/>
            <a:ext cx="7213568" cy="1752600"/>
          </a:xfrm>
          <a:custGeom>
            <a:avLst/>
            <a:gdLst/>
            <a:ahLst/>
            <a:cxnLst/>
            <a:rect r="r" b="b" t="t" l="l"/>
            <a:pathLst>
              <a:path h="1752600" w="7213568">
                <a:moveTo>
                  <a:pt x="0" y="0"/>
                </a:moveTo>
                <a:lnTo>
                  <a:pt x="7213568" y="0"/>
                </a:lnTo>
                <a:lnTo>
                  <a:pt x="7213568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3297" y="5524500"/>
            <a:ext cx="7213568" cy="1752600"/>
          </a:xfrm>
          <a:custGeom>
            <a:avLst/>
            <a:gdLst/>
            <a:ahLst/>
            <a:cxnLst/>
            <a:rect r="r" b="b" t="t" l="l"/>
            <a:pathLst>
              <a:path h="1752600" w="7213568">
                <a:moveTo>
                  <a:pt x="0" y="0"/>
                </a:moveTo>
                <a:lnTo>
                  <a:pt x="7213568" y="0"/>
                </a:lnTo>
                <a:lnTo>
                  <a:pt x="7213568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3297" y="7480297"/>
            <a:ext cx="7213568" cy="1752600"/>
          </a:xfrm>
          <a:custGeom>
            <a:avLst/>
            <a:gdLst/>
            <a:ahLst/>
            <a:cxnLst/>
            <a:rect r="r" b="b" t="t" l="l"/>
            <a:pathLst>
              <a:path h="1752600" w="7213568">
                <a:moveTo>
                  <a:pt x="0" y="0"/>
                </a:moveTo>
                <a:lnTo>
                  <a:pt x="7213568" y="0"/>
                </a:lnTo>
                <a:lnTo>
                  <a:pt x="7213568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709489" y="2743200"/>
            <a:ext cx="8560660" cy="6908797"/>
            <a:chOff x="0" y="0"/>
            <a:chExt cx="11414214" cy="92117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14252" cy="9211691"/>
            </a:xfrm>
            <a:custGeom>
              <a:avLst/>
              <a:gdLst/>
              <a:ahLst/>
              <a:cxnLst/>
              <a:rect r="r" b="b" t="t" l="l"/>
              <a:pathLst>
                <a:path h="9211691" w="11414252">
                  <a:moveTo>
                    <a:pt x="0" y="0"/>
                  </a:moveTo>
                  <a:lnTo>
                    <a:pt x="11414252" y="0"/>
                  </a:lnTo>
                  <a:lnTo>
                    <a:pt x="11414252" y="9211691"/>
                  </a:lnTo>
                  <a:lnTo>
                    <a:pt x="0" y="9211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36019" y="3568703"/>
            <a:ext cx="6548123" cy="16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#1 PRICING MODEL IS THE DOMINANT DRIVER.</a:t>
            </a:r>
          </a:p>
          <a:p>
            <a:pPr algn="l">
              <a:lnSpc>
                <a:spcPts val="2400"/>
              </a:lnSpc>
            </a:pPr>
            <a:r>
              <a:rPr lang="en-US" b="true" sz="2000" spc="16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pricing_model_hourly has the highest mean |SHAP| in regression: larger impact on profit than AI usage itself.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6043" y="5684520"/>
            <a:ext cx="65481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#2 SENIORITY DOMINATES LOSS RISK.</a:t>
            </a:r>
          </a:p>
          <a:p>
            <a:pPr algn="l">
              <a:lnSpc>
                <a:spcPts val="2400"/>
              </a:lnSpc>
            </a:pPr>
            <a:r>
              <a:rPr lang="en-US" b="true" sz="2000" spc="16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 the loss classifier, seniority is the top SHAP driver: senior + low AI = highest loss probability in the dataset.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6043" y="7640317"/>
            <a:ext cx="6548123" cy="124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#3 AI USAGE IS A THRESHOLD EFFECT.</a:t>
            </a:r>
          </a:p>
          <a:p>
            <a:pPr algn="l">
              <a:lnSpc>
                <a:spcPts val="2400"/>
              </a:lnSpc>
            </a:pPr>
            <a:r>
              <a:rPr lang="en-US" b="true" sz="2000" spc="16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ai_usage_pct flips sign at 30.6%: below it avg. SHAP €52.5/task, above it +€51.1/task. Contract type captures the gain.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200" y="571500"/>
            <a:ext cx="2951417" cy="482537"/>
          </a:xfrm>
          <a:custGeom>
            <a:avLst/>
            <a:gdLst/>
            <a:ahLst/>
            <a:cxnLst/>
            <a:rect r="r" b="b" t="t" l="l"/>
            <a:pathLst>
              <a:path h="482537" w="2951417">
                <a:moveTo>
                  <a:pt x="0" y="0"/>
                </a:moveTo>
                <a:lnTo>
                  <a:pt x="2951417" y="0"/>
                </a:lnTo>
                <a:lnTo>
                  <a:pt x="2951417" y="482536"/>
                </a:lnTo>
                <a:lnTo>
                  <a:pt x="0" y="48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7200" y="571500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7200" y="534457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75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RISK SCORE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053379"/>
            <a:chOff x="0" y="0"/>
            <a:chExt cx="21945600" cy="1404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04493"/>
            </a:xfrm>
            <a:custGeom>
              <a:avLst/>
              <a:gdLst/>
              <a:ahLst/>
              <a:cxnLst/>
              <a:rect r="r" b="b" t="t" l="l"/>
              <a:pathLst>
                <a:path h="140449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04493"/>
                  </a:lnTo>
                  <a:lnTo>
                    <a:pt x="0" y="14044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247" r="0" b="-2542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7200" y="1141676"/>
            <a:ext cx="16459200" cy="1060523"/>
            <a:chOff x="0" y="0"/>
            <a:chExt cx="21945600" cy="1414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414033"/>
            </a:xfrm>
            <a:custGeom>
              <a:avLst/>
              <a:gdLst/>
              <a:ahLst/>
              <a:cxnLst/>
              <a:rect r="r" b="b" t="t" l="l"/>
              <a:pathLst>
                <a:path h="14140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14033"/>
                  </a:lnTo>
                  <a:lnTo>
                    <a:pt x="0" y="14140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2405" r="0" b="-2524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423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pre-task risk score: six variables, one lookup.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340864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5868" r="0" b="-57587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2202199"/>
            <a:ext cx="16459200" cy="519208"/>
            <a:chOff x="0" y="0"/>
            <a:chExt cx="21945600" cy="6922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7687" r="0" b="-5676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Random Forest · ROC-AUC 0.754 · Recall 55% · Flags 43 genuine losses per 100 risk-flagged tasks (base rate: 24%).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200" y="2900001"/>
            <a:ext cx="3799999" cy="658368"/>
            <a:chOff x="0" y="0"/>
            <a:chExt cx="5066665" cy="877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66665" cy="877824"/>
            </a:xfrm>
            <a:custGeom>
              <a:avLst/>
              <a:gdLst/>
              <a:ahLst/>
              <a:cxnLst/>
              <a:rect r="r" b="b" t="t" l="l"/>
              <a:pathLst>
                <a:path h="877824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" y="2900001"/>
            <a:ext cx="3799999" cy="658368"/>
            <a:chOff x="0" y="0"/>
            <a:chExt cx="5066665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66665" cy="877824"/>
            </a:xfrm>
            <a:custGeom>
              <a:avLst/>
              <a:gdLst/>
              <a:ahLst/>
              <a:cxnLst/>
              <a:rect r="r" b="b" t="t" l="l"/>
              <a:pathLst>
                <a:path h="877824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387" r="0" b="-6238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7200" y="2892857"/>
            <a:ext cx="3799999" cy="665512"/>
            <a:chOff x="0" y="0"/>
            <a:chExt cx="5066665" cy="8873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66667" cy="887349"/>
            </a:xfrm>
            <a:custGeom>
              <a:avLst/>
              <a:gdLst/>
              <a:ahLst/>
              <a:cxnLst/>
              <a:rect r="r" b="b" t="t" l="l"/>
              <a:pathLst>
                <a:path h="887349" w="5066667">
                  <a:moveTo>
                    <a:pt x="0" y="0"/>
                  </a:moveTo>
                  <a:lnTo>
                    <a:pt x="5066667" y="0"/>
                  </a:lnTo>
                  <a:lnTo>
                    <a:pt x="5066667" y="887349"/>
                  </a:lnTo>
                  <a:lnTo>
                    <a:pt x="0" y="8873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257" r="0" b="-6125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066665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160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 FACTORS: LOSS RATE RISES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457200" y="3558368"/>
          <a:ext cx="7565276" cy="3298825"/>
        </p:xfrm>
        <a:graphic>
          <a:graphicData uri="http://schemas.openxmlformats.org/drawingml/2006/table">
            <a:tbl>
              <a:tblPr/>
              <a:tblGrid>
                <a:gridCol w="2315968"/>
                <a:gridCol w="1352473"/>
                <a:gridCol w="1352473"/>
                <a:gridCol w="1191890"/>
                <a:gridCol w="1352473"/>
              </a:tblGrid>
              <a:tr h="602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Safe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Risky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Gap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988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HOURLY PRICING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16%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34%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+18pp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46%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988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SENIOR CONTRIBUTOR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33%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+12pp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22%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988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HOURS SPENT (TOP 25%)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31%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+9pp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25%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8022476" y="2946992"/>
            <a:ext cx="3799999" cy="658368"/>
            <a:chOff x="0" y="0"/>
            <a:chExt cx="5066665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66665" cy="877824"/>
            </a:xfrm>
            <a:custGeom>
              <a:avLst/>
              <a:gdLst/>
              <a:ahLst/>
              <a:cxnLst/>
              <a:rect r="r" b="b" t="t" l="l"/>
              <a:pathLst>
                <a:path h="877824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84920" y="2634439"/>
            <a:ext cx="3799999" cy="658368"/>
            <a:chOff x="0" y="0"/>
            <a:chExt cx="5066665" cy="877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66665" cy="877824"/>
            </a:xfrm>
            <a:custGeom>
              <a:avLst/>
              <a:gdLst/>
              <a:ahLst/>
              <a:cxnLst/>
              <a:rect r="r" b="b" t="t" l="l"/>
              <a:pathLst>
                <a:path h="877824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464" r="0" b="-6246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190356" y="2913731"/>
            <a:ext cx="3799999" cy="691629"/>
            <a:chOff x="0" y="0"/>
            <a:chExt cx="5066665" cy="9221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66667" cy="922172"/>
            </a:xfrm>
            <a:custGeom>
              <a:avLst/>
              <a:gdLst/>
              <a:ahLst/>
              <a:cxnLst/>
              <a:rect r="r" b="b" t="t" l="l"/>
              <a:pathLst>
                <a:path h="922172" w="5066667">
                  <a:moveTo>
                    <a:pt x="0" y="0"/>
                  </a:moveTo>
                  <a:lnTo>
                    <a:pt x="5066667" y="0"/>
                  </a:lnTo>
                  <a:lnTo>
                    <a:pt x="5066667" y="922172"/>
                  </a:lnTo>
                  <a:lnTo>
                    <a:pt x="0" y="9221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944" r="0" b="-5516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066665" cy="931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160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PROTECTIVE FACTORS, LOSS RATE FALLS</a:t>
              </a:r>
            </a:p>
          </p:txBody>
        </p:sp>
      </p:grpSp>
      <p:graphicFrame>
        <p:nvGraphicFramePr>
          <p:cNvPr name="Table 33" id="33"/>
          <p:cNvGraphicFramePr>
            <a:graphicFrameLocks noGrp="true"/>
          </p:cNvGraphicFramePr>
          <p:nvPr/>
        </p:nvGraphicFramePr>
        <p:xfrm>
          <a:off x="8022476" y="3549396"/>
          <a:ext cx="9875247" cy="2708275"/>
        </p:xfrm>
        <a:graphic>
          <a:graphicData uri="http://schemas.openxmlformats.org/drawingml/2006/table">
            <a:tbl>
              <a:tblPr/>
              <a:tblGrid>
                <a:gridCol w="3442421"/>
                <a:gridCol w="1555800"/>
                <a:gridCol w="1555800"/>
                <a:gridCol w="1555800"/>
                <a:gridCol w="1765425"/>
              </a:tblGrid>
              <a:tr h="6029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Without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With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Gap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6029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HIGH-TIER CLIENT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16%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-10pp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26%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899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HIGH TASK COMPLEXITY (TOP 25%)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-8pp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30%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  <a:tr h="6029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 spc="160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AI USAGE &gt;= 30%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21%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-8pp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58% of tasks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6F9"/>
                    </a:solidFill>
                  </a:tcPr>
                </a:tc>
              </a:tr>
            </a:tbl>
          </a:graphicData>
        </a:graphic>
      </p:graphicFrame>
      <p:grpSp>
        <p:nvGrpSpPr>
          <p:cNvPr name="Group 34" id="34"/>
          <p:cNvGrpSpPr/>
          <p:nvPr/>
        </p:nvGrpSpPr>
        <p:grpSpPr>
          <a:xfrm rot="0">
            <a:off x="457200" y="6895293"/>
            <a:ext cx="17440523" cy="2793968"/>
            <a:chOff x="0" y="0"/>
            <a:chExt cx="23254031" cy="37252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254032" cy="3725291"/>
            </a:xfrm>
            <a:custGeom>
              <a:avLst/>
              <a:gdLst/>
              <a:ahLst/>
              <a:cxnLst/>
              <a:rect r="r" b="b" t="t" l="l"/>
              <a:pathLst>
                <a:path h="3725291" w="23254032">
                  <a:moveTo>
                    <a:pt x="0" y="0"/>
                  </a:moveTo>
                  <a:lnTo>
                    <a:pt x="23254032" y="0"/>
                  </a:lnTo>
                  <a:lnTo>
                    <a:pt x="23254032" y="3725291"/>
                  </a:lnTo>
                  <a:lnTo>
                    <a:pt x="0" y="3725291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" y="7035803"/>
            <a:ext cx="16093440" cy="475488"/>
            <a:chOff x="0" y="0"/>
            <a:chExt cx="2145792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457920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034" r="0" b="-60903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7028659"/>
            <a:ext cx="16093440" cy="482632"/>
            <a:chOff x="0" y="0"/>
            <a:chExt cx="21457920" cy="6435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57920" cy="643509"/>
            </a:xfrm>
            <a:custGeom>
              <a:avLst/>
              <a:gdLst/>
              <a:ahLst/>
              <a:cxnLst/>
              <a:rect r="r" b="b" t="t" l="l"/>
              <a:pathLst>
                <a:path h="643509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9732" r="0" b="-5997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45792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60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HOW TO USE THIS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7569203"/>
            <a:ext cx="16093440" cy="1777994"/>
            <a:chOff x="0" y="0"/>
            <a:chExt cx="21457920" cy="23706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920" cy="2370709"/>
            </a:xfrm>
            <a:custGeom>
              <a:avLst/>
              <a:gdLst/>
              <a:ahLst/>
              <a:cxnLst/>
              <a:rect r="r" b="b" t="t" l="l"/>
              <a:pathLst>
                <a:path h="2370709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370709"/>
                  </a:lnTo>
                  <a:lnTo>
                    <a:pt x="0" y="23707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6242" r="0" b="-12624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97280" y="7562059"/>
            <a:ext cx="16093440" cy="1785147"/>
            <a:chOff x="0" y="0"/>
            <a:chExt cx="21457920" cy="23801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457920" cy="2380192"/>
            </a:xfrm>
            <a:custGeom>
              <a:avLst/>
              <a:gdLst/>
              <a:ahLst/>
              <a:cxnLst/>
              <a:rect r="r" b="b" t="t" l="l"/>
              <a:pathLst>
                <a:path h="2380192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380192"/>
                  </a:lnTo>
                  <a:lnTo>
                    <a:pt x="0" y="23801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661" r="0" b="-12566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1457920" cy="2389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Any task combining 2+ risk factors triggers a pre-kickoff review of contract structure, staffing, and scope.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Best case: high client tier + high complexity + fixed/value-based contract + AI ≥ 30% → loss rate below 18%.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1270254"/>
            <a:ext cx="159105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8"/>
              </a:lnSpc>
            </a:pPr>
            <a:r>
              <a:rPr lang="en-US" sz="5198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What the dataset still cannot explain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2166366"/>
            <a:ext cx="1591056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model explains margin mechanics well, but is missing the signals required to explain client value and revision causality.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1995" y="3136011"/>
            <a:ext cx="5231130" cy="3950970"/>
          </a:xfrm>
          <a:custGeom>
            <a:avLst/>
            <a:gdLst/>
            <a:ahLst/>
            <a:cxnLst/>
            <a:rect r="r" b="b" t="t" l="l"/>
            <a:pathLst>
              <a:path h="3950970" w="5231130">
                <a:moveTo>
                  <a:pt x="0" y="0"/>
                </a:moveTo>
                <a:lnTo>
                  <a:pt x="5231130" y="0"/>
                </a:lnTo>
                <a:lnTo>
                  <a:pt x="5231130" y="3950970"/>
                </a:lnTo>
                <a:lnTo>
                  <a:pt x="0" y="395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1520" y="3145536"/>
            <a:ext cx="146304" cy="3931920"/>
            <a:chOff x="0" y="0"/>
            <a:chExt cx="195072" cy="5242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5242560"/>
            </a:xfrm>
            <a:custGeom>
              <a:avLst/>
              <a:gdLst/>
              <a:ahLst/>
              <a:cxnLst/>
              <a:rect r="r" b="b" t="t" l="l"/>
              <a:pathLst>
                <a:path h="5242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233D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15568" y="3318510"/>
            <a:ext cx="120700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288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5568" y="3886200"/>
            <a:ext cx="41148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b="true" sz="2799" spc="223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CLIENT RETENTION &amp; SATISFACTION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5568" y="4818126"/>
            <a:ext cx="42428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 measure task profit but not whether AI-heavy delivery hurts long-term trust, renewals, or NPS.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4128" y="6291072"/>
            <a:ext cx="4357297" cy="730901"/>
            <a:chOff x="0" y="0"/>
            <a:chExt cx="5809729" cy="9745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09742" cy="974598"/>
            </a:xfrm>
            <a:custGeom>
              <a:avLst/>
              <a:gdLst/>
              <a:ahLst/>
              <a:cxnLst/>
              <a:rect r="r" b="b" t="t" l="l"/>
              <a:pathLst>
                <a:path h="974598" w="5809742">
                  <a:moveTo>
                    <a:pt x="0" y="0"/>
                  </a:moveTo>
                  <a:lnTo>
                    <a:pt x="5809742" y="0"/>
                  </a:lnTo>
                  <a:lnTo>
                    <a:pt x="5809742" y="974598"/>
                  </a:lnTo>
                  <a:lnTo>
                    <a:pt x="0" y="974598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1872" y="6373368"/>
            <a:ext cx="2286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HIGHEST PRIORITY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36411" y="3136011"/>
            <a:ext cx="5231130" cy="3950970"/>
          </a:xfrm>
          <a:custGeom>
            <a:avLst/>
            <a:gdLst/>
            <a:ahLst/>
            <a:cxnLst/>
            <a:rect r="r" b="b" t="t" l="l"/>
            <a:pathLst>
              <a:path h="3950970" w="5231130">
                <a:moveTo>
                  <a:pt x="0" y="0"/>
                </a:moveTo>
                <a:lnTo>
                  <a:pt x="5231130" y="0"/>
                </a:lnTo>
                <a:lnTo>
                  <a:pt x="5231130" y="3950970"/>
                </a:lnTo>
                <a:lnTo>
                  <a:pt x="0" y="395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345936" y="3145536"/>
            <a:ext cx="146304" cy="3931920"/>
            <a:chOff x="0" y="0"/>
            <a:chExt cx="195072" cy="5242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" cy="5242560"/>
            </a:xfrm>
            <a:custGeom>
              <a:avLst/>
              <a:gdLst/>
              <a:ahLst/>
              <a:cxnLst/>
              <a:rect r="r" b="b" t="t" l="l"/>
              <a:pathLst>
                <a:path h="5242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233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29984" y="3318510"/>
            <a:ext cx="109908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288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29984" y="3867150"/>
            <a:ext cx="4114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b="true" sz="2091" spc="16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TOOL &amp; PROMPT TELEMETRY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29984" y="4818126"/>
            <a:ext cx="424281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975" b="true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same ai_usage_pct can mean one precise draft or thirty failed iterations, blocking tool ROI decisions.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38544" y="6291072"/>
            <a:ext cx="4697320" cy="730901"/>
            <a:chOff x="0" y="0"/>
            <a:chExt cx="6263094" cy="9745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63132" cy="974598"/>
            </a:xfrm>
            <a:custGeom>
              <a:avLst/>
              <a:gdLst/>
              <a:ahLst/>
              <a:cxnLst/>
              <a:rect r="r" b="b" t="t" l="l"/>
              <a:pathLst>
                <a:path h="974598" w="6263132">
                  <a:moveTo>
                    <a:pt x="0" y="0"/>
                  </a:moveTo>
                  <a:lnTo>
                    <a:pt x="6263132" y="0"/>
                  </a:lnTo>
                  <a:lnTo>
                    <a:pt x="6263132" y="974598"/>
                  </a:lnTo>
                  <a:lnTo>
                    <a:pt x="0" y="974598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01983" y="6343974"/>
            <a:ext cx="321946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PROCUREMENT + TRAINING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950827" y="3136011"/>
            <a:ext cx="5231130" cy="3950970"/>
          </a:xfrm>
          <a:custGeom>
            <a:avLst/>
            <a:gdLst/>
            <a:ahLst/>
            <a:cxnLst/>
            <a:rect r="r" b="b" t="t" l="l"/>
            <a:pathLst>
              <a:path h="3950970" w="5231130">
                <a:moveTo>
                  <a:pt x="0" y="0"/>
                </a:moveTo>
                <a:lnTo>
                  <a:pt x="5231130" y="0"/>
                </a:lnTo>
                <a:lnTo>
                  <a:pt x="5231130" y="3950970"/>
                </a:lnTo>
                <a:lnTo>
                  <a:pt x="0" y="395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960352" y="3145536"/>
            <a:ext cx="146304" cy="3931920"/>
            <a:chOff x="0" y="0"/>
            <a:chExt cx="195072" cy="5242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" cy="5242560"/>
            </a:xfrm>
            <a:custGeom>
              <a:avLst/>
              <a:gdLst/>
              <a:ahLst/>
              <a:cxnLst/>
              <a:rect r="r" b="b" t="t" l="l"/>
              <a:pathLst>
                <a:path h="5242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233D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44400" y="3318510"/>
            <a:ext cx="107409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288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44400" y="3867150"/>
            <a:ext cx="41148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b="true" sz="2325" spc="18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REVISION REASON CODES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4400" y="4818126"/>
            <a:ext cx="42428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Rework hours tell us cost, not cause. Distinguish AI mistakes, scope creep, and client preference changes.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52960" y="6291072"/>
            <a:ext cx="4651496" cy="730901"/>
            <a:chOff x="0" y="0"/>
            <a:chExt cx="6201994" cy="9745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02045" cy="974598"/>
            </a:xfrm>
            <a:custGeom>
              <a:avLst/>
              <a:gdLst/>
              <a:ahLst/>
              <a:cxnLst/>
              <a:rect r="r" b="b" t="t" l="l"/>
              <a:pathLst>
                <a:path h="974598" w="6202045">
                  <a:moveTo>
                    <a:pt x="0" y="0"/>
                  </a:moveTo>
                  <a:lnTo>
                    <a:pt x="6202045" y="0"/>
                  </a:lnTo>
                  <a:lnTo>
                    <a:pt x="6202045" y="974598"/>
                  </a:lnTo>
                  <a:lnTo>
                    <a:pt x="0" y="974598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90704" y="6373368"/>
            <a:ext cx="36323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OPERATIONAL ROOT CAUSE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21995" y="7579995"/>
            <a:ext cx="16386810" cy="2341626"/>
          </a:xfrm>
          <a:custGeom>
            <a:avLst/>
            <a:gdLst/>
            <a:ahLst/>
            <a:cxnLst/>
            <a:rect r="r" b="b" t="t" l="l"/>
            <a:pathLst>
              <a:path h="2341626" w="16386810">
                <a:moveTo>
                  <a:pt x="0" y="0"/>
                </a:moveTo>
                <a:lnTo>
                  <a:pt x="16386810" y="0"/>
                </a:lnTo>
                <a:lnTo>
                  <a:pt x="16386810" y="2341626"/>
                </a:lnTo>
                <a:lnTo>
                  <a:pt x="0" y="2341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52144" y="7762494"/>
            <a:ext cx="77449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WHAT WE'D ASK ALKEMY NEXT: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54351" y="8241535"/>
            <a:ext cx="3761804" cy="1152344"/>
          </a:xfrm>
          <a:custGeom>
            <a:avLst/>
            <a:gdLst/>
            <a:ahLst/>
            <a:cxnLst/>
            <a:rect r="r" b="b" t="t" l="l"/>
            <a:pathLst>
              <a:path h="1152344" w="3761804">
                <a:moveTo>
                  <a:pt x="0" y="0"/>
                </a:moveTo>
                <a:lnTo>
                  <a:pt x="3761803" y="0"/>
                </a:lnTo>
                <a:lnTo>
                  <a:pt x="3761803" y="1152344"/>
                </a:lnTo>
                <a:lnTo>
                  <a:pt x="0" y="11523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98448" y="8403336"/>
            <a:ext cx="327355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Which revisions were AI-caused vs client-driven?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5114287" y="8241535"/>
            <a:ext cx="3761803" cy="1152344"/>
          </a:xfrm>
          <a:custGeom>
            <a:avLst/>
            <a:gdLst/>
            <a:ahLst/>
            <a:cxnLst/>
            <a:rect r="r" b="b" t="t" l="l"/>
            <a:pathLst>
              <a:path h="1152344" w="3761803">
                <a:moveTo>
                  <a:pt x="0" y="0"/>
                </a:moveTo>
                <a:lnTo>
                  <a:pt x="3761803" y="0"/>
                </a:lnTo>
                <a:lnTo>
                  <a:pt x="3761803" y="1152344"/>
                </a:lnTo>
                <a:lnTo>
                  <a:pt x="0" y="11523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358384" y="8403336"/>
            <a:ext cx="327355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Which tools, prompts &amp; iterations were used per task?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174223" y="8241535"/>
            <a:ext cx="3761803" cy="1152344"/>
          </a:xfrm>
          <a:custGeom>
            <a:avLst/>
            <a:gdLst/>
            <a:ahLst/>
            <a:cxnLst/>
            <a:rect r="r" b="b" t="t" l="l"/>
            <a:pathLst>
              <a:path h="1152344" w="3761803">
                <a:moveTo>
                  <a:pt x="0" y="0"/>
                </a:moveTo>
                <a:lnTo>
                  <a:pt x="3761803" y="0"/>
                </a:lnTo>
                <a:lnTo>
                  <a:pt x="3761803" y="1152344"/>
                </a:lnTo>
                <a:lnTo>
                  <a:pt x="0" y="11523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418320" y="8403336"/>
            <a:ext cx="327355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Retention, upsell &amp; NPS after delivery?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234159" y="8241535"/>
            <a:ext cx="3670364" cy="1152344"/>
          </a:xfrm>
          <a:custGeom>
            <a:avLst/>
            <a:gdLst/>
            <a:ahLst/>
            <a:cxnLst/>
            <a:rect r="r" b="b" t="t" l="l"/>
            <a:pathLst>
              <a:path h="1152344" w="3670364">
                <a:moveTo>
                  <a:pt x="0" y="0"/>
                </a:moveTo>
                <a:lnTo>
                  <a:pt x="3670363" y="0"/>
                </a:lnTo>
                <a:lnTo>
                  <a:pt x="3670363" y="1152344"/>
                </a:lnTo>
                <a:lnTo>
                  <a:pt x="0" y="11523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478256" y="8403336"/>
            <a:ext cx="318211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Which tasks were under-scoped or repriced?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BLIND SPOTS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703" y="572519"/>
            <a:ext cx="2951417" cy="482536"/>
          </a:xfrm>
          <a:custGeom>
            <a:avLst/>
            <a:gdLst/>
            <a:ahLst/>
            <a:cxnLst/>
            <a:rect r="r" b="b" t="t" l="l"/>
            <a:pathLst>
              <a:path h="482536" w="2951417">
                <a:moveTo>
                  <a:pt x="0" y="0"/>
                </a:moveTo>
                <a:lnTo>
                  <a:pt x="2951417" y="0"/>
                </a:lnTo>
                <a:lnTo>
                  <a:pt x="2951417" y="482537"/>
                </a:lnTo>
                <a:lnTo>
                  <a:pt x="0" y="4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85216"/>
            <a:ext cx="2926080" cy="457200"/>
            <a:chOff x="0" y="0"/>
            <a:chExt cx="390144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609600"/>
            </a:xfrm>
            <a:custGeom>
              <a:avLst/>
              <a:gdLst/>
              <a:ahLst/>
              <a:cxnLst/>
              <a:rect r="r" b="b" t="t" l="l"/>
              <a:pathLst>
                <a:path h="6096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6" r="0" b="-746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78072"/>
            <a:ext cx="2926080" cy="464344"/>
            <a:chOff x="0" y="0"/>
            <a:chExt cx="3901440" cy="619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619125"/>
            </a:xfrm>
            <a:custGeom>
              <a:avLst/>
              <a:gdLst/>
              <a:ahLst/>
              <a:cxnLst/>
              <a:rect r="r" b="b" t="t" l="l"/>
              <a:pathLst>
                <a:path h="6191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19125"/>
                  </a:lnTo>
                  <a:lnTo>
                    <a:pt x="0" y="619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901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DECISIONS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43584"/>
            <a:ext cx="16459200" cy="1130741"/>
            <a:chOff x="0" y="0"/>
            <a:chExt cx="21945600" cy="1507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7617"/>
                  </a:lnTo>
                  <a:lnTo>
                    <a:pt x="0" y="15076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435" r="0" b="-2334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236440"/>
            <a:ext cx="16459200" cy="1137885"/>
            <a:chOff x="0" y="0"/>
            <a:chExt cx="21945600" cy="1517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7186"/>
            </a:xfrm>
            <a:custGeom>
              <a:avLst/>
              <a:gdLst/>
              <a:ahLst/>
              <a:cxnLst/>
              <a:rect r="r" b="b" t="t" l="l"/>
              <a:pathLst>
                <a:path h="151718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7186"/>
                  </a:lnTo>
                  <a:lnTo>
                    <a:pt x="0" y="151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1844" r="0" b="-2318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6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Three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2980944"/>
            <a:ext cx="950976" cy="950976"/>
            <a:chOff x="0" y="0"/>
            <a:chExt cx="1267968" cy="12679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2980944"/>
            <a:ext cx="950976" cy="950976"/>
            <a:chOff x="0" y="0"/>
            <a:chExt cx="1267968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973800"/>
            <a:ext cx="950976" cy="958120"/>
            <a:chOff x="0" y="0"/>
            <a:chExt cx="1267968" cy="12774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68" cy="1277493"/>
            </a:xfrm>
            <a:custGeom>
              <a:avLst/>
              <a:gdLst/>
              <a:ahLst/>
              <a:cxnLst/>
              <a:rect r="r" b="b" t="t" l="l"/>
              <a:pathLst>
                <a:path h="1277493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267" t="0" r="-7926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6796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288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5104" y="2871216"/>
            <a:ext cx="11887200" cy="585216"/>
            <a:chOff x="0" y="0"/>
            <a:chExt cx="158496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5514" r="0" b="-3455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75104" y="2864072"/>
            <a:ext cx="11887200" cy="592360"/>
            <a:chOff x="0" y="0"/>
            <a:chExt cx="15849600" cy="7898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49600" cy="789813"/>
            </a:xfrm>
            <a:custGeom>
              <a:avLst/>
              <a:gdLst/>
              <a:ahLst/>
              <a:cxnLst/>
              <a:rect r="r" b="b" t="t" l="l"/>
              <a:pathLst>
                <a:path h="789813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1016" r="0" b="-3410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5849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Restructure the pricing book before scaling AI further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75104" y="3529584"/>
            <a:ext cx="12141203" cy="1777994"/>
            <a:chOff x="0" y="0"/>
            <a:chExt cx="16188271" cy="23706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188310" cy="2370709"/>
            </a:xfrm>
            <a:custGeom>
              <a:avLst/>
              <a:gdLst/>
              <a:ahLst/>
              <a:cxnLst/>
              <a:rect r="r" b="b" t="t" l="l"/>
              <a:pathLst>
                <a:path h="2370709" w="16188310">
                  <a:moveTo>
                    <a:pt x="0" y="0"/>
                  </a:moveTo>
                  <a:lnTo>
                    <a:pt x="16188310" y="0"/>
                  </a:lnTo>
                  <a:lnTo>
                    <a:pt x="16188310" y="2370709"/>
                  </a:lnTo>
                  <a:lnTo>
                    <a:pt x="0" y="23707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960" r="0" b="-8295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75104" y="3515296"/>
            <a:ext cx="12141203" cy="1792291"/>
            <a:chOff x="0" y="0"/>
            <a:chExt cx="16188271" cy="23897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188271" cy="2389717"/>
            </a:xfrm>
            <a:custGeom>
              <a:avLst/>
              <a:gdLst/>
              <a:ahLst/>
              <a:cxnLst/>
              <a:rect r="r" b="b" t="t" l="l"/>
              <a:pathLst>
                <a:path h="2389717" w="16188271">
                  <a:moveTo>
                    <a:pt x="0" y="0"/>
                  </a:moveTo>
                  <a:lnTo>
                    <a:pt x="16188271" y="0"/>
                  </a:lnTo>
                  <a:lnTo>
                    <a:pt x="16188271" y="2389717"/>
                  </a:lnTo>
                  <a:lnTo>
                    <a:pt x="0" y="23897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994" r="0" b="-819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6188271" cy="2408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4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Treat AI adoption as binary per workflow. &lt;30% costs more than it produces; 30–60% positive but not efficient; &gt;60% profit + time dividends consolidate. The 10–50% band is worse than either extreme.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221711" y="2974591"/>
            <a:ext cx="3341180" cy="963740"/>
          </a:xfrm>
          <a:custGeom>
            <a:avLst/>
            <a:gdLst/>
            <a:ahLst/>
            <a:cxnLst/>
            <a:rect r="r" b="b" t="t" l="l"/>
            <a:pathLst>
              <a:path h="963740" w="3341180">
                <a:moveTo>
                  <a:pt x="0" y="0"/>
                </a:moveTo>
                <a:lnTo>
                  <a:pt x="3341179" y="0"/>
                </a:lnTo>
                <a:lnTo>
                  <a:pt x="3341179" y="963739"/>
                </a:lnTo>
                <a:lnTo>
                  <a:pt x="0" y="963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228064" y="2980944"/>
            <a:ext cx="3328416" cy="950976"/>
            <a:chOff x="0" y="0"/>
            <a:chExt cx="4437888" cy="12679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50" r="0" b="-1815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228064" y="2973800"/>
            <a:ext cx="3328416" cy="958120"/>
            <a:chOff x="0" y="0"/>
            <a:chExt cx="4437888" cy="12774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37888" cy="1277493"/>
            </a:xfrm>
            <a:custGeom>
              <a:avLst/>
              <a:gdLst/>
              <a:ahLst/>
              <a:cxnLst/>
              <a:rect r="r" b="b" t="t" l="l"/>
              <a:pathLst>
                <a:path h="1277493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89" r="0" b="-1768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43788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€540/task structural recovery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" y="5449824"/>
            <a:ext cx="950976" cy="950976"/>
            <a:chOff x="0" y="0"/>
            <a:chExt cx="1267968" cy="12679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5449824"/>
            <a:ext cx="950976" cy="950976"/>
            <a:chOff x="0" y="0"/>
            <a:chExt cx="1267968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31520" y="5442680"/>
            <a:ext cx="950976" cy="958120"/>
            <a:chOff x="0" y="0"/>
            <a:chExt cx="1267968" cy="127749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7968" cy="1277493"/>
            </a:xfrm>
            <a:custGeom>
              <a:avLst/>
              <a:gdLst/>
              <a:ahLst/>
              <a:cxnLst/>
              <a:rect r="r" b="b" t="t" l="l"/>
              <a:pathLst>
                <a:path h="1277493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267" t="0" r="-7926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26796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288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75104" y="5340096"/>
            <a:ext cx="11887200" cy="585216"/>
            <a:chOff x="0" y="0"/>
            <a:chExt cx="1584960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5514" r="0" b="-34551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975104" y="5332952"/>
            <a:ext cx="11887200" cy="592360"/>
            <a:chOff x="0" y="0"/>
            <a:chExt cx="15849600" cy="7898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849600" cy="789813"/>
            </a:xfrm>
            <a:custGeom>
              <a:avLst/>
              <a:gdLst/>
              <a:ahLst/>
              <a:cxnLst/>
              <a:rect r="r" b="b" t="t" l="l"/>
              <a:pathLst>
                <a:path h="789813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1016" r="0" b="-34101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5849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Set AI floors: 30% minimum floor, 60% efficiency threshold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75104" y="5998464"/>
            <a:ext cx="12141203" cy="1777994"/>
            <a:chOff x="0" y="0"/>
            <a:chExt cx="16188271" cy="23706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188310" cy="2370709"/>
            </a:xfrm>
            <a:custGeom>
              <a:avLst/>
              <a:gdLst/>
              <a:ahLst/>
              <a:cxnLst/>
              <a:rect r="r" b="b" t="t" l="l"/>
              <a:pathLst>
                <a:path h="2370709" w="16188310">
                  <a:moveTo>
                    <a:pt x="0" y="0"/>
                  </a:moveTo>
                  <a:lnTo>
                    <a:pt x="16188310" y="0"/>
                  </a:lnTo>
                  <a:lnTo>
                    <a:pt x="16188310" y="2370709"/>
                  </a:lnTo>
                  <a:lnTo>
                    <a:pt x="0" y="23707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960" r="0" b="-8295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75104" y="5984176"/>
            <a:ext cx="12141203" cy="1792291"/>
            <a:chOff x="0" y="0"/>
            <a:chExt cx="16188271" cy="23897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188271" cy="2389717"/>
            </a:xfrm>
            <a:custGeom>
              <a:avLst/>
              <a:gdLst/>
              <a:ahLst/>
              <a:cxnLst/>
              <a:rect r="r" b="b" t="t" l="l"/>
              <a:pathLst>
                <a:path h="2389717" w="16188271">
                  <a:moveTo>
                    <a:pt x="0" y="0"/>
                  </a:moveTo>
                  <a:lnTo>
                    <a:pt x="16188271" y="0"/>
                  </a:lnTo>
                  <a:lnTo>
                    <a:pt x="16188271" y="2389717"/>
                  </a:lnTo>
                  <a:lnTo>
                    <a:pt x="0" y="23897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994" r="0" b="-819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6188271" cy="2408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4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Migrate AI-eligible work off hourly contracts. Priority: senior engagements (hourly senior = −€78/task vs value-based = +€511). The data justifies the pitch.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4221711" y="5443471"/>
            <a:ext cx="3341180" cy="963739"/>
          </a:xfrm>
          <a:custGeom>
            <a:avLst/>
            <a:gdLst/>
            <a:ahLst/>
            <a:cxnLst/>
            <a:rect r="r" b="b" t="t" l="l"/>
            <a:pathLst>
              <a:path h="963739" w="3341180">
                <a:moveTo>
                  <a:pt x="0" y="0"/>
                </a:moveTo>
                <a:lnTo>
                  <a:pt x="3341179" y="0"/>
                </a:lnTo>
                <a:lnTo>
                  <a:pt x="3341179" y="963739"/>
                </a:lnTo>
                <a:lnTo>
                  <a:pt x="0" y="963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4228064" y="5449824"/>
            <a:ext cx="3328416" cy="950976"/>
            <a:chOff x="0" y="0"/>
            <a:chExt cx="4437888" cy="1267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50" r="0" b="-1815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228064" y="5442680"/>
            <a:ext cx="3328416" cy="958120"/>
            <a:chOff x="0" y="0"/>
            <a:chExt cx="4437888" cy="127749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37888" cy="1277493"/>
            </a:xfrm>
            <a:custGeom>
              <a:avLst/>
              <a:gdLst/>
              <a:ahLst/>
              <a:cxnLst/>
              <a:rect r="r" b="b" t="t" l="l"/>
              <a:pathLst>
                <a:path h="1277493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89" r="0" b="-176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43788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€242/task lift on migrated volume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1520" y="7918704"/>
            <a:ext cx="950976" cy="950976"/>
            <a:chOff x="0" y="0"/>
            <a:chExt cx="1267968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2229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31520" y="7918704"/>
            <a:ext cx="950976" cy="950976"/>
            <a:chOff x="0" y="0"/>
            <a:chExt cx="1267968" cy="12679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31520" y="7911560"/>
            <a:ext cx="950976" cy="958120"/>
            <a:chOff x="0" y="0"/>
            <a:chExt cx="1267968" cy="12774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67968" cy="1277493"/>
            </a:xfrm>
            <a:custGeom>
              <a:avLst/>
              <a:gdLst/>
              <a:ahLst/>
              <a:cxnLst/>
              <a:rect r="r" b="b" t="t" l="l"/>
              <a:pathLst>
                <a:path h="1277493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267" t="0" r="-7926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26796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288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75104" y="7808976"/>
            <a:ext cx="11887200" cy="585216"/>
            <a:chOff x="0" y="0"/>
            <a:chExt cx="15849600" cy="7802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5514" r="0" b="-345514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975104" y="7801832"/>
            <a:ext cx="11887200" cy="592360"/>
            <a:chOff x="0" y="0"/>
            <a:chExt cx="15849600" cy="7898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849600" cy="789813"/>
            </a:xfrm>
            <a:custGeom>
              <a:avLst/>
              <a:gdLst/>
              <a:ahLst/>
              <a:cxnLst/>
              <a:rect r="r" b="b" t="t" l="l"/>
              <a:pathLst>
                <a:path h="789813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1016" r="0" b="-3410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5849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Reposition seniors as AI force multipliers : remove from low-AI execution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975104" y="8467344"/>
            <a:ext cx="12141203" cy="1777994"/>
            <a:chOff x="0" y="0"/>
            <a:chExt cx="16188271" cy="237065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188310" cy="2370709"/>
            </a:xfrm>
            <a:custGeom>
              <a:avLst/>
              <a:gdLst/>
              <a:ahLst/>
              <a:cxnLst/>
              <a:rect r="r" b="b" t="t" l="l"/>
              <a:pathLst>
                <a:path h="2370709" w="16188310">
                  <a:moveTo>
                    <a:pt x="0" y="0"/>
                  </a:moveTo>
                  <a:lnTo>
                    <a:pt x="16188310" y="0"/>
                  </a:lnTo>
                  <a:lnTo>
                    <a:pt x="16188310" y="2370709"/>
                  </a:lnTo>
                  <a:lnTo>
                    <a:pt x="0" y="23707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960" r="0" b="-82959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75104" y="8453056"/>
            <a:ext cx="12141203" cy="1792291"/>
            <a:chOff x="0" y="0"/>
            <a:chExt cx="16188271" cy="238972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188271" cy="2389717"/>
            </a:xfrm>
            <a:custGeom>
              <a:avLst/>
              <a:gdLst/>
              <a:ahLst/>
              <a:cxnLst/>
              <a:rect r="r" b="b" t="t" l="l"/>
              <a:pathLst>
                <a:path h="2389717" w="16188271">
                  <a:moveTo>
                    <a:pt x="0" y="0"/>
                  </a:moveTo>
                  <a:lnTo>
                    <a:pt x="16188271" y="0"/>
                  </a:lnTo>
                  <a:lnTo>
                    <a:pt x="16188271" y="2389717"/>
                  </a:lnTo>
                  <a:lnTo>
                    <a:pt x="0" y="23897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994" r="0" b="-8199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6188271" cy="2408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400" b="true">
                  <a:solidFill>
                    <a:srgbClr val="233D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Senior-led tasks must pass two conditions: AI usage ≥60% AND fixed/value-based contract. Redirect seniors to 80–100% AI workflows where the €3,935 ceiling is observed.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4217653" y="7918447"/>
            <a:ext cx="3340132" cy="952500"/>
          </a:xfrm>
          <a:custGeom>
            <a:avLst/>
            <a:gdLst/>
            <a:ahLst/>
            <a:cxnLst/>
            <a:rect r="r" b="b" t="t" l="l"/>
            <a:pathLst>
              <a:path h="952500" w="3340132">
                <a:moveTo>
                  <a:pt x="0" y="0"/>
                </a:moveTo>
                <a:lnTo>
                  <a:pt x="3340132" y="0"/>
                </a:lnTo>
                <a:lnTo>
                  <a:pt x="3340132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4228064" y="7918704"/>
            <a:ext cx="3328416" cy="950976"/>
            <a:chOff x="0" y="0"/>
            <a:chExt cx="4437888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50" r="0" b="-1815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228064" y="7911560"/>
            <a:ext cx="3328416" cy="958120"/>
            <a:chOff x="0" y="0"/>
            <a:chExt cx="4437888" cy="127749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37888" cy="1277493"/>
            </a:xfrm>
            <a:custGeom>
              <a:avLst/>
              <a:gdLst/>
              <a:ahLst/>
              <a:cxnLst/>
              <a:rect r="r" b="b" t="t" l="l"/>
              <a:pathLst>
                <a:path h="1277493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89" r="0" b="-1768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4437888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Senior margin reversal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55568" cy="10287000"/>
            <a:chOff x="0" y="0"/>
            <a:chExt cx="47409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09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74091">
                  <a:moveTo>
                    <a:pt x="0" y="0"/>
                  </a:moveTo>
                  <a:lnTo>
                    <a:pt x="474091" y="0"/>
                  </a:lnTo>
                  <a:lnTo>
                    <a:pt x="47409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0" y="2031997"/>
            <a:ext cx="15240000" cy="609600"/>
            <a:chOff x="0" y="0"/>
            <a:chExt cx="203200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787" r="0" b="-4367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4000" y="2024853"/>
            <a:ext cx="15240000" cy="616744"/>
            <a:chOff x="0" y="0"/>
            <a:chExt cx="20320000" cy="8223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822325"/>
            </a:xfrm>
            <a:custGeom>
              <a:avLst/>
              <a:gdLst/>
              <a:ahLst/>
              <a:cxnLst/>
              <a:rect r="r" b="b" t="t" l="l"/>
              <a:pathLst>
                <a:path h="822325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22325"/>
                  </a:lnTo>
                  <a:lnTo>
                    <a:pt x="0" y="8223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483" r="0" b="-4314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831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BOTTOM LINE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000" y="3162300"/>
            <a:ext cx="16764000" cy="309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1"/>
              </a:lnSpc>
            </a:pPr>
            <a:r>
              <a:rPr lang="en-US" sz="10800" b="true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technology is doing its job.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4000" y="7346947"/>
            <a:ext cx="5079968" cy="38100"/>
            <a:chOff x="0" y="0"/>
            <a:chExt cx="6773291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291" cy="50800"/>
            </a:xfrm>
            <a:custGeom>
              <a:avLst/>
              <a:gdLst/>
              <a:ahLst/>
              <a:cxnLst/>
              <a:rect r="r" b="b" t="t" l="l"/>
              <a:pathLst>
                <a:path h="50800" w="6773291">
                  <a:moveTo>
                    <a:pt x="0" y="0"/>
                  </a:moveTo>
                  <a:lnTo>
                    <a:pt x="6773291" y="0"/>
                  </a:lnTo>
                  <a:lnTo>
                    <a:pt x="67732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33D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24000" y="7746997"/>
            <a:ext cx="16764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b="true" sz="5580" spc="44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BUSINESS MODEL IS THE BOTTLENECK.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DAHIP3xeIv0</dc:identifier>
  <dcterms:modified xsi:type="dcterms:W3CDTF">2011-08-01T06:04:30Z</dcterms:modified>
  <cp:revision>1</cp:revision>
  <dc:title>ai_productivity_alkemy_v3.pptx</dc:title>
</cp:coreProperties>
</file>
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0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0C040"/>
                </a:solidFill>
              </a:rPr>
              <a:t>AI PRODUCTIVITY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Does AI Help or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Hurt the Business?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</a:rPr>
              <a:t>A data analysis of 3,186 professional service tasks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99AA"/>
                </a:solidFill>
              </a:rPr>
              <a:t>across Content, Design, SEO, and Media teams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7432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77AA"/>
                </a:solidFill>
              </a:rPr>
              <a:t>Alexandra Tabarani  ·  Gabriele Loreti  ·  Edoardo Cocciò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566"/>
                </a:solidFill>
              </a:rPr>
              <a:t>Presented to Alkemy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0C040"/>
                </a:solidFill>
              </a:rPr>
              <a:t>THE QUESTION WE ANSWERED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1A1A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556A"/>
                </a:solidFill>
              </a:rPr>
              <a:t>Does AI help?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417320"/>
          </a:xfrm>
          <a:prstGeom prst="rect">
            <a:avLst/>
          </a:prstGeom>
          <a:solidFill>
            <a:srgbClr val="12202A"/>
          </a:solidFill>
          <a:ln w="254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Under what conditions does AI capture margin and under what conditions does it destroy it?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743200" cy="96012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4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BB"/>
                </a:solidFill>
              </a:rPr>
              <a:t>At what AI usage level does the profit effect cross zero?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3429000"/>
            <a:ext cx="2743200" cy="96012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44"/>
            </a:solidFill>
            <a:prstDash val="solid"/>
          </a:ln>
        </p:spPr>
        <p:txBody>
          <a:bodyPr/>
          <a:lstStyle/>
          <a:p>
            <a:endParaRPr lang="en-IT" dirty="0"/>
          </a:p>
        </p:txBody>
      </p:sp>
      <p:sp>
        <p:nvSpPr>
          <p:cNvPr id="10" name="Text 8"/>
          <p:cNvSpPr/>
          <p:nvPr/>
        </p:nvSpPr>
        <p:spPr>
          <a:xfrm>
            <a:off x="347472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BB"/>
                </a:solidFill>
              </a:rPr>
              <a:t>What is the mechanism:  hours or quality?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3429000"/>
            <a:ext cx="2743200" cy="960120"/>
          </a:xfrm>
          <a:prstGeom prst="rect">
            <a:avLst/>
          </a:prstGeom>
          <a:solidFill>
            <a:srgbClr val="161624"/>
          </a:solidFill>
          <a:ln w="12700">
            <a:solidFill>
              <a:srgbClr val="2A2A4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9BB"/>
                </a:solidFill>
              </a:rPr>
              <a:t>Which contract structures capture the productivity dividend?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THE 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1C2E"/>
                </a:solidFill>
              </a:rPr>
              <a:t>3,186 tasks. One agency. Real P&amp;L.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6A"/>
                </a:solidFill>
              </a:rPr>
              <a:t>Every row is a delivered task with revenue, cost, hours, AI usage, and outcome recorded.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12801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</a:rPr>
              <a:t>3,186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</a:rPr>
              <a:t>Tasks Analyzed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1600200"/>
            <a:ext cx="1965960" cy="12801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2487168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</a:rPr>
              <a:t>4 Teams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87168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</a:rPr>
              <a:t>Content · Design · SEO · Media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1600200"/>
            <a:ext cx="1965960" cy="12801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608576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</a:rPr>
              <a:t>3 Levels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0857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</a:rPr>
              <a:t>Junior · Mid · Senior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9984" y="1600200"/>
            <a:ext cx="1965960" cy="128016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729984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</a:rPr>
              <a:t>0 - 100%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9984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A"/>
                </a:solidFill>
              </a:rPr>
              <a:t>AI Usage Range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A9D8F"/>
                </a:solidFill>
              </a:rPr>
              <a:t>KEY VARIABLES TRACKED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ai_usage_pct (0–100%)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87168" y="34290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48716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profit = revenue − 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08576" y="34290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608576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hours_spent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34290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729984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rework_hours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pricing_model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8862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4871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seniority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08576" y="38862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4608576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sla_breach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9984" y="3886200"/>
            <a:ext cx="2011680" cy="365760"/>
          </a:xfrm>
          <a:prstGeom prst="rect">
            <a:avLst/>
          </a:prstGeom>
          <a:solidFill>
            <a:srgbClr val="EEF2F8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6729984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1C2E"/>
                </a:solidFill>
              </a:rPr>
              <a:t>outcome_score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FINDING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104417" y="149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AI works: but only above a threshold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02789" y="4066551"/>
            <a:ext cx="2912785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102789" y="4066551"/>
            <a:ext cx="54372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267381" y="4157991"/>
            <a:ext cx="2695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Profit nearly doubles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7381" y="4414023"/>
            <a:ext cx="26952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€232 in low band rises to €474 in high band. Medium AI barely moves the needle — the jump happens above 50%.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25794" y="4066551"/>
            <a:ext cx="266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3125794" y="4066551"/>
            <a:ext cx="49772" cy="9875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3290386" y="4157991"/>
            <a:ext cx="246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The 50% phase change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90386" y="4414023"/>
            <a:ext cx="246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Below 50%, gains are modest and barely separable from noise. Above 50%, profit improvement accelerates sharply.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17335" y="4066551"/>
            <a:ext cx="2860905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917335" y="4066551"/>
            <a:ext cx="53404" cy="9875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81927" y="4157991"/>
            <a:ext cx="26472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Loss rate collapses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81927" y="4414023"/>
            <a:ext cx="26472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SLA breaches fall 44% → 32%. Loss rate drops 31% → 19%. AI de-risks delivery, not just speeds it up.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E60589-EFD9-DFE4-C292-13E0DEB89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"/>
          <a:stretch>
            <a:fillRect/>
          </a:stretch>
        </p:blipFill>
        <p:spPr>
          <a:xfrm>
            <a:off x="804740" y="739809"/>
            <a:ext cx="7534519" cy="15587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548C85-BAAA-6E60-4609-FAE931AB8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933" y="2390028"/>
            <a:ext cx="5518169" cy="1570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FINDING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The mechanism is hours, not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2E"/>
                </a:solidFill>
              </a:rPr>
              <a:t>Once hours_spent enters the OLS model: errors, revisions, rework, outcome_score all become statistically insignificant (p &gt; 0.4)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260604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0C040"/>
                </a:solidFill>
              </a:rPr>
              <a:t>HOW AI ACTS ON PROFIT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compresses hours.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</a:rPr>
              <a:t>The contract decides where those hours go: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840480" cy="384048"/>
          </a:xfrm>
          <a:prstGeom prst="rect">
            <a:avLst/>
          </a:prstGeom>
          <a:solidFill>
            <a:srgbClr val="0D2010"/>
          </a:solidFill>
          <a:ln w="12700">
            <a:solidFill>
              <a:srgbClr val="0D402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</a:rPr>
              <a:t>Agency margin  (fixed / value-based)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840480" cy="384048"/>
          </a:xfrm>
          <a:prstGeom prst="rect">
            <a:avLst/>
          </a:prstGeom>
          <a:solidFill>
            <a:srgbClr val="200A08"/>
          </a:solidFill>
          <a:ln w="12700">
            <a:solidFill>
              <a:srgbClr val="44100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C3A"/>
                </a:solidFill>
              </a:rPr>
              <a:t>Client discount  (hourly)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7AA"/>
                </a:solidFill>
              </a:rPr>
              <a:t>Net efficiency: −2.0 hrs saved / +0.9 hrs rework = 1.1 hrs net gain per task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A9D8F"/>
                </a:solidFill>
              </a:rPr>
              <a:t>OLS COEFFICIENTS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347472"/>
          </a:xfrm>
          <a:prstGeom prst="rect">
            <a:avLst/>
          </a:prstGeom>
          <a:solidFill>
            <a:srgbClr val="F8F9FC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2E"/>
                </a:solidFill>
              </a:rPr>
              <a:t>ai_usage_pct coefficient (OLS)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2423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A9D8F"/>
                </a:solidFill>
              </a:rPr>
              <a:t>+€222 at full adoption (p=0.015)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281635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2E"/>
                </a:solidFill>
              </a:rPr>
              <a:t>hours_spent coefficient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2816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C040"/>
                </a:solidFill>
              </a:rPr>
              <a:t>−€5/hr (p=0.034)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9544"/>
            <a:ext cx="4023360" cy="347472"/>
          </a:xfrm>
          <a:prstGeom prst="rect">
            <a:avLst/>
          </a:prstGeom>
          <a:solidFill>
            <a:srgbClr val="F8F9FC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846320" y="3209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2E"/>
                </a:solidFill>
              </a:rPr>
              <a:t>Quality vars once hours enter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40880" y="3209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45C3A"/>
                </a:solidFill>
              </a:rPr>
              <a:t>All insignificant p&gt;0.4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60273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846320" y="3602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2E"/>
                </a:solidFill>
              </a:rPr>
              <a:t>Rework quadratic term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A4A6A"/>
                </a:solidFill>
              </a:rPr>
              <a:t>p=0.605 — no tipping point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995928"/>
            <a:ext cx="4023360" cy="347472"/>
          </a:xfrm>
          <a:prstGeom prst="rect">
            <a:avLst/>
          </a:prstGeom>
          <a:solidFill>
            <a:srgbClr val="F8F9FC"/>
          </a:solidFill>
          <a:ln w="12700">
            <a:solidFill>
              <a:srgbClr val="E4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4846320" y="3995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1C2E"/>
                </a:solidFill>
              </a:rPr>
              <a:t>AI × rework interaction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40880" y="3995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4A4A6A"/>
                </a:solidFill>
              </a:rPr>
              <a:t>p=0.80 — not a quality channel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C8F075-18B1-AA84-8B24-24A42592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67" y="2547311"/>
            <a:ext cx="5842495" cy="2571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EC1FE-D8FC-BE3A-5D88-11C34982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778" y="272051"/>
            <a:ext cx="5903250" cy="2074781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0D21DE71-438E-3302-787C-CB83993EF132}"/>
              </a:ext>
            </a:extLst>
          </p:cNvPr>
          <p:cNvSpPr/>
          <p:nvPr/>
        </p:nvSpPr>
        <p:spPr>
          <a:xfrm>
            <a:off x="122981" y="1218002"/>
            <a:ext cx="295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2A87841-8765-3E85-A8EF-7C644A20D557}"/>
              </a:ext>
            </a:extLst>
          </p:cNvPr>
          <p:cNvSpPr/>
          <p:nvPr/>
        </p:nvSpPr>
        <p:spPr>
          <a:xfrm>
            <a:off x="122981" y="1218002"/>
            <a:ext cx="60755" cy="1051560"/>
          </a:xfrm>
          <a:prstGeom prst="rect">
            <a:avLst/>
          </a:prstGeom>
          <a:solidFill>
            <a:srgbClr val="E45C3A"/>
          </a:solidFill>
          <a:ln w="12700">
            <a:solidFill>
              <a:srgbClr val="E45C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B47BFCC-0FE3-F7BA-DC9E-65B8084DC3BA}"/>
              </a:ext>
            </a:extLst>
          </p:cNvPr>
          <p:cNvSpPr/>
          <p:nvPr/>
        </p:nvSpPr>
        <p:spPr>
          <a:xfrm>
            <a:off x="287573" y="1309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050" b="1" dirty="0"/>
              <a:t>The Net Gain Pivot</a:t>
            </a:r>
            <a:endParaRPr lang="en-US" sz="10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60F2ED3-4496-A4F1-C98B-462BF4186F74}"/>
              </a:ext>
            </a:extLst>
          </p:cNvPr>
          <p:cNvSpPr/>
          <p:nvPr/>
        </p:nvSpPr>
        <p:spPr>
          <a:xfrm>
            <a:off x="287573" y="1565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dirty="0"/>
              <a:t>AI is a net time loss until crossing the </a:t>
            </a:r>
            <a:r>
              <a:rPr lang="en-GB" sz="900" b="1" dirty="0"/>
              <a:t>50–60% usage threshold</a:t>
            </a:r>
            <a:r>
              <a:rPr lang="en-GB" sz="900" dirty="0"/>
              <a:t>. Below this point, extra rework cancels out any advantages; above it, speed gains finally overwhelm the cost of correction, leading to a massive productivity spike.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784FD9-E411-B005-C1ED-EFE16D8AAC21}"/>
              </a:ext>
            </a:extLst>
          </p:cNvPr>
          <p:cNvSpPr/>
          <p:nvPr/>
        </p:nvSpPr>
        <p:spPr>
          <a:xfrm>
            <a:off x="122981" y="2361002"/>
            <a:ext cx="295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2F93E70-1CB9-EB11-B464-65DC0B17B8B4}"/>
              </a:ext>
            </a:extLst>
          </p:cNvPr>
          <p:cNvSpPr/>
          <p:nvPr/>
        </p:nvSpPr>
        <p:spPr>
          <a:xfrm>
            <a:off x="122981" y="2361002"/>
            <a:ext cx="60755" cy="10515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07179E-29F2-08FF-6C41-EB66F3328A58}"/>
              </a:ext>
            </a:extLst>
          </p:cNvPr>
          <p:cNvSpPr/>
          <p:nvPr/>
        </p:nvSpPr>
        <p:spPr>
          <a:xfrm>
            <a:off x="287573" y="2452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050" b="1" dirty="0"/>
              <a:t>The Production Swap</a:t>
            </a:r>
            <a:endParaRPr lang="en-US" sz="10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91D2A5A-00C3-C0DC-0675-FE7470BC684D}"/>
              </a:ext>
            </a:extLst>
          </p:cNvPr>
          <p:cNvSpPr/>
          <p:nvPr/>
        </p:nvSpPr>
        <p:spPr>
          <a:xfrm>
            <a:off x="287573" y="2708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dirty="0"/>
              <a:t>High-intensity AI usage radically reduces initial </a:t>
            </a:r>
            <a:r>
              <a:rPr lang="en-GB" sz="900" b="1" dirty="0"/>
              <a:t>Hours Spent</a:t>
            </a:r>
            <a:r>
              <a:rPr lang="en-GB" sz="900" dirty="0"/>
              <a:t> while driving up </a:t>
            </a:r>
            <a:r>
              <a:rPr lang="en-GB" sz="900" b="1" dirty="0"/>
              <a:t>Rework Hours</a:t>
            </a:r>
            <a:r>
              <a:rPr lang="en-GB" sz="900" dirty="0"/>
              <a:t>. This shift fundamentally redefines the </a:t>
            </a:r>
            <a:r>
              <a:rPr lang="en-GB" sz="900" dirty="0" err="1"/>
              <a:t>labor</a:t>
            </a:r>
            <a:r>
              <a:rPr lang="en-GB" sz="900" dirty="0"/>
              <a:t> model, moving the primary human workload from "original creation" to "downstream iteration and correction."</a:t>
            </a:r>
            <a:endParaRPr lang="en-US" sz="9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2780727-8E77-031B-1100-CCD737316F4B}"/>
              </a:ext>
            </a:extLst>
          </p:cNvPr>
          <p:cNvSpPr/>
          <p:nvPr/>
        </p:nvSpPr>
        <p:spPr>
          <a:xfrm>
            <a:off x="122981" y="3504002"/>
            <a:ext cx="295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37C3395-6FA6-9926-089A-AF3070F7EF07}"/>
              </a:ext>
            </a:extLst>
          </p:cNvPr>
          <p:cNvSpPr/>
          <p:nvPr/>
        </p:nvSpPr>
        <p:spPr>
          <a:xfrm>
            <a:off x="122981" y="3504002"/>
            <a:ext cx="60755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BF8EA27-AAF9-8526-D0D6-2CF3182F74B9}"/>
              </a:ext>
            </a:extLst>
          </p:cNvPr>
          <p:cNvSpPr/>
          <p:nvPr/>
        </p:nvSpPr>
        <p:spPr>
          <a:xfrm>
            <a:off x="287573" y="3595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050" b="1" dirty="0"/>
              <a:t>Quality Neutrality</a:t>
            </a:r>
            <a:endParaRPr lang="en-US" sz="10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4AA3621-4079-1A8C-EE5F-4345A1499A64}"/>
              </a:ext>
            </a:extLst>
          </p:cNvPr>
          <p:cNvSpPr/>
          <p:nvPr/>
        </p:nvSpPr>
        <p:spPr>
          <a:xfrm>
            <a:off x="287573" y="3851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900" dirty="0"/>
              <a:t>Despite the "messier" operational workflow and higher rework, the </a:t>
            </a:r>
            <a:r>
              <a:rPr lang="en-GB" sz="900" b="1" dirty="0"/>
              <a:t>Outcome Score</a:t>
            </a:r>
            <a:r>
              <a:rPr lang="en-GB" sz="900" dirty="0"/>
              <a:t> remains virtually identical across all bands. This proves that high-speed AI iteration maintains professional standards while significantly shortening the total production cycle.</a:t>
            </a:r>
            <a:endParaRPr lang="en-US" sz="9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C49C3-C7EC-7C28-33A6-2A50EF54EF3D}"/>
              </a:ext>
            </a:extLst>
          </p:cNvPr>
          <p:cNvSpPr txBox="1"/>
          <p:nvPr/>
        </p:nvSpPr>
        <p:spPr>
          <a:xfrm>
            <a:off x="122981" y="401913"/>
            <a:ext cx="2950960" cy="64633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b="1" dirty="0"/>
              <a:t>The Efficiency Dividend: Trading Rework for Speed</a:t>
            </a:r>
            <a:endParaRPr lang="en-IT" b="1" dirty="0"/>
          </a:p>
        </p:txBody>
      </p:sp>
    </p:spTree>
    <p:extLst>
      <p:ext uri="{BB962C8B-B14F-4D97-AF65-F5344CB8AC3E}">
        <p14:creationId xmlns:p14="http://schemas.microsoft.com/office/powerpoint/2010/main" val="140106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FINDING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1C2E"/>
                </a:solidFill>
              </a:rPr>
              <a:t>The pricing model is the bottleneck, not the technology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260604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C040"/>
                </a:solidFill>
              </a:rPr>
              <a:t>€870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per-task gap between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hourly (€202) 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value-based (€1,073)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9BB"/>
                </a:solidFill>
              </a:rPr>
              <a:t>at high AI usage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4480560"/>
            <a:ext cx="2011680" cy="438912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5720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6A"/>
                </a:solidFill>
              </a:rPr>
              <a:t>OLS: Hourly vs Fixed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45C3A"/>
                </a:solidFill>
              </a:rPr>
              <a:t>-€254/task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4480560"/>
            <a:ext cx="2011680" cy="438912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260604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6A"/>
                </a:solidFill>
              </a:rPr>
              <a:t>OLS: Value vs Fixed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60604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+€286/task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4480560"/>
            <a:ext cx="2011680" cy="438912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475488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6A"/>
                </a:solidFill>
              </a:rPr>
              <a:t>AI × Hourly interaction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45C3A"/>
                </a:solidFill>
              </a:rPr>
              <a:t>-€701 (p&lt;0.001)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12280" y="4480560"/>
            <a:ext cx="2011680" cy="438912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6"/>
          <p:cNvSpPr/>
          <p:nvPr/>
        </p:nvSpPr>
        <p:spPr>
          <a:xfrm>
            <a:off x="690372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6A"/>
                </a:solidFill>
              </a:rPr>
              <a:t>Hourly loss rate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90372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45C3A"/>
                </a:solidFill>
              </a:rPr>
              <a:t>34% vs 16%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9B3521-E731-8D6A-66D5-3FF9BA7E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49" y="1459751"/>
            <a:ext cx="5712898" cy="2380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FINDING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Not all work responds equally to AI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9443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 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 — Low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Profit — High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Multiplier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€146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€701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4.8×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Push to 70–80%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Dev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€297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€587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2.0×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Push to 70–80%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Report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€311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€559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1.8×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Push to 70–80%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Design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€280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€490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1.7×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9D8F"/>
                          </a:solidFill>
                        </a:rPr>
                        <a:t>Push to 60–70%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Article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€318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€368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C040"/>
                          </a:solidFill>
                        </a:rPr>
                        <a:t>~1.1×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45C3A"/>
                          </a:solidFill>
                        </a:rPr>
                        <a:t>Cap at 50% — inverted-U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Ad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€205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1C2E"/>
                          </a:solidFill>
                        </a:rPr>
                        <a:t>€310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C040"/>
                          </a:solidFill>
                        </a:rPr>
                        <a:t>~1.5×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45C3A"/>
                          </a:solidFill>
                        </a:rPr>
                        <a:t>Cap at 50% — inverted-U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4A6A"/>
                </a:solidFill>
              </a:rPr>
              <a:t>Release, Dev, Report: push AI usage hard.    Article, Ad: performance peaks at medium AI then reverses — cap at 50%.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FINDING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Seniority is your biggest risk variable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69080" cy="3611880"/>
          </a:xfrm>
          <a:prstGeom prst="rect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45C3A"/>
                </a:solidFill>
              </a:rPr>
              <a:t>SENIORS AT LOW AI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45C3A"/>
                </a:solidFill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</a:rPr>
              <a:t>loss rate — worst in the workforce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677AA"/>
                </a:solidFill>
              </a:rPr>
              <a:t>Expensive billing rates cannot justify manual execution.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77AA"/>
                </a:solidFill>
              </a:rPr>
              <a:t>OLS: each seniority level costs -€173/task at baseline.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6677AA"/>
                </a:solidFill>
              </a:rPr>
              <a:t>Every unassisted senior hour compresses margin.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3794760" cy="502920"/>
          </a:xfrm>
          <a:prstGeom prst="rect">
            <a:avLst/>
          </a:prstGeom>
          <a:solidFill>
            <a:srgbClr val="200A08"/>
          </a:solidFill>
          <a:ln w="12700">
            <a:solidFill>
              <a:srgbClr val="4410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943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E45C3A"/>
                </a:solidFill>
              </a:rPr>
              <a:t>AI isn't optional for seniors — it's the only viable configuration.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069080" cy="3611880"/>
          </a:xfrm>
          <a:prstGeom prst="rect">
            <a:avLst/>
          </a:prstGeom>
          <a:solidFill>
            <a:srgbClr val="1A1A10"/>
          </a:solidFill>
          <a:ln w="12700">
            <a:solidFill>
              <a:srgbClr val="1A1A1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0C040"/>
                </a:solidFill>
              </a:rPr>
              <a:t>SENIORS AT HIGH AI + RIGHT CONTRACT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0C040"/>
                </a:solidFill>
              </a:rPr>
              <a:t>€3,935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88"/>
                </a:solidFill>
              </a:rPr>
              <a:t>mean profit per task (~8x dataset median)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</a:rPr>
              <a:t>AI interaction: +€359 per seniority level (p=0.002).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</a:rPr>
              <a:t>At senior: +€718 interaction gain vs. -€346 cost drag.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899AA"/>
                </a:solidFill>
              </a:rPr>
              <a:t>Net reversal: seniors become the highest-value asset.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3858768"/>
            <a:ext cx="3794760" cy="502920"/>
          </a:xfrm>
          <a:prstGeom prst="rect">
            <a:avLst/>
          </a:prstGeom>
          <a:solidFill>
            <a:srgbClr val="1A1500"/>
          </a:solidFill>
          <a:ln w="12700">
            <a:solidFill>
              <a:srgbClr val="332A0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49377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0C040"/>
                </a:solidFill>
              </a:rPr>
              <a:t>Condition: AI usage &gt;= 60% AND fixed or value-based contract.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THE REWORK PARADOX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C1C2E"/>
                </a:solidFill>
              </a:rPr>
              <a:t>The business gets financially safer by getting operationally messier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868785" y="1147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5868785" y="1147156"/>
            <a:ext cx="64008" cy="1051560"/>
          </a:xfrm>
          <a:prstGeom prst="rect">
            <a:avLst/>
          </a:prstGeom>
          <a:solidFill>
            <a:srgbClr val="E45C3A"/>
          </a:solidFill>
          <a:ln w="12700">
            <a:solidFill>
              <a:srgbClr val="E45C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6033377" y="1238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The Profitability Paradox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33377" y="1494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Loss rate falls 31% → 19% while rework rises to 32%. Speed creates an efficiency cushion that absorbs correction cost.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68785" y="2290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5868785" y="2290156"/>
            <a:ext cx="64008" cy="10515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6033377" y="2381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The critical pivot: 50–60%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33377" y="2637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Between 50-60% AI usage the business crosses from high-loss to high-rework, low-risk. This is the operational break-even.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68785" y="3433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868785" y="3433156"/>
            <a:ext cx="64008" cy="1051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33377" y="3524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</a:rPr>
              <a:t>Rework is not failure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3377" y="3780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OLS: rework quadratic p=0.605. No tipping point. Fast generation + heavy iteration is the profitable model.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B6FCF0-82ED-FF80-10ED-1AB993DC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4" y="1238596"/>
            <a:ext cx="5729401" cy="29925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0C040"/>
                </a:solidFill>
              </a:rPr>
              <a:t>THE THRESHOLD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0C040"/>
                </a:solidFill>
              </a:rPr>
              <a:t>30.6%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The SHAP sign-change threshold. Below it, AI costs money. Above it, AI makes money.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2651760" cy="1920240"/>
          </a:xfrm>
          <a:prstGeom prst="rect">
            <a:avLst/>
          </a:prstGeom>
          <a:solidFill>
            <a:srgbClr val="111120"/>
          </a:solidFill>
          <a:ln w="12700">
            <a:solidFill>
              <a:srgbClr val="2222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45C3A"/>
                </a:solidFill>
              </a:rPr>
              <a:t>Below 30.6%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45C3A"/>
                </a:solidFill>
              </a:rPr>
              <a:t>-€52.5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per task avg.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SHAP contribution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45588"/>
                </a:solidFill>
              </a:rPr>
              <a:t>234 of 553 test-set tasks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651760" cy="1920240"/>
          </a:xfrm>
          <a:prstGeom prst="rect">
            <a:avLst/>
          </a:prstGeom>
          <a:solidFill>
            <a:srgbClr val="111120"/>
          </a:solidFill>
          <a:ln w="12700">
            <a:solidFill>
              <a:srgbClr val="2222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40"/>
                </a:solidFill>
              </a:rPr>
              <a:t>The sign change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C040"/>
                </a:solidFill>
              </a:rPr>
              <a:t>≈ €103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gap between being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above vs. below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45588"/>
                </a:solidFill>
              </a:rPr>
              <a:t>entirely from AI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445588"/>
                </a:solidFill>
              </a:rPr>
              <a:t>contribution shift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651760" cy="1920240"/>
          </a:xfrm>
          <a:prstGeom prst="rect">
            <a:avLst/>
          </a:prstGeom>
          <a:solidFill>
            <a:srgbClr val="111120"/>
          </a:solidFill>
          <a:ln w="12700">
            <a:solidFill>
              <a:srgbClr val="2222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12648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</a:rPr>
              <a:t>Above 30.6%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2648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9D8F"/>
                </a:solidFill>
              </a:rPr>
              <a:t>+€51.1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2648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per task avg.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77AA"/>
                </a:solidFill>
              </a:rPr>
              <a:t>SHAP contribution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445588"/>
                </a:solidFill>
              </a:rPr>
              <a:t>319 of 553 test-set tasks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RISK SCORE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C1C2E"/>
                </a:solidFill>
              </a:rPr>
              <a:t>The pre-task risk score: six variables, one lookup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6A"/>
                </a:solidFill>
              </a:rPr>
              <a:t>Random Forest: ROC-AUC 0.754 · Recall 55% · Flags 43 genuine losses per 100 risk-flagged tasks  (base rate: 24%)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329184"/>
          </a:xfrm>
          <a:prstGeom prst="rect">
            <a:avLst/>
          </a:prstGeom>
          <a:solidFill>
            <a:srgbClr val="E45C3A"/>
          </a:solidFill>
          <a:ln w="12700">
            <a:solidFill>
              <a:srgbClr val="E45C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RISK FACTORS — loss rate rises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01952"/>
          <a:ext cx="4114800" cy="13898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Safe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Hourly pricing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+18pp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46%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Senior contributor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+12pp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22%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Hours spent (top 25%)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31%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45C3A"/>
                          </a:solidFill>
                        </a:rPr>
                        <a:t>+9pp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25%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572768"/>
            <a:ext cx="4114800" cy="3291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66344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PROTECTIVE FACTORS — loss rate falls</a:t>
            </a:r>
            <a:endParaRPr lang="en-US" sz="9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01952"/>
          <a:ext cx="4114800" cy="13898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Without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With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High-tier client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</a:rPr>
                        <a:t>27%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16%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-10pp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26%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High task complexity (top 25%)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-8pp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30%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</a:rPr>
                        <a:t>AI usage &gt;= 30%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</a:rPr>
                        <a:t>28%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-8pp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</a:rPr>
                        <a:t>58%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9"/>
          <p:cNvSpPr/>
          <p:nvPr/>
        </p:nvSpPr>
        <p:spPr>
          <a:xfrm>
            <a:off x="548640" y="33375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1C2E"/>
                </a:solidFill>
              </a:rPr>
              <a:t>HOW TO USE THIS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48640" y="3602736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</a:rPr>
              <a:t>Any task combining 2+ risk factors triggers a pre-kickoff review of contract structure, staffing, and scope estimate.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</a:rPr>
              <a:t>Best-case combination: high client tier + high complexity + fixed or value-based contract + AI &gt;= 30% → loss rate below 18%.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BLIND SPOTS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What the data can't tell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6A"/>
                </a:solidFill>
              </a:rPr>
              <a:t>This analysis proves operational cost efficiency. It cannot prove customer value.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84124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94360" cy="100584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40"/>
                </a:solidFill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664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2E"/>
                </a:solidFill>
              </a:rPr>
              <a:t>Client retention at 12 months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78992" y="19385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A profitable task that damages a multi-year relationship is a net loss the current data cannot detect. This is the single biggest missing signal — it transforms cost efficiency into strategic intelligence.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1682496"/>
            <a:ext cx="1645920" cy="274320"/>
          </a:xfrm>
          <a:prstGeom prst="rect">
            <a:avLst/>
          </a:prstGeom>
          <a:solidFill>
            <a:srgbClr val="E8EEF8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704088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A3A"/>
                </a:solidFill>
              </a:rPr>
              <a:t>Most consequential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84124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594360" cy="100584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670048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40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7614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2E"/>
                </a:solidFill>
              </a:rPr>
              <a:t>AI tool identity and prompt iteration count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78992" y="303580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Two precise prompts and thirty rejected iterations look identical in ai_usage_pct. GPT-4 for code vs. image generator for design are structurally incomparable. Required for rational tool procurement and training investment.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2779776"/>
            <a:ext cx="1645920" cy="274320"/>
          </a:xfrm>
          <a:prstGeom prst="rect">
            <a:avLst/>
          </a:prstGeom>
          <a:solidFill>
            <a:srgbClr val="E8EEF8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7040880" y="2779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A3A"/>
                </a:solidFill>
              </a:rPr>
              <a:t>Tool procurement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8412480" cy="100584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CE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594360" cy="1005840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3767328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C040"/>
                </a:solidFill>
              </a:rPr>
              <a:t>03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78992" y="3858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C2E"/>
                </a:solidFill>
              </a:rPr>
              <a:t>Revision reason codes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78992" y="41330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rework_hours exists but not why rework happened. AI-induced quality failure vs. client preference change are two completely different remediation paths that cannot be prioritised without the distinction.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3877056"/>
            <a:ext cx="1645920" cy="274320"/>
          </a:xfrm>
          <a:prstGeom prst="rect">
            <a:avLst/>
          </a:prstGeom>
          <a:solidFill>
            <a:srgbClr val="E8EEF8"/>
          </a:solidFill>
          <a:ln w="12700">
            <a:solidFill>
              <a:srgbClr val="D0D8E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704088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A3A"/>
                </a:solidFill>
              </a:rPr>
              <a:t>Quality remediation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A9D8F"/>
                </a:solidFill>
              </a:rPr>
              <a:t>Recommended data investment: commission 30-50 tasks in the 90-100% AI band (currently only 3 in the dataset) — either validates or invalidates the extrapolated trend.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0B0F"/>
                </a:solidFill>
              </a:rPr>
              <a:t>DECISIONS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</a:rPr>
              <a:t>Three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75488" cy="475488"/>
          </a:xfrm>
          <a:prstGeom prst="ellipse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435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Restructure the pricing book before scaling AI further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7647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Migrate AI-eligible work off hourly contracts. Priority: senior engagements (hourly senior = -€78/task vs. value-based = +€511). Reposition as fixed-fee or value-based delivery, the data justifies the pitch.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14032" y="1490472"/>
            <a:ext cx="1664208" cy="475488"/>
          </a:xfrm>
          <a:prstGeom prst="rect">
            <a:avLst/>
          </a:prstGeom>
          <a:solidFill>
            <a:srgbClr val="F0F8EC"/>
          </a:solidFill>
          <a:ln w="12700">
            <a:solidFill>
              <a:srgbClr val="C8E0B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114032" y="14904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€540/task structural recovery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475488" cy="475488"/>
          </a:xfrm>
          <a:prstGeom prst="ellipse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2670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Set AI floors: 30% minimum floor, 60% efficiency 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99923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Treat AI adoption as binary per workflow. Below 30%: AI costs more than it produces. Below 60%: positive but not yet efficient. Above 60%: both profit and time dividends consolidate. The 10-50% range is worse than either extreme.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4032" y="2724912"/>
            <a:ext cx="1664208" cy="475488"/>
          </a:xfrm>
          <a:prstGeom prst="rect">
            <a:avLst/>
          </a:prstGeom>
          <a:solidFill>
            <a:srgbClr val="F0F8EC"/>
          </a:solidFill>
          <a:ln w="12700">
            <a:solidFill>
              <a:srgbClr val="C8E0B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7114032" y="27249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€242/task lift on migrated volume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75488" cy="475488"/>
          </a:xfrm>
          <a:prstGeom prst="ellipse">
            <a:avLst/>
          </a:prstGeom>
          <a:solidFill>
            <a:srgbClr val="0B0B0F"/>
          </a:solidFill>
          <a:ln w="12700">
            <a:solidFill>
              <a:srgbClr val="0B0B0F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39044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C2E"/>
                </a:solidFill>
              </a:rPr>
              <a:t>Reposition seniors as AI force multipliers: remove from low-AI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42336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Any senior-led task must pass two conditions: AI usage &gt;= 60% AND fixed or value-based contract. If either fails: reassign or renegotiate before kickoff. Redirect seniors to 80-100% AI workflows, complex work, and prompt engineering for the team.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14032" y="3959352"/>
            <a:ext cx="1664208" cy="475488"/>
          </a:xfrm>
          <a:prstGeom prst="rect">
            <a:avLst/>
          </a:prstGeom>
          <a:solidFill>
            <a:srgbClr val="F0F8EC"/>
          </a:solidFill>
          <a:ln w="12700">
            <a:solidFill>
              <a:srgbClr val="C8E0B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7114032" y="39593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9D8F"/>
                </a:solidFill>
              </a:rPr>
              <a:t>50% loss rate → €3,935 ceiling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0C040"/>
                </a:solidFill>
              </a:rPr>
              <a:t>THE BOTTOM 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</a:rPr>
              <a:t>The technology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</a:rPr>
              <a:t>is doing its job.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7772400" cy="0"/>
          </a:xfrm>
          <a:prstGeom prst="line">
            <a:avLst/>
          </a:prstGeom>
          <a:noFill/>
          <a:ln w="19050">
            <a:solidFill>
              <a:srgbClr val="2A2A4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C040"/>
                </a:solidFill>
              </a:rPr>
              <a:t>The business model is the bottleneck.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1653</Words>
  <Application>Microsoft Macintosh PowerPoint</Application>
  <PresentationFormat>On-screen Show (16:9)</PresentationFormat>
  <Paragraphs>261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alexandra tabarani</cp:lastModifiedBy>
  <cp:revision>3</cp:revision>
  <dcterms:created xsi:type="dcterms:W3CDTF">2026-04-28T12:35:50Z</dcterms:created>
  <dcterms:modified xsi:type="dcterms:W3CDTF">2026-04-28T13:08:01Z</dcterms:modified>
</cp:coreProperties>
</file>